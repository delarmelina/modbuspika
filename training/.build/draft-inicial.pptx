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Planilha1!$A$1</c:f>
              <c:strCache>
                <c:ptCount val="1"/>
                <c:pt idx="0">
                  <c:v>Segundo</c:v>
                </c:pt>
              </c:strCache>
            </c:strRef>
          </c:tx>
          <c:spPr>
            <a:ln w="38100">
              <a:solidFill>
                <a:srgbClr val="087E8B"/>
              </a:solidFill>
            </a:ln>
          </c:spPr>
          <c:marker>
            <c:symbol val="none"/>
          </c:marker>
          <c:val>
            <c:numRef>
              <c:f>Planilha1!$A$2:$A$11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58-4681-B722-F45972C57CFC}"/>
            </c:ext>
          </c:extLst>
        </c:ser>
        <c:ser>
          <c:idx val="1"/>
          <c:order val="1"/>
          <c:tx>
            <c:strRef>
              <c:f>Planilha1!$B$1</c:f>
              <c:strCache>
                <c:ptCount val="1"/>
                <c:pt idx="0">
                  <c:v>Pacotes/s</c:v>
                </c:pt>
              </c:strCache>
            </c:strRef>
          </c:tx>
          <c:marker>
            <c:symbol val="none"/>
          </c:marker>
          <c:val>
            <c:numRef>
              <c:f>Planilha1!$B$2:$B$11</c:f>
              <c:numCache>
                <c:formatCode>General</c:formatCode>
                <c:ptCount val="10"/>
                <c:pt idx="0">
                  <c:v>90</c:v>
                </c:pt>
                <c:pt idx="1">
                  <c:v>95</c:v>
                </c:pt>
                <c:pt idx="2">
                  <c:v>100</c:v>
                </c:pt>
                <c:pt idx="3">
                  <c:v>98</c:v>
                </c:pt>
                <c:pt idx="4">
                  <c:v>450</c:v>
                </c:pt>
                <c:pt idx="5">
                  <c:v>120</c:v>
                </c:pt>
                <c:pt idx="6">
                  <c:v>105</c:v>
                </c:pt>
                <c:pt idx="7">
                  <c:v>100</c:v>
                </c:pt>
                <c:pt idx="8">
                  <c:v>96</c:v>
                </c:pt>
                <c:pt idx="9">
                  <c:v>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58-4681-B722-F45972C57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4571192"/>
        <c:axId val="494571520"/>
      </c:lineChart>
      <c:catAx>
        <c:axId val="494571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94571520"/>
        <c:crosses val="autoZero"/>
        <c:auto val="1"/>
        <c:lblAlgn val="ctr"/>
        <c:lblOffset val="100"/>
        <c:noMultiLvlLbl val="0"/>
      </c:catAx>
      <c:valAx>
        <c:axId val="494571520"/>
        <c:scaling>
          <c:orientation val="minMax"/>
          <c:max val="5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94571192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7F9FC"/>
    </a:solidFill>
  </c:spPr>
  <c:txPr>
    <a:bodyPr/>
    <a:lstStyle/>
    <a:p>
      <a:pPr>
        <a:defRPr sz="1400">
          <a:latin typeface="Segoe UI"/>
          <a:ea typeface="Segoe UI"/>
          <a:cs typeface="Segoe UI"/>
        </a:defRPr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0CC3A-5B3E-43AB-A216-74C3D51E4C2A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8CF60-1E23-4274-9805-3EDDA4DB6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60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Apresente o objetivo: localizar falhas por evidências de conexão, protocolo e mapa. Sessão prevista para 03/10/2026. Use a ata como roteiro de condução e registro.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30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Explique que cada momento combina conceito, demonstração e discussão. Ajuste o tempo conforme as dúvidas da turma. As demonstrações usam uma bancada local e leituras.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201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Peça respostas antes de mostrar o gabarito. Registre exemplos trazidos pela turma por conexão, mapa, tempo de resposta, dado incorreto ou escrita. Esperado: ping verifica ICMP; TCP aberto confirma o socket; exceção é resposta de protocolo, embora a operação tenha sido recusada.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289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Demonstre os três casos na bancada ou use registros preparados. Não conclua que o PLC está saudável apenas pelo ping. Uma exceção coerente pode confirmar o protocolo. Fonte: ata do treinamento e Modbus Application Protocol V1.1b3, seção 7.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690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Execute uma leitura única e localize request e response. Mostre que um PLC pode atuar em papéis diferentes e que o software permite cliente e servidor simultâneos. Fonte: Modbus Application Protocol V1.1b3 e Messaging on TCP/IP Implementation Guide V1.0b.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322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MBAP também contém Protocol Identifier e Length. UID pode encaminhar consultas em gateways TCP/serial. Em servidores TCP diretos seu tratamento depende do equipamento; usar a configuração documentada, sem presumir que todo servidor ignora ou exige o mesmo UID. Fonte: https://www.modbus.org/docs/Modbus_Messaging_Implementation_Guide_V1_0b.pdf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847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COIL e HR suportam funções de escrita quando implementadas e permitidas. DI e IR têm leitura no modelo básico. O significado de processo vem da documentação do fabricante. Fonte: https://www.modbus.org/docs/Modbus_Application_Protocol_V1_1b3.pdf, data model e funções 01 a 04.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816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Configure o mapa efetivo do servidor apenas com a faixa necessária para os testes de limite. Salve .ffd antes de introduzir erros. Loopback é o próprio computador, sem tráfego de produção. Capture local depende da interface Npcap de loopback.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28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exemplo da imagem usa 172.27.30.84:1501. Para a bancada da aula configure 127.0.0.1:1502. Explique que 0.0.0.0 serve como escuta geral do servidor e não como destino de cliente. Fonte visual: ManualImages/ClientSettings.png.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67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Faça alguns ciclos com conexão persistente. Se a bancada permitir, compare com a opção desmarcada, observando handshakes e encerramentos na captura. Não classifique mais pacotes como pior desempenho sem medir impacto e comportamento do equipamento.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1429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Use uma porta comprovadamente sem listener na bancada. A mensagem pode ser recusa ou timeout conforme o ambiente. Não preparar bloqueios/firewall na rede de produção. Peça à turma que identifique em qual camada a leitura parou.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36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Mostre a navegação por HR, IR, COIL e DISCRETE no mapa. O mesmo número de endereço em áreas distintas não representa o mesmo dado. Confirme endpoint e UID antes de transferir um mapa para outro alvo.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349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somar o prefixo 4 nem copiar 40001 automaticamente para o campo de endereço. Consulte a documentação do equipamento. Os prefixos documentais identificam área, enquanto o PDU transmite função e offset. Fonte: Modbus Application Protocol V1.1b3, addressing model. Exemplo condicionado à convenção do fabricante.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1209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Demonstre os três requests em laboratório. Explique exceção 02 pela combinação referência e extensão solicitada. Restaure o bloco original ao terminar. Fonte: Modbus Application Protocol V1.1b3, exception 02.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89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Pare a leitura e observe que o último valor pode continuar visível. Explique que dois registradores podem compor um dado de 32 bits segundo o fabricante. A descoberta de mapa não fornece automaticamente tag, escala ou direito de escrita.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969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Execute leitura única e compare as timelines. A captura requer Npcap e interface/filtro adequados. A falta de remontagem TCP completa pode limitar a identificação de ADUs passivas segmentadas. Consulte dados brutos somente após estabelecer endpoint e operação.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01766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rede comutada encaminha tráfego conforme portas/MAC. Se a tabela estiver vazia, conferir interface, filtro, Npcap, tráfego visível e duração. Não concluir que o PLC não transmitiu só porque o notebook não capturou a conversa.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048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atribuir causa raiz automaticamente. RST de uma conversa de Internet não comprova falha do PLC. Repetições podem ter limitações de captura ou reuso de fluxo. Correlacione horário, endpoint e leitura afetada.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982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Dados ilustrativos. A assinatura inclui sessão/endpoint, UID, FC, início e quantidade. Mostre por que comparar requests de blocos distintos gera um intervalo aparente de 2 ms. Leituras próprias de validação também adicionam tráfego.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607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Na versão atual, Dados não faz agregação contínua durante a captura. O software conserva no máximo 2.000 quadros na lista usada por essa análise. Alta taxa pode reduzir o intervalo realmente coberto. Confira tempo amostrado e descartes antes de interpretar taxas.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908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Bytes/s não é utilização percentual do enlace. A média depende do intervalo entre primeiro e último pacote selecionados. A falta de contador do driver não comprova ausência de descarte. Relacione qualidade, duração e limites da amostra.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455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Série inteiramente ilustrativa, em pacotes/s. Não representa uma captura real nem um limiar universal. Peça à turma que indique quais evidências adicionais seriam necessárias para afirmar sobrecarga: link negociado, contadores de switch/NIC, latência Modbus, descartes e baseline. Não reduzir polling no PLC sem avaliar o processo.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8060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Exemplo ilustrativo para explicar percentuais que se sobrepõem. A conversa A/B conta os mesmos quadros uma vez por conversa. Ordenação por volume identifica quem investigar, sem provar que seja responsável pela falha. Explique envio, recebimento, top conversa e protocolos.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5717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imagem foi fornecida durante o desenvolvimento e serve para orientar a navegação. Na versão usada na aula, resultados, topologia e relatórios ficam nas subabas do Teste completo. Demonstre a interface ao vivo, porque rótulos e disposição podem variar por versão.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5570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assumir que selecionar um dispositivo lateral redefine o escopo do teste. O software pode iniciar captura e cliente/servidor quando necessário. Uma rede grande pode prolongar a descoberta. Conferir interface e filtros antes de iniciar. Não há escrita automática no Teste completo.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3950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placar registra etapas processadas, não disponibilidade ou estabilidade integral da rede. Uma etapa de captura inconclusiva pode coexistir com leitura Modbus válida. Abra o resultado selecionado e mostre objetivo, evidência, interpretação e próxima verificação.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218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máximo é inclusivo conforme o manual atual. Com quatro FCs e dez UIDs, até 440 janelas iniciais antes de fallback, interrupções ou limites. Fallback consulta posições individuais quando aplicável. Descoberta confirma regiões que responderam e não nomes de tags, escalas ou direitos de escrita. Fonte: ManualContent.xml, descoberta-mapa, e ManualImages/MapDiscovery.png.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56006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software permite escrita manual em regiões graváveis. R/W no mapa não equivale a autorização operacional. A escrita de range pode ser sequencial, com alteração parcial antes de uma falha. Para substituir um equipamento real, evitar duplicar seu IP e combinar retirada/isolamento.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8188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servidor ocioso pode precisar de sondagem autorizada na porta correta. Um cliente pode não possuir listener TCP. Protocolos, portas e UID influenciam descoberta. Loopback e IP local podem representar o mesmo computador. Diferenciar equipamento físico de IP e endpoint.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608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Switches L2 são transparentes ao TTL. Ausência de anúncio não prova ausência de switch. SPAN/TAP e consultas autorizadas a equipamentos gerenciáveis podem fornecer mais evidência. Timeout ICMP não comprova falha TCP ou Modbus.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129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Abra a Topologia dentro do Teste completo. Peça à turma que diferencie observação, anúncio e inferência. Se não houver topologia suficiente, apresente essa ausência como limitação e liste a próxima consulta necessária. Não desenhar um switch inexistente no inventário como fato comprovado.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8326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Demonstre ambas as exportações. Confira endpoint e janela da execução registrada. O relatório completo ajuda a reproduzir o ensaio, mas priorização evita que volume de mensagens esconda a causa mais provável. Não tratar OK como certificado de estabilidade.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9507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Exemplo didático, não resultado real de campo. Conclusão: o servidor respondeu às três consultas e recusou a região solicitada. A evidência aponta para o bloco/endereço e não para perda total de conexão. Fonte de exceção: Modbus Application Protocol V1.1b3.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2682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Mostre Salvar/Abrir configuração e os exports. Registre alterações durante testes. Ao comparar resultados, mudanças de janela, filtro, alvo ou UID podem explicar diferenças. Preserve logs e horários quando ocorrer falha do software.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6986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Cenário de laboratório. Peça ao grupo que confirme convenção do endereço, FC, UID e quantidade. Não revelar imediatamente a causa. A turma deve separar fatos conhecidos das hipóteses. Em convenção clássica, 40010 pode corresponder a offset 9.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5161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Peça uma hipótese sustentada, uma evidência que poderia refutá-la e uma próxima ação segura. Esperado: o range termina em 10, fora do mapa. Uma resposta de exceção comprova comunicação de protocolo naquela tentativa.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4797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Faça a alteração no laboratório. Se a leitura ainda falhar, reavaliar endpoint, UID, mapa aplicado e função. Solicite à turma uma conclusão curta e rastreável. Verifique aprendizado: separação de camadas, base zero, fim do range, segurança e limitação de captura.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05442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Retome os passos com um exemplo discutido pela turma. Evite alterar várias configurações simultaneamente, pois isso dificulta atribuir a recuperação à correção certa. Priorize ensaios autorizados, reproduzíveis e adequados ao processo.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5048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Preencha a ata por momento. Registrar participantes, exercícios, resultados, decisões, responsáveis e prazos. Separar pendências do software, documentação do PLC e infraestrutura. Coletar feedback da turma para atualizar os slides e o manual.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2899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Fontes: docs/2026-10-03-ata-treinamento-troubleshoot-modbus.md; ModbusTcpTroubleshooter.App/ManualContent.xml; https://www.modbus.org/docs/Modbus_Application_Protocol_V1_1b3.pdf; https://www.modbus.org/docs/Modbus_Messaging_Implementation_Guide_V1_0b.pdf. As séries numéricas dos slides de carga/polling e o estudo de caso são exemplos didáticos. A capa é ilustração gerada, não registro de instalação real.</a:t>
            </a:r>
          </a:p>
          <a:p>
            <a:endParaRPr lang="pt-BR"/>
          </a:p>
          <a:p>
            <a:r>
              <a:rPr lang="pt-BR"/>
              <a:t>Roteiro: docs/2026-10-03-ata-treinamento-troubleshoot-modbus.md. OperaÃ§Ã£o do software: manual integrado da versÃ£o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8CF60-1E23-4274-9805-3EDDA4DB6A9C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277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1EA1D-AA42-423D-AF76-7ABD2EB51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AB4B31-743C-48E7-8659-03BBA63F6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79501E-A66B-4845-9D70-BC05771B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5CF54E-FD56-4EDC-A06B-A367BEBA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50573F-A4D0-4534-8D2D-B810E570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38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5E575-685C-4959-AE42-14E50A22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ADF28F-655B-41B3-8EB0-438A6FCAA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7A527B-1DDE-491E-B65F-58E927E2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88A14A-2A6F-4803-9EA4-16E87025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29B3B0-F6A4-4C0F-B2B1-7ECEACC5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17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D1B9E-3FF6-4027-B8C6-FE481960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C2A2D2-422F-4B83-A057-32A112C18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38E22A-1026-4AC5-B582-D3FFF5BF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F73FD0-058E-4540-88FC-5DA26BAD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C8F43-3949-437F-84A1-F3647A56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085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92D40-0EFB-4E6A-A2DB-A62FFA81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7EA055-4C51-4CEB-B725-2FB554DA4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EE08356-AF4C-4CAD-B869-E49900461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D131E-1563-4C80-AAB1-57AA52F2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1B9FE6-7B3B-4A10-A964-6E3BC7CB3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3CB38F-2219-4E2E-AEC6-067FBC6E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799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48844-A7BE-48CB-AB20-FF46F875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552129-493F-45C3-94D7-CCCC18811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F820E5-5E72-4CB6-8E50-E07134F33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3857C84-2860-4F75-A5E6-62388004E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0DDBD1-F5A2-4731-919E-DFCC78C3D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94705B4-EB4D-431A-AFEA-621C5DD7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550CB20-8945-47EF-963A-CEAA4226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2335877-BEFA-4582-B857-AB7AA867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52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7B4BB-01E4-4BA1-9E54-2ED16085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04B762C-736A-411D-A457-6C219617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60B02F5-7CC3-451E-AC74-3D8167BE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2B2C6F-985F-4ED5-959F-3DAA424D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63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1185E0-6158-44F0-A791-E3B689D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3F39E54-B266-4D4E-81C3-AB4973A3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61D6A6-4DC0-434B-9BD7-EFB1AD20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81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E67B5-AD28-401C-AF6B-BEC9ACD21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885C71-9E26-400F-B8B8-19384DCBC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21F990-E411-436D-8025-2F0F6A602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C20715-3DCF-45FE-8584-C053A2BC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8FB15D-F8F6-47C4-9E93-251482D1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E2F60D-584F-496C-AE9F-70D4D0B73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94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81F48-0F58-4154-8307-FF65D947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851C6B-8BCC-4B8E-9169-C6076C8897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6017A7-3E95-41B9-9898-9E58B4635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DE7370-2FEF-472D-A19D-C3677B37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D1DE65-A285-432E-A973-A8080FBA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667535-C7F1-4275-A7BF-4EFD408B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010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3C4EC-C144-4BC4-86D5-9C7CC9E21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D6DA3C-C9CE-45AC-8AC3-3F4507116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D21BBB-D0A1-427F-B2DB-177AE42F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195E39-0D54-483C-B25B-B6731751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5ED211-B469-470E-9B45-83BC64BD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89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96B358-66DB-42CF-AA65-88BD95A5D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12049F-4954-4644-BFC5-ADC28361A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AC2743-CD14-4E9D-A88A-B45C79D0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49F9FD-185C-4D19-BAD7-5267A899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A3A1DD-EE0E-457D-AC45-FFF3325C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732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408479-1E05-447C-9C28-871D75DE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7C0B6B-F717-4AFC-80A9-957A18CE5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2DB494-0E1D-45F6-976A-5A6BD5C3F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F68C4-7C6F-443E-A32F-BA81431E1A09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F052BC-0716-4E44-A79A-2174AF09E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FC6192-AEAE-4ABB-A66E-52461ED61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E1619-4A7B-41DC-AD9C-398CA5FF57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4882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671440F-F800-4F7F-9812-58F9F40DC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D775EE1-4401-4441-A540-A3B1FFD43BE7}"/>
              </a:ext>
            </a:extLst>
          </p:cNvPr>
          <p:cNvSpPr txBox="1"/>
          <p:nvPr/>
        </p:nvSpPr>
        <p:spPr>
          <a:xfrm>
            <a:off x="685800" y="18415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4400" b="1">
                <a:solidFill>
                  <a:srgbClr val="FFFFFF"/>
                </a:solidFill>
                <a:latin typeface="Segoe UI" panose="020B0502040204020203" pitchFamily="34" charset="0"/>
              </a:rPr>
              <a:t>Troubleshooting
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E5B298D-041C-41E9-A0D8-BD5BA7454083}"/>
              </a:ext>
            </a:extLst>
          </p:cNvPr>
          <p:cNvSpPr txBox="1"/>
          <p:nvPr/>
        </p:nvSpPr>
        <p:spPr>
          <a:xfrm>
            <a:off x="711200" y="41529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FFFFFF"/>
                </a:solidFill>
                <a:latin typeface="Segoe UI" panose="020B0502040204020203" pitchFamily="34" charset="0"/>
              </a:rPr>
              <a:t>Diagnóstico de comunicação industrial
Treinamento com o Modbus TCP Troubleshooter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EBD083-CBBA-47E9-B33C-FD93A9C99E3A}"/>
              </a:ext>
            </a:extLst>
          </p:cNvPr>
          <p:cNvSpPr txBox="1"/>
          <p:nvPr/>
        </p:nvSpPr>
        <p:spPr>
          <a:xfrm>
            <a:off x="711200" y="59055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70D0D8"/>
                </a:solidFill>
                <a:latin typeface="Segoe UI" panose="020B0502040204020203" pitchFamily="34" charset="0"/>
              </a:rPr>
              <a:t>03 OUTUBRO 2026</a:t>
            </a:r>
          </a:p>
        </p:txBody>
      </p:sp>
    </p:spTree>
    <p:extLst>
      <p:ext uri="{BB962C8B-B14F-4D97-AF65-F5344CB8AC3E}">
        <p14:creationId xmlns:p14="http://schemas.microsoft.com/office/powerpoint/2010/main" val="3219982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530325D-42D1-48FE-B701-1D6477916103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Visão geral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B5572D-DF97-4EE2-965C-FF620038C369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Percurso do treinamento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EF40FE-AE3E-4ABF-B331-CF7452600B2C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AFB8DB-827E-4764-8560-4083ADC97A1B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873617-2020-4CCA-ABFE-8C67C9E2D325}"/>
              </a:ext>
            </a:extLst>
          </p:cNvPr>
          <p:cNvSpPr txBox="1"/>
          <p:nvPr/>
        </p:nvSpPr>
        <p:spPr>
          <a:xfrm>
            <a:off x="685800" y="1955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01  Dúvidas do primeiro treinamento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C74FF2-47AF-47CC-A52D-BE0CD49AB13D}"/>
              </a:ext>
            </a:extLst>
          </p:cNvPr>
          <p:cNvSpPr txBox="1"/>
          <p:nvPr/>
        </p:nvSpPr>
        <p:spPr>
          <a:xfrm>
            <a:off x="685800" y="2768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02  Transação Modbus TCP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0668C2-A9EA-49E6-94A9-DD7E3A89AC07}"/>
              </a:ext>
            </a:extLst>
          </p:cNvPr>
          <p:cNvSpPr txBox="1"/>
          <p:nvPr/>
        </p:nvSpPr>
        <p:spPr>
          <a:xfrm>
            <a:off x="685800" y="3581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03  Bancada e configuração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EDE1F85-D0F2-4941-A05F-B95A647E8727}"/>
              </a:ext>
            </a:extLst>
          </p:cNvPr>
          <p:cNvSpPr txBox="1"/>
          <p:nvPr/>
        </p:nvSpPr>
        <p:spPr>
          <a:xfrm>
            <a:off x="685800" y="4394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04  Mapa e endereçamento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897EC07-1C02-4FC0-8EDC-CAE0A6DBF814}"/>
              </a:ext>
            </a:extLst>
          </p:cNvPr>
          <p:cNvSpPr txBox="1"/>
          <p:nvPr/>
        </p:nvSpPr>
        <p:spPr>
          <a:xfrm>
            <a:off x="685800" y="5207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05  Captura e timelines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299834A-F680-4308-8516-BAA00A69EB22}"/>
              </a:ext>
            </a:extLst>
          </p:cNvPr>
          <p:cNvSpPr txBox="1"/>
          <p:nvPr/>
        </p:nvSpPr>
        <p:spPr>
          <a:xfrm>
            <a:off x="6413500" y="1955800"/>
            <a:ext cx="5092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06  Dados e carga da rede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20A2B7A-5788-4956-B55F-5611B0CB8C9D}"/>
              </a:ext>
            </a:extLst>
          </p:cNvPr>
          <p:cNvSpPr txBox="1"/>
          <p:nvPr/>
        </p:nvSpPr>
        <p:spPr>
          <a:xfrm>
            <a:off x="6413500" y="2768600"/>
            <a:ext cx="5092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07  Teste completo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C35EA0B-8186-416F-8B12-2B959CB11208}"/>
              </a:ext>
            </a:extLst>
          </p:cNvPr>
          <p:cNvSpPr txBox="1"/>
          <p:nvPr/>
        </p:nvSpPr>
        <p:spPr>
          <a:xfrm>
            <a:off x="6413500" y="3581400"/>
            <a:ext cx="5092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08  Descoberta e topologia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7DB5F42-0BE1-4B40-B454-881B432F2872}"/>
              </a:ext>
            </a:extLst>
          </p:cNvPr>
          <p:cNvSpPr txBox="1"/>
          <p:nvPr/>
        </p:nvSpPr>
        <p:spPr>
          <a:xfrm>
            <a:off x="6413500" y="4394200"/>
            <a:ext cx="5092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09  Relatório técnico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744D07C-D9A0-4DEA-BEF4-8C63EFC79903}"/>
              </a:ext>
            </a:extLst>
          </p:cNvPr>
          <p:cNvSpPr txBox="1"/>
          <p:nvPr/>
        </p:nvSpPr>
        <p:spPr>
          <a:xfrm>
            <a:off x="6413500" y="5207000"/>
            <a:ext cx="5092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10  Estudo de caso</a:t>
            </a:r>
          </a:p>
        </p:txBody>
      </p:sp>
    </p:spTree>
    <p:extLst>
      <p:ext uri="{BB962C8B-B14F-4D97-AF65-F5344CB8AC3E}">
        <p14:creationId xmlns:p14="http://schemas.microsoft.com/office/powerpoint/2010/main" val="86559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36B47A7-5486-43ED-96CC-40B782B332D1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E3502A-F347-41B9-BCB5-4AA89BA1F6FD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Dúvidas do primeiro treinamento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FC4C839-68F2-48C0-AC0A-30DBDA3B7883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6F658F-275C-4AEC-9BF4-AAF898A84D66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168A64-033C-4BB1-8F4E-1D3F54D2D825}"/>
              </a:ext>
            </a:extLst>
          </p:cNvPr>
          <p:cNvSpPr txBox="1"/>
          <p:nvPr/>
        </p:nvSpPr>
        <p:spPr>
          <a:xfrm>
            <a:off x="685800" y="1955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8E3F80C-D1B0-4981-96E4-C5BF7D71278B}"/>
              </a:ext>
            </a:extLst>
          </p:cNvPr>
          <p:cNvSpPr txBox="1"/>
          <p:nvPr/>
        </p:nvSpPr>
        <p:spPr>
          <a:xfrm>
            <a:off x="1727200" y="19685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O equipamento responde ao ping. A leitura Modbus deve funcionar?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97E7A06-493D-41FA-A1CB-71EBFB4C2BEC}"/>
              </a:ext>
            </a:extLst>
          </p:cNvPr>
          <p:cNvSpPr txBox="1"/>
          <p:nvPr/>
        </p:nvSpPr>
        <p:spPr>
          <a:xfrm>
            <a:off x="685800" y="2946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9FF9D4-AB68-436B-AAF5-26F22C6BEE0D}"/>
              </a:ext>
            </a:extLst>
          </p:cNvPr>
          <p:cNvSpPr txBox="1"/>
          <p:nvPr/>
        </p:nvSpPr>
        <p:spPr>
          <a:xfrm>
            <a:off x="1727200" y="29591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A porta TCP abriu. O mapa está validado?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439E478-4741-41FC-B835-4CB9730B43EA}"/>
              </a:ext>
            </a:extLst>
          </p:cNvPr>
          <p:cNvSpPr txBox="1"/>
          <p:nvPr/>
        </p:nvSpPr>
        <p:spPr>
          <a:xfrm>
            <a:off x="685800" y="39370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C5F032-F976-4E02-9871-E5D1F2A90DDB}"/>
              </a:ext>
            </a:extLst>
          </p:cNvPr>
          <p:cNvSpPr txBox="1"/>
          <p:nvPr/>
        </p:nvSpPr>
        <p:spPr>
          <a:xfrm>
            <a:off x="1727200" y="39497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Uma exceção Modbus significa perda de conexão?</a:t>
            </a:r>
          </a:p>
        </p:txBody>
      </p:sp>
    </p:spTree>
    <p:extLst>
      <p:ext uri="{BB962C8B-B14F-4D97-AF65-F5344CB8AC3E}">
        <p14:creationId xmlns:p14="http://schemas.microsoft.com/office/powerpoint/2010/main" val="22833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30E20C6-040A-4479-9151-2EA6C85A2151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4349A5-79E7-48A4-9283-2A8D9D62365D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Três evidências, três conclusões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F51D91-4E86-4424-B79A-24046B8AAEC4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79721C-1879-4928-B7E2-4978CBC0E7E0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04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62AA3D5-6F72-4053-A2CB-B8E232551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290969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595677063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196873341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255638027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Conclusão sustentada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Próxima verificação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53677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Ping respondeu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ICMP alcançou o destino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Porta TCP do serviço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654926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Socket TCP abriu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Serviço aceitou conexão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Resposta Modbus coerente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903358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Exceção Modbus 02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Servidor respondeu e recusou a região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Função, início e quantidade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18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22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324A2B0-749A-4051-9A31-D8080F094F5C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AA017F-0DDD-4907-A31B-1991385ACE05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Cliente, servidor e transação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9A2683-B9DC-4749-90A2-F36F1ACC0712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EED5010-E1B9-4FFD-AF6D-72B0845D144E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BFC5CC-3362-42F1-B9A5-1F7A5ABB0B72}"/>
              </a:ext>
            </a:extLst>
          </p:cNvPr>
          <p:cNvSpPr txBox="1"/>
          <p:nvPr/>
        </p:nvSpPr>
        <p:spPr>
          <a:xfrm>
            <a:off x="685800" y="19685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Cliente / Mestre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FBBC9EC-D550-4E75-AF52-17DA8FE7DDF4}"/>
              </a:ext>
            </a:extLst>
          </p:cNvPr>
          <p:cNvSpPr txBox="1"/>
          <p:nvPr/>
        </p:nvSpPr>
        <p:spPr>
          <a:xfrm>
            <a:off x="6489700" y="1968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Servidor / Escravo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40E982-F706-4700-AC45-B84D56842A60}"/>
              </a:ext>
            </a:extLst>
          </p:cNvPr>
          <p:cNvSpPr txBox="1"/>
          <p:nvPr/>
        </p:nvSpPr>
        <p:spPr>
          <a:xfrm>
            <a:off x="6858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Inicia a requisição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7E7F1A6-74BF-4B8D-A866-E083522E4234}"/>
              </a:ext>
            </a:extLst>
          </p:cNvPr>
          <p:cNvSpPr txBox="1"/>
          <p:nvPr/>
        </p:nvSpPr>
        <p:spPr>
          <a:xfrm>
            <a:off x="6858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Define UID, função, endereço e quantidade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1EF07B7-2E26-4C92-8A79-F54585D6E8E9}"/>
              </a:ext>
            </a:extLst>
          </p:cNvPr>
          <p:cNvSpPr txBox="1"/>
          <p:nvPr/>
        </p:nvSpPr>
        <p:spPr>
          <a:xfrm>
            <a:off x="6858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Confere a resposta recebida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FCA431-3DD9-4FFD-9FFF-6CE5AA40BD1D}"/>
              </a:ext>
            </a:extLst>
          </p:cNvPr>
          <p:cNvSpPr txBox="1"/>
          <p:nvPr/>
        </p:nvSpPr>
        <p:spPr>
          <a:xfrm>
            <a:off x="64897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Escuta em um IP e uma porta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B3C89AC-503B-4640-A90E-FD6EF52034B4}"/>
              </a:ext>
            </a:extLst>
          </p:cNvPr>
          <p:cNvSpPr txBox="1"/>
          <p:nvPr/>
        </p:nvSpPr>
        <p:spPr>
          <a:xfrm>
            <a:off x="64897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Consulta o mapa e executa a função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D679275-AE0A-4302-8413-B856952312EC}"/>
              </a:ext>
            </a:extLst>
          </p:cNvPr>
          <p:cNvSpPr txBox="1"/>
          <p:nvPr/>
        </p:nvSpPr>
        <p:spPr>
          <a:xfrm>
            <a:off x="64897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Retorna dados ou uma exceção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AD0A608-EB33-4FDA-9713-BDEC7082C0CB}"/>
              </a:ext>
            </a:extLst>
          </p:cNvPr>
          <p:cNvSpPr txBox="1"/>
          <p:nvPr/>
        </p:nvSpPr>
        <p:spPr>
          <a:xfrm>
            <a:off x="685800" y="580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IP:porta identifica o serviço. O papel depende de quem inicia a consulta.</a:t>
            </a:r>
          </a:p>
        </p:txBody>
      </p:sp>
    </p:spTree>
    <p:extLst>
      <p:ext uri="{BB962C8B-B14F-4D97-AF65-F5344CB8AC3E}">
        <p14:creationId xmlns:p14="http://schemas.microsoft.com/office/powerpoint/2010/main" val="3101889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C3E3297-B78B-4A9C-8DC1-E77187CE689C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A58A10-9358-4DBE-AFFC-FBC81378C2F4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Campos que identificam a leitura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70E4CAE-27CA-408A-BE04-C72CD1547EB3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A7AAF7-575D-4AFA-AE89-D0E9CF97965F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06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B7A89D7-C5E0-4778-8D3D-46BDE6DF2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831418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647166102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3178701375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25052620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Campo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Exemplo de bancada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Função no diagnóstico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8369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Endpoint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127.0.0.1:1502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Serviço TCP de destino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64163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TID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Identificador da transação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Associa requisição e resposta na conexão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853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Unit ID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Destino lógico configurado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19593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Function Code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03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 de Holding Registers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40724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/ quantidade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0 / 10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Região solicitada: offsets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74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16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D9D20B8-3C1E-4F7A-93C4-6F69B9E68F32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9DE745-B685-43D0-91E7-69DF46782ACA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As quatro áreas de leitura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674538-280E-4F54-AC9E-5C5BBB884E6A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C27930-5433-437C-BF7E-DD522A18A77F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07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6F9DD3F-A5BA-43F2-AB6B-E3FEF8B73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102683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3032780344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97168503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994115689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428054282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Área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Leitura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Dado bruto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Uso típico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82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COIL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Bit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Estado de bobina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04239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DISCRETE INPUT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Bit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Entrada discreta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305457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HOLDING REGISTER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FC03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Palavra de 16 bits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Registrador de aplicação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16023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INPUT REGISTER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FC04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Palavra de 16 bits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Registrador de entrada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049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855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875A808-F33C-4061-AFD3-368F5B170FE4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CB29A9-EF71-4253-98D5-8698B6E99CDD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Bancada local para a demonstração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6C817F-A98D-4C79-BFA3-321392CC9C66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8F9DD0-23E5-4BEF-8220-14553EDB5B38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08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70CAF9A-503B-4FE8-8342-DDF4226BA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845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39589857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190880893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571254784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Configuração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Servidor simulado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Alvo do cliente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881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IP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127.0.0.1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127.0.0.1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90660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Porta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1502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1502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6018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Unit ID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44924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Mapa / bloco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 aplicado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FC03, início 0, quantidade 10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80793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Operação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Iniciar servidor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 única, depois leitura cíclica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202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06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15560B7-69AE-4984-9770-E21533CB9CFE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DCB2F2-4CCE-402E-839C-6192B473044A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Configuração do alvo cliente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131257-64F8-4A7D-B3F9-BBCF0191FE61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2EA847-C22B-4798-BA21-E618C78CFD6B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09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8F57F51-8EC9-4221-87E9-FA1EDCE11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78" y="1828800"/>
            <a:ext cx="4628444" cy="41656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69F405F-F5F9-4D12-8518-9487B51F699D}"/>
              </a:ext>
            </a:extLst>
          </p:cNvPr>
          <p:cNvSpPr txBox="1"/>
          <p:nvPr/>
        </p:nvSpPr>
        <p:spPr>
          <a:xfrm>
            <a:off x="6667500" y="20193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IP e porta do serviço remoto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756C2F7-D022-407E-A9F0-360F89D9D042}"/>
              </a:ext>
            </a:extLst>
          </p:cNvPr>
          <p:cNvSpPr txBox="1"/>
          <p:nvPr/>
        </p:nvSpPr>
        <p:spPr>
          <a:xfrm>
            <a:off x="6667500" y="28702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Unit ID conforme o equipamento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2F141E-B6B9-47DF-AE21-EF8AABAFFFE7}"/>
              </a:ext>
            </a:extLst>
          </p:cNvPr>
          <p:cNvSpPr txBox="1"/>
          <p:nvPr/>
        </p:nvSpPr>
        <p:spPr>
          <a:xfrm>
            <a:off x="6667500" y="37211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Intervalo entre ciclos de leitura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CB03E5-A533-436C-8DE7-341C9E6D2953}"/>
              </a:ext>
            </a:extLst>
          </p:cNvPr>
          <p:cNvSpPr txBox="1"/>
          <p:nvPr/>
        </p:nvSpPr>
        <p:spPr>
          <a:xfrm>
            <a:off x="6667500" y="45720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Opção de conexão TCP persistente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9057AB6-E170-4158-A9DC-96D2FABEA88C}"/>
              </a:ext>
            </a:extLst>
          </p:cNvPr>
          <p:cNvSpPr txBox="1"/>
          <p:nvPr/>
        </p:nvSpPr>
        <p:spPr>
          <a:xfrm>
            <a:off x="685800" y="6057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>
                <a:solidFill>
                  <a:srgbClr val="556C7D"/>
                </a:solidFill>
                <a:latin typeface="Segoe UI" panose="020B0502040204020203" pitchFamily="34" charset="0"/>
              </a:rPr>
              <a:t>Tela de referência do manual integrado</a:t>
            </a:r>
          </a:p>
        </p:txBody>
      </p:sp>
    </p:spTree>
    <p:extLst>
      <p:ext uri="{BB962C8B-B14F-4D97-AF65-F5344CB8AC3E}">
        <p14:creationId xmlns:p14="http://schemas.microsoft.com/office/powerpoint/2010/main" val="228629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F75C818-5881-4264-9795-D4BC474B738D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C53F6A-B54D-4AA8-B278-4B319F5262C4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Conexão persistente ou por requisição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7A0A175-042A-4F4E-935A-87D9F7180A67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77218A-039F-4C2F-A837-713BD76FBE9E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1CCC346-A348-4EEA-A626-DD4EE21018D0}"/>
              </a:ext>
            </a:extLst>
          </p:cNvPr>
          <p:cNvSpPr txBox="1"/>
          <p:nvPr/>
        </p:nvSpPr>
        <p:spPr>
          <a:xfrm>
            <a:off x="685800" y="19685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TCP persistente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42B2294-E6E1-4EE2-9BF6-29D0B993EA96}"/>
              </a:ext>
            </a:extLst>
          </p:cNvPr>
          <p:cNvSpPr txBox="1"/>
          <p:nvPr/>
        </p:nvSpPr>
        <p:spPr>
          <a:xfrm>
            <a:off x="6489700" y="1968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Conexão por requisição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A74079-F420-4C39-B0E7-A63A3BF3BD3B}"/>
              </a:ext>
            </a:extLst>
          </p:cNvPr>
          <p:cNvSpPr txBox="1"/>
          <p:nvPr/>
        </p:nvSpPr>
        <p:spPr>
          <a:xfrm>
            <a:off x="6858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Mantém o socket entre as consultas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4FFD801-D207-4311-90C2-2065FBD19E63}"/>
              </a:ext>
            </a:extLst>
          </p:cNvPr>
          <p:cNvSpPr txBox="1"/>
          <p:nvPr/>
        </p:nvSpPr>
        <p:spPr>
          <a:xfrm>
            <a:off x="6858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Reduz aberturas repetidas de conexão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E87F12C-68A9-40DC-B2A7-482B555AD12E}"/>
              </a:ext>
            </a:extLst>
          </p:cNvPr>
          <p:cNvSpPr txBox="1"/>
          <p:nvPr/>
        </p:nvSpPr>
        <p:spPr>
          <a:xfrm>
            <a:off x="6858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É a configuração padrão do cliente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D5E7A9A-0CE0-42D5-AE38-7FE91C3C5F1E}"/>
              </a:ext>
            </a:extLst>
          </p:cNvPr>
          <p:cNvSpPr txBox="1"/>
          <p:nvPr/>
        </p:nvSpPr>
        <p:spPr>
          <a:xfrm>
            <a:off x="64897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Abre e encerra o socket em cada consulta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8C3709C-BD63-462D-9B00-48769A1136F5}"/>
              </a:ext>
            </a:extLst>
          </p:cNvPr>
          <p:cNvSpPr txBox="1"/>
          <p:nvPr/>
        </p:nvSpPr>
        <p:spPr>
          <a:xfrm>
            <a:off x="64897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Produz mais eventos de conexão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D62E6FC-A5EC-4825-89CC-3D29FA962675}"/>
              </a:ext>
            </a:extLst>
          </p:cNvPr>
          <p:cNvSpPr txBox="1"/>
          <p:nvPr/>
        </p:nvSpPr>
        <p:spPr>
          <a:xfrm>
            <a:off x="64897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Ajuda a comparar comportamento de sessões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532B5A5-DDF1-4F0B-9746-997DE1E0CB7A}"/>
              </a:ext>
            </a:extLst>
          </p:cNvPr>
          <p:cNvSpPr txBox="1"/>
          <p:nvPr/>
        </p:nvSpPr>
        <p:spPr>
          <a:xfrm>
            <a:off x="685800" y="580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O intervalo de leitura e a política de conexão são configurações diferentes.</a:t>
            </a:r>
          </a:p>
        </p:txBody>
      </p:sp>
    </p:spTree>
    <p:extLst>
      <p:ext uri="{BB962C8B-B14F-4D97-AF65-F5344CB8AC3E}">
        <p14:creationId xmlns:p14="http://schemas.microsoft.com/office/powerpoint/2010/main" val="82140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EE4355-9904-4F8B-9684-9E4EE7BEF85E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85FD86-A15F-4EB2-B43F-385F5BECFF03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Teste de conexão: porta correta e errada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B79C59-58E7-44B1-8A31-E423F8BE6A01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B81502-B72C-42F8-B79F-2FAD4DACD9DC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2763DC-3DD3-4056-8411-5086EEBCC198}"/>
              </a:ext>
            </a:extLst>
          </p:cNvPr>
          <p:cNvSpPr txBox="1"/>
          <p:nvPr/>
        </p:nvSpPr>
        <p:spPr>
          <a:xfrm>
            <a:off x="685800" y="1892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4A0819E-FFAD-450E-AE25-B9CDDB1CA4B8}"/>
              </a:ext>
            </a:extLst>
          </p:cNvPr>
          <p:cNvSpPr txBox="1"/>
          <p:nvPr/>
        </p:nvSpPr>
        <p:spPr>
          <a:xfrm>
            <a:off x="1473200" y="1905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Leitura única em 127.0.0.1:1502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A6DE6ED-A31A-4906-BBBC-EC8E226C7652}"/>
              </a:ext>
            </a:extLst>
          </p:cNvPr>
          <p:cNvSpPr txBox="1"/>
          <p:nvPr/>
        </p:nvSpPr>
        <p:spPr>
          <a:xfrm>
            <a:off x="685800" y="2705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122541D-15AC-4B5C-A514-D9918EEA20BA}"/>
              </a:ext>
            </a:extLst>
          </p:cNvPr>
          <p:cNvSpPr txBox="1"/>
          <p:nvPr/>
        </p:nvSpPr>
        <p:spPr>
          <a:xfrm>
            <a:off x="1473200" y="2717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Alterar somente a porta para uma sem serviço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E6AEDFD-70A1-4B35-AB0B-F3440FA69D20}"/>
              </a:ext>
            </a:extLst>
          </p:cNvPr>
          <p:cNvSpPr txBox="1"/>
          <p:nvPr/>
        </p:nvSpPr>
        <p:spPr>
          <a:xfrm>
            <a:off x="685800" y="35179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788FA1E-9DD6-4445-8558-60A92DBBEE9F}"/>
              </a:ext>
            </a:extLst>
          </p:cNvPr>
          <p:cNvSpPr txBox="1"/>
          <p:nvPr/>
        </p:nvSpPr>
        <p:spPr>
          <a:xfrm>
            <a:off x="1473200" y="35306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Repetir a leitura e registrar a mensagem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FC7978C-3EDB-4B66-85BA-FBEC554DA5EA}"/>
              </a:ext>
            </a:extLst>
          </p:cNvPr>
          <p:cNvSpPr txBox="1"/>
          <p:nvPr/>
        </p:nvSpPr>
        <p:spPr>
          <a:xfrm>
            <a:off x="685800" y="43307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CC8D803-F67D-4A41-A1B0-C8C11F95E083}"/>
              </a:ext>
            </a:extLst>
          </p:cNvPr>
          <p:cNvSpPr txBox="1"/>
          <p:nvPr/>
        </p:nvSpPr>
        <p:spPr>
          <a:xfrm>
            <a:off x="1473200" y="43434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Restaurar 1502 e confirmar recuperação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392E96C-1C94-4598-A211-B828C7F93304}"/>
              </a:ext>
            </a:extLst>
          </p:cNvPr>
          <p:cNvSpPr txBox="1"/>
          <p:nvPr/>
        </p:nvSpPr>
        <p:spPr>
          <a:xfrm>
            <a:off x="685800" y="54483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A falha da porta ocorre no transporte TCP. Uma exceção Modbus exige resposta do protocolo.</a:t>
            </a:r>
          </a:p>
        </p:txBody>
      </p:sp>
    </p:spTree>
    <p:extLst>
      <p:ext uri="{BB962C8B-B14F-4D97-AF65-F5344CB8AC3E}">
        <p14:creationId xmlns:p14="http://schemas.microsoft.com/office/powerpoint/2010/main" val="2280162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9C72150-0282-45C1-B88A-3C0DFB23F845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A2A168-556D-42EF-8D96-B3F8833CD0B1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Um ponto depende da área e do offset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75A9DC-AF79-4769-9A0F-14CB20C83F82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61C105-8D2F-4680-B69D-7966A8F8EDDF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12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42FEE0A-A4D0-4354-A8F8-37EC07811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100166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635998235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151524056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4197016505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Configuração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Região consultada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Relação com o mapa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932809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FC03, offset 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Primeiro Holding Register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682359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FC04, offset 0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IR 0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Outra área de dados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635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FC01, offset 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COIL 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Dado de um bit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72122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Quantidade 10, início 0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Offsets 0 a 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Todos os pontos devem ser válidos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5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579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DDCB94-8ACE-4759-92F9-0A391E414DBF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10A97C-8085-4336-8022-6AD886CE06DF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Endereço documental e offset de protocolo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40DEC8-2803-4B1B-89DC-A9E01648A4E2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1BA774-8D5B-4EEE-B6C9-F4E042B1A8BD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6612D0-3506-48C9-9030-19FB396740BC}"/>
              </a:ext>
            </a:extLst>
          </p:cNvPr>
          <p:cNvSpPr txBox="1"/>
          <p:nvPr/>
        </p:nvSpPr>
        <p:spPr>
          <a:xfrm>
            <a:off x="685800" y="199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500" b="1">
                <a:solidFill>
                  <a:srgbClr val="087E8B"/>
                </a:solidFill>
                <a:latin typeface="Segoe UI" panose="020B0502040204020203" pitchFamily="34" charset="0"/>
              </a:rPr>
              <a:t>40001  corresponde a  offset 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47E903-2285-4586-94D6-A8AEAC494C75}"/>
              </a:ext>
            </a:extLst>
          </p:cNvPr>
          <p:cNvSpPr txBox="1"/>
          <p:nvPr/>
        </p:nvSpPr>
        <p:spPr>
          <a:xfrm>
            <a:off x="685800" y="36195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Exemplo válido quando o fabricante usa a convenção clássica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38F9346-E718-445C-8E59-6D0CB7113E18}"/>
              </a:ext>
            </a:extLst>
          </p:cNvPr>
          <p:cNvSpPr txBox="1"/>
          <p:nvPr/>
        </p:nvSpPr>
        <p:spPr>
          <a:xfrm>
            <a:off x="685800" y="4406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40101 corresponde a offset 100 nessa mesma convenção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27254D4-C992-42EF-AC46-FEB06B865860}"/>
              </a:ext>
            </a:extLst>
          </p:cNvPr>
          <p:cNvSpPr txBox="1"/>
          <p:nvPr/>
        </p:nvSpPr>
        <p:spPr>
          <a:xfrm>
            <a:off x="685800" y="51943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O campo do software usa offset base zero</a:t>
            </a:r>
          </a:p>
        </p:txBody>
      </p:sp>
    </p:spTree>
    <p:extLst>
      <p:ext uri="{BB962C8B-B14F-4D97-AF65-F5344CB8AC3E}">
        <p14:creationId xmlns:p14="http://schemas.microsoft.com/office/powerpoint/2010/main" val="1679244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E434B5E-6C02-4C9A-BF7B-193A00FBA00A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9B132E-E49B-457D-8B7B-61D9706B0606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Uma requisição pode ultrapassar a faixa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EB22AD-7374-4F92-883A-23BA835E3B83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C6974EB-C310-4E10-8ADC-5F0CBACDC7EC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14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12D88D6-C454-4207-9D4F-4A3C4EA99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363785"/>
              </p:ext>
            </p:extLst>
          </p:nvPr>
        </p:nvGraphicFramePr>
        <p:xfrm>
          <a:off x="685800" y="1917700"/>
          <a:ext cx="10820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1814721616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851207973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4122525869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1184999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Mapa do servidor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Requisição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Fim solicitado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Resultado esperado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80421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0, quantidade 10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 válida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62340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9, quantidade 1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 válida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84905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9, quantidade 2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Exceção 02, se a região não existe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995448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EF912DC1-E04E-4545-9DE2-2C2EF5C8131D}"/>
              </a:ext>
            </a:extLst>
          </p:cNvPr>
          <p:cNvSpPr txBox="1"/>
          <p:nvPr/>
        </p:nvSpPr>
        <p:spPr>
          <a:xfrm>
            <a:off x="685800" y="5816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Fim do range = início + quantidade − 1</a:t>
            </a:r>
          </a:p>
        </p:txBody>
      </p:sp>
    </p:spTree>
    <p:extLst>
      <p:ext uri="{BB962C8B-B14F-4D97-AF65-F5344CB8AC3E}">
        <p14:creationId xmlns:p14="http://schemas.microsoft.com/office/powerpoint/2010/main" val="4003800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577F0F-799B-49CA-9466-BB1524A18ED7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613C9A-A3B7-4426-9451-59D55445D2B4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Valor, qualidade e horário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3FDDD10-DF24-4F85-8518-5748BDD5EB4C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BFAF09-DC45-4508-97EF-C8C99AE684C1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516596-B738-4FCA-A416-FB7332D31492}"/>
              </a:ext>
            </a:extLst>
          </p:cNvPr>
          <p:cNvSpPr txBox="1"/>
          <p:nvPr/>
        </p:nvSpPr>
        <p:spPr>
          <a:xfrm>
            <a:off x="685800" y="19685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O que a leitura retorna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7973203-7525-43E2-8E17-8421BD93E127}"/>
              </a:ext>
            </a:extLst>
          </p:cNvPr>
          <p:cNvSpPr txBox="1"/>
          <p:nvPr/>
        </p:nvSpPr>
        <p:spPr>
          <a:xfrm>
            <a:off x="6489700" y="1968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O que exige documentação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73F29C-90EA-4842-AD37-3BF986C4B391}"/>
              </a:ext>
            </a:extLst>
          </p:cNvPr>
          <p:cNvSpPr txBox="1"/>
          <p:nvPr/>
        </p:nvSpPr>
        <p:spPr>
          <a:xfrm>
            <a:off x="6858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Bits ou palavras de 16 bits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9D8D1-539E-48DA-A67E-F27679E41BEC}"/>
              </a:ext>
            </a:extLst>
          </p:cNvPr>
          <p:cNvSpPr txBox="1"/>
          <p:nvPr/>
        </p:nvSpPr>
        <p:spPr>
          <a:xfrm>
            <a:off x="6858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Status da operação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5A6DB7B-DE32-4ABD-B8AC-D20ED0861A88}"/>
              </a:ext>
            </a:extLst>
          </p:cNvPr>
          <p:cNvSpPr txBox="1"/>
          <p:nvPr/>
        </p:nvSpPr>
        <p:spPr>
          <a:xfrm>
            <a:off x="6858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Horário da última atualização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F5BF70-BD83-44AC-8808-9D070946FD35}"/>
              </a:ext>
            </a:extLst>
          </p:cNvPr>
          <p:cNvSpPr txBox="1"/>
          <p:nvPr/>
        </p:nvSpPr>
        <p:spPr>
          <a:xfrm>
            <a:off x="64897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Escala e unidade física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FE3186-4E1D-4FB5-8C3C-3D9B90E71603}"/>
              </a:ext>
            </a:extLst>
          </p:cNvPr>
          <p:cNvSpPr txBox="1"/>
          <p:nvPr/>
        </p:nvSpPr>
        <p:spPr>
          <a:xfrm>
            <a:off x="64897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Tipo numérico e ordem de palavras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BA0EF1E-1C29-40BE-924B-55E185323DA4}"/>
              </a:ext>
            </a:extLst>
          </p:cNvPr>
          <p:cNvSpPr txBox="1"/>
          <p:nvPr/>
        </p:nvSpPr>
        <p:spPr>
          <a:xfrm>
            <a:off x="64897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Significado da variável no processo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9DB451E-5E87-451F-8FED-73B6E52CF1E4}"/>
              </a:ext>
            </a:extLst>
          </p:cNvPr>
          <p:cNvSpPr txBox="1"/>
          <p:nvPr/>
        </p:nvSpPr>
        <p:spPr>
          <a:xfrm>
            <a:off x="685800" y="580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Um valor retido na tela precisa de timestamp e qualidade para confirmar leitura atual.</a:t>
            </a:r>
          </a:p>
        </p:txBody>
      </p:sp>
    </p:spTree>
    <p:extLst>
      <p:ext uri="{BB962C8B-B14F-4D97-AF65-F5344CB8AC3E}">
        <p14:creationId xmlns:p14="http://schemas.microsoft.com/office/powerpoint/2010/main" val="927488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9A75917-3C3B-4FE2-8A37-7F6D61447B04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DE9CDD-D2A9-4819-A4E4-B78CCD78E29F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Timeline Modbus e timeline TCP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CB4BF2-FB9D-4A6B-B008-870628D1297B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E5CF90-2DA3-407E-B0AA-6E423F78EF46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AB49027-F07E-4E1F-9558-CB5CC08D8510}"/>
              </a:ext>
            </a:extLst>
          </p:cNvPr>
          <p:cNvSpPr txBox="1"/>
          <p:nvPr/>
        </p:nvSpPr>
        <p:spPr>
          <a:xfrm>
            <a:off x="685800" y="19685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Modbus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9E07F2-8EB8-491B-96B4-2C65108687D4}"/>
              </a:ext>
            </a:extLst>
          </p:cNvPr>
          <p:cNvSpPr txBox="1"/>
          <p:nvPr/>
        </p:nvSpPr>
        <p:spPr>
          <a:xfrm>
            <a:off x="6489700" y="1968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TCP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0202552-B53C-47D0-B9B4-40B246A55281}"/>
              </a:ext>
            </a:extLst>
          </p:cNvPr>
          <p:cNvSpPr txBox="1"/>
          <p:nvPr/>
        </p:nvSpPr>
        <p:spPr>
          <a:xfrm>
            <a:off x="6858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Eventos das operações da aplicação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EDF035-FA31-42E2-B996-89D072735C25}"/>
              </a:ext>
            </a:extLst>
          </p:cNvPr>
          <p:cNvSpPr txBox="1"/>
          <p:nvPr/>
        </p:nvSpPr>
        <p:spPr>
          <a:xfrm>
            <a:off x="6858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TID, UID, função e região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50BE2D0-31E8-4B07-8C9D-9A4DAAA13C48}"/>
              </a:ext>
            </a:extLst>
          </p:cNvPr>
          <p:cNvSpPr txBox="1"/>
          <p:nvPr/>
        </p:nvSpPr>
        <p:spPr>
          <a:xfrm>
            <a:off x="6858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Requisição, resposta e exceção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26A3658-717F-437A-9986-FDA5D8441429}"/>
              </a:ext>
            </a:extLst>
          </p:cNvPr>
          <p:cNvSpPr txBox="1"/>
          <p:nvPr/>
        </p:nvSpPr>
        <p:spPr>
          <a:xfrm>
            <a:off x="64897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Quadros da interface de captura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2302278-4C1B-414C-820E-86C93E067264}"/>
              </a:ext>
            </a:extLst>
          </p:cNvPr>
          <p:cNvSpPr txBox="1"/>
          <p:nvPr/>
        </p:nvSpPr>
        <p:spPr>
          <a:xfrm>
            <a:off x="64897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IP, porta, protocolo e tamanho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93AE3E5-D768-4140-80D0-1931E6C02158}"/>
              </a:ext>
            </a:extLst>
          </p:cNvPr>
          <p:cNvSpPr txBox="1"/>
          <p:nvPr/>
        </p:nvSpPr>
        <p:spPr>
          <a:xfrm>
            <a:off x="64897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Sinais de transporte e tráfego visível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6D43D07-C3CE-4C8D-855A-F5F753704E77}"/>
              </a:ext>
            </a:extLst>
          </p:cNvPr>
          <p:cNvSpPr txBox="1"/>
          <p:nvPr/>
        </p:nvSpPr>
        <p:spPr>
          <a:xfrm>
            <a:off x="685800" y="580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A leitura pode responder mesmo quando a captura não vê os quadros.</a:t>
            </a:r>
          </a:p>
        </p:txBody>
      </p:sp>
    </p:spTree>
    <p:extLst>
      <p:ext uri="{BB962C8B-B14F-4D97-AF65-F5344CB8AC3E}">
        <p14:creationId xmlns:p14="http://schemas.microsoft.com/office/powerpoint/2010/main" val="48889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436E889-9508-40DC-9CC3-01B006E11A6E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CE34358-1849-4780-86E1-26FFDD9B363E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Visibilidade depende do ponto de captura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17FA2B-A6C3-4E72-BF47-4604A91E90E9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7B35F2-BFD0-4D47-8FCD-13E0EDDAAA14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17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6BB309-9A9C-49FF-80EB-220AB57E1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131668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047051043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160669028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437563005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Posição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Tráfego esperado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Limite principal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355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Notebook cliente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Comunicações do notebook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Pode não ver conversas entre terceiros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52651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Loopback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Comunicação local do computador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Exige interface adequada de captura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616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SPAN / TAP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Tráfego encaminhado ao ponto de captura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Cobertura depende da configuração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97505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Filtro BPF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Somente protocolos/endpoints incluídos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Um filtro pode excluir a evidência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899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701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95E446B-F849-44D3-AC93-F5134BC77486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DC80795-901E-44DC-B090-131A6770F5BA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Sinais TCP que pedem correlação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0A3209-3FF4-47BD-BE1E-D87A123E6493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EA5057-1F73-4719-A829-989B6466BC38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18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0B4829E-087E-4FE5-BCA0-C5F055932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678677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763759435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142794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543116805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Sinal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Hipótese a investigar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 complementar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79644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RST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Rejeição ou encerramento da sessão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Endpoint, estado e momento da operação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64116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Segmento repetido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Possível retransmissão ou captura duplicada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Sequência, direção e janela temporal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1658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Zero window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Receptor temporariamente sem espaço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Duração e impacto no tempo de resposta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67395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Timeout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Operação não terminou no prazo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Request, resposta, rota e socket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276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723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871868-FAD7-4B9E-A03D-A46486564084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A2FD6C-CBAB-4F26-9246-1CBFB8C76402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Rajada entre blocos e período de polling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E71769-D442-4F26-9CE8-D87A5C4644A7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4C14A1-3CCE-46D9-B832-9FDF85071126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19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0C098CA-F034-4DF8-BDC4-2BE5A414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749709"/>
              </p:ext>
            </p:extLst>
          </p:nvPr>
        </p:nvGraphicFramePr>
        <p:xfrm>
          <a:off x="685800" y="1917700"/>
          <a:ext cx="10820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055952709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47201592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496710730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Horário ilustrativo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Bloco consultado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Leitura do intervalo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38987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12:00:00.000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do ciclo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3055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12:00:00.002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IR 0 a 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Outro bloco, 2 ms depois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34288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12:00:01.000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Mesmo bloco, 1.000 ms depois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7821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12:00:01.002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IR 0 a 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Mesmo bloco, 1.000 ms depois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145414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FD0153AD-EF48-460E-9F2A-14D12058E2D7}"/>
              </a:ext>
            </a:extLst>
          </p:cNvPr>
          <p:cNvSpPr txBox="1"/>
          <p:nvPr/>
        </p:nvSpPr>
        <p:spPr>
          <a:xfrm>
            <a:off x="685800" y="5816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Compare a mesma assinatura de consulta para estimar o período de polling.</a:t>
            </a:r>
          </a:p>
        </p:txBody>
      </p:sp>
    </p:spTree>
    <p:extLst>
      <p:ext uri="{BB962C8B-B14F-4D97-AF65-F5344CB8AC3E}">
        <p14:creationId xmlns:p14="http://schemas.microsoft.com/office/powerpoint/2010/main" val="681905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E36D517-D2E6-4F5B-8AB7-51E986A98D4D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6AC380-ACD2-453D-8E66-54FADEC5BF35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Dados da rede após parar a captura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D1C6808-7058-49A1-9756-193D46DC6953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403397B-D7A3-4208-A42B-ED13D78F3246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F44A40-0168-4846-9337-F1A575617E74}"/>
              </a:ext>
            </a:extLst>
          </p:cNvPr>
          <p:cNvSpPr txBox="1"/>
          <p:nvPr/>
        </p:nvSpPr>
        <p:spPr>
          <a:xfrm>
            <a:off x="685800" y="1892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875D7B-728B-4B81-8A4A-49E0667E6B23}"/>
              </a:ext>
            </a:extLst>
          </p:cNvPr>
          <p:cNvSpPr txBox="1"/>
          <p:nvPr/>
        </p:nvSpPr>
        <p:spPr>
          <a:xfrm>
            <a:off x="1473200" y="1905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Capturar uma janela representativa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7750C4-9A5B-4D2C-9A0A-1D2318D5777D}"/>
              </a:ext>
            </a:extLst>
          </p:cNvPr>
          <p:cNvSpPr txBox="1"/>
          <p:nvPr/>
        </p:nvSpPr>
        <p:spPr>
          <a:xfrm>
            <a:off x="685800" y="2705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EEC58C3-50E7-4093-939A-7C00F4334923}"/>
              </a:ext>
            </a:extLst>
          </p:cNvPr>
          <p:cNvSpPr txBox="1"/>
          <p:nvPr/>
        </p:nvSpPr>
        <p:spPr>
          <a:xfrm>
            <a:off x="1473200" y="2717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Parar a captura e consolidar a sessão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D058362-0278-42AC-B062-F9CE9AE0E000}"/>
              </a:ext>
            </a:extLst>
          </p:cNvPr>
          <p:cNvSpPr txBox="1"/>
          <p:nvPr/>
        </p:nvSpPr>
        <p:spPr>
          <a:xfrm>
            <a:off x="685800" y="35179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BB37093-29C5-4CAC-A355-9A79E939C453}"/>
              </a:ext>
            </a:extLst>
          </p:cNvPr>
          <p:cNvSpPr txBox="1"/>
          <p:nvPr/>
        </p:nvSpPr>
        <p:spPr>
          <a:xfrm>
            <a:off x="1473200" y="35306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Abrir Dados e conferir o período analisado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74E086-6C15-48E9-B239-ED7C267BA914}"/>
              </a:ext>
            </a:extLst>
          </p:cNvPr>
          <p:cNvSpPr txBox="1"/>
          <p:nvPr/>
        </p:nvSpPr>
        <p:spPr>
          <a:xfrm>
            <a:off x="685800" y="43307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EAD924-4314-490A-BEA9-1A3C46585C50}"/>
              </a:ext>
            </a:extLst>
          </p:cNvPr>
          <p:cNvSpPr txBox="1"/>
          <p:nvPr/>
        </p:nvSpPr>
        <p:spPr>
          <a:xfrm>
            <a:off x="1473200" y="43434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Consultar gráficos, protocolos e conversas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A256E76-D161-4C45-BA90-6E7443A6F011}"/>
              </a:ext>
            </a:extLst>
          </p:cNvPr>
          <p:cNvSpPr txBox="1"/>
          <p:nvPr/>
        </p:nvSpPr>
        <p:spPr>
          <a:xfrm>
            <a:off x="685800" y="54483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A aba Dados fica disponível após a parada. O snapshot contém os pacotes retidos daquela sessão.</a:t>
            </a:r>
          </a:p>
        </p:txBody>
      </p:sp>
    </p:spTree>
    <p:extLst>
      <p:ext uri="{BB962C8B-B14F-4D97-AF65-F5344CB8AC3E}">
        <p14:creationId xmlns:p14="http://schemas.microsoft.com/office/powerpoint/2010/main" val="2265317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CB0414C-109F-4085-82DC-8CFE0F5B9EB5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056819-80E3-4FF9-BD60-6CCD5DC3DF23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Taxas observadas e cobertura da amostra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2A988C-2457-4B7E-A0C6-1BF6FBEB465E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14C976-2785-4DAB-A630-5BC29B340C35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21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E8CDCB5-8100-4640-9D9D-068AA4278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797251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07725681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32020455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73814041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Indicador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Interpretação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Conferência necessária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0106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Pacotes e bytes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Quadros observados e volume capturado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Filtro e retenção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0123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Média por segundo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Taxa no intervalo amostrado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Duração entre timestamps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22114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Pico em 1 segundo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Maior bucket completo observado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Resolução e janela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06450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Descartes / fila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Limites na coleta de evidências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Driver e fila da aplicação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785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31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CE4354B-64C1-4D6A-A10E-41D828C6DE54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13C170-0F6D-482E-A832-13C8D50D5296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Pico de tráfego e impacto na comunicação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E9D012A-EB0B-45BB-BBFC-3EAAA3E9B291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49B2B4-0A6A-4288-82A0-124527B2FE02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22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FEE2E59F-FF66-496A-B936-CCA717A7E9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5097676"/>
              </p:ext>
            </p:extLst>
          </p:nvPr>
        </p:nvGraphicFramePr>
        <p:xfrm>
          <a:off x="685800" y="1917700"/>
          <a:ext cx="6858000" cy="402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8A3F322D-B611-4C14-9393-F7FD785509B3}"/>
              </a:ext>
            </a:extLst>
          </p:cNvPr>
          <p:cNvSpPr txBox="1"/>
          <p:nvPr/>
        </p:nvSpPr>
        <p:spPr>
          <a:xfrm>
            <a:off x="8039100" y="2082800"/>
            <a:ext cx="346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Um pico identifica quando investigar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0EF6D1-BDDE-4B4C-A721-BC875C50C887}"/>
              </a:ext>
            </a:extLst>
          </p:cNvPr>
          <p:cNvSpPr txBox="1"/>
          <p:nvPr/>
        </p:nvSpPr>
        <p:spPr>
          <a:xfrm>
            <a:off x="8039100" y="3327400"/>
            <a:ext cx="346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Latência e descartes mostram possível impacto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3E98329-B878-49D8-8EE3-BE3DAE9F5DB4}"/>
              </a:ext>
            </a:extLst>
          </p:cNvPr>
          <p:cNvSpPr txBox="1"/>
          <p:nvPr/>
        </p:nvSpPr>
        <p:spPr>
          <a:xfrm>
            <a:off x="8039100" y="4572000"/>
            <a:ext cx="346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Velocidade e contadores de porta ajudam a avaliar utilização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66B3359-C98B-4326-919D-AA4F4D652464}"/>
              </a:ext>
            </a:extLst>
          </p:cNvPr>
          <p:cNvSpPr txBox="1"/>
          <p:nvPr/>
        </p:nvSpPr>
        <p:spPr>
          <a:xfrm>
            <a:off x="685800" y="60833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>
                <a:solidFill>
                  <a:srgbClr val="556C7D"/>
                </a:solidFill>
                <a:latin typeface="Segoe UI" panose="020B0502040204020203" pitchFamily="34" charset="0"/>
              </a:rPr>
              <a:t>Exemplo didÃ¡tico de pacotes/s. Valores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956137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5C59E6-70D7-40A7-9112-DCAC1D947122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2E6E0A-7B62-4184-826F-9F9B68589D0D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Dispositivos e conversas com mais tráfego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662C09-FDA8-4BAA-AF44-90B9E96DFAAB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A5F66D-9C5D-4F00-A824-E897EE478FAC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AE1644-540F-4EA6-968D-30DB7DF23977}"/>
              </a:ext>
            </a:extLst>
          </p:cNvPr>
          <p:cNvSpPr txBox="1"/>
          <p:nvPr/>
        </p:nvSpPr>
        <p:spPr>
          <a:xfrm>
            <a:off x="685800" y="199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500" b="1">
                <a:solidFill>
                  <a:srgbClr val="087E8B"/>
                </a:solidFill>
                <a:latin typeface="Segoe UI" panose="020B0502040204020203" pitchFamily="34" charset="0"/>
              </a:rPr>
              <a:t>10 pacotes de A para 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B61F7C-CF1B-4A33-AEB0-FC956B0D0745}"/>
              </a:ext>
            </a:extLst>
          </p:cNvPr>
          <p:cNvSpPr txBox="1"/>
          <p:nvPr/>
        </p:nvSpPr>
        <p:spPr>
          <a:xfrm>
            <a:off x="685800" y="36195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A participa de 100% dos pacotes da amostra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4FA927-B914-4FF2-85F9-2C3869826019}"/>
              </a:ext>
            </a:extLst>
          </p:cNvPr>
          <p:cNvSpPr txBox="1"/>
          <p:nvPr/>
        </p:nvSpPr>
        <p:spPr>
          <a:xfrm>
            <a:off x="685800" y="4406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B também participa de 100% desses pacotes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BB91EE-7F38-4BDD-8D6C-6953C97FBB78}"/>
              </a:ext>
            </a:extLst>
          </p:cNvPr>
          <p:cNvSpPr txBox="1"/>
          <p:nvPr/>
        </p:nvSpPr>
        <p:spPr>
          <a:xfrm>
            <a:off x="685800" y="51943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A soma de participação entre endpoints pode superar 100%</a:t>
            </a:r>
          </a:p>
        </p:txBody>
      </p:sp>
    </p:spTree>
    <p:extLst>
      <p:ext uri="{BB962C8B-B14F-4D97-AF65-F5344CB8AC3E}">
        <p14:creationId xmlns:p14="http://schemas.microsoft.com/office/powerpoint/2010/main" val="1401894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DB1CA60-1193-49D7-8FC0-EB6F627D527A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2C6D49-E185-4427-9BFC-6FD487A64F8B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Resultados reunidos no Teste completo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49BEAF-CD3A-4288-8123-A353EECEB8EC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4D647F-6B8F-471E-A7F5-1F35F2C7517B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24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1518F3-A6BC-483A-8706-E68C7C881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07" y="1790700"/>
            <a:ext cx="7351585" cy="42418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B4A4299-9240-46E8-BFB7-9B456893B910}"/>
              </a:ext>
            </a:extLst>
          </p:cNvPr>
          <p:cNvSpPr txBox="1"/>
          <p:nvPr/>
        </p:nvSpPr>
        <p:spPr>
          <a:xfrm>
            <a:off x="685800" y="60960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>
                <a:solidFill>
                  <a:srgbClr val="556C7D"/>
                </a:solidFill>
                <a:latin typeface="Segoe UI" panose="020B0502040204020203" pitchFamily="34" charset="0"/>
              </a:rPr>
              <a:t>Tela de referência: execução, checklist e evidências do ensaio</a:t>
            </a:r>
          </a:p>
        </p:txBody>
      </p:sp>
    </p:spTree>
    <p:extLst>
      <p:ext uri="{BB962C8B-B14F-4D97-AF65-F5344CB8AC3E}">
        <p14:creationId xmlns:p14="http://schemas.microsoft.com/office/powerpoint/2010/main" val="3899765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1B4ECB6-C2BD-4DFB-A5DF-430E0967B56D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DBDBCD-654A-4D81-B9FD-579B139468F9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Configurações que definem o ensaio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54455E-0E9E-430E-B15F-756B1B80A8F4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39DDD9-D716-49EF-8E2A-E64FD0F8EB8C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25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AB35B02-44D4-4E3C-8065-2D1D63DDB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469388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18427858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629129869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4181216177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Parâmetro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Efeito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Escolha para a bancada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90780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Papel e alvos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Define as validações Modbus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Cliente e alvo local incluído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04046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Referência passiva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Observa antes das sondagens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Janela suficiente para ciclos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99943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Monitoramento TCP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Coleta comportamento operacional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Período compatível com o objetivo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58278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Leituras por bloco / intervalo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Define repetição e duração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Registrar tentativas e sucessos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71852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CIDR, portas, taxa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Limita descoberta ativa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Somente escopo autorizado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39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27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2C94CE1-9B5A-4F82-87CC-863247FAE176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004892-C869-4C28-87F6-39CAACA1C314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Estados do checklist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8BE631-57A9-4E47-9A23-E1CA8E76977A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B25D4BB-690B-45B7-9E40-037907730C8D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26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B6DC7F1-86C6-4883-86C7-F40ADDFB9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164879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1608493866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315162168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Estado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Leitura técnica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07464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OK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Critério da etapa atendido na janela observada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5504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Atenção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Sinal ou limitação que exige análise contextual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27122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Falha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Operação ou critério da etapa não atendido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903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Inconclusivo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Evidência insuficiente para decidir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4931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aplicável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Etapa sem objeto para aquele papel ou escopo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484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485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9DC1036-48D4-41B3-830D-CD81DC0AE1FA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96B8A3-DF0A-4C29-A8DC-D14FF3A1524F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Descoberta de mapa: alcance e requests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567D38-7964-4335-A043-1B30DE5BD7AB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00B9EF-C8E2-433B-9724-1CE2F836B3EE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27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12D2E2D-6E95-44DD-B1CC-D0D7E5228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194" y="1828800"/>
            <a:ext cx="3548212" cy="41656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6EA3E22-A6C7-4A91-84BC-8023981100B1}"/>
              </a:ext>
            </a:extLst>
          </p:cNvPr>
          <p:cNvSpPr txBox="1"/>
          <p:nvPr/>
        </p:nvSpPr>
        <p:spPr>
          <a:xfrm>
            <a:off x="6667500" y="20193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Máximo 100 inclui o endereço 100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66031C-E517-4923-9649-761470324C6D}"/>
              </a:ext>
            </a:extLst>
          </p:cNvPr>
          <p:cNvSpPr txBox="1"/>
          <p:nvPr/>
        </p:nvSpPr>
        <p:spPr>
          <a:xfrm>
            <a:off x="6667500" y="28702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Bloco 10: 0–9, 10–19, até 90–99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CB5DA33-5F68-41F4-92D8-BD92E09521D3}"/>
              </a:ext>
            </a:extLst>
          </p:cNvPr>
          <p:cNvSpPr txBox="1"/>
          <p:nvPr/>
        </p:nvSpPr>
        <p:spPr>
          <a:xfrm>
            <a:off x="6667500" y="37211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A última janela é 100–100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8D90DB1-7879-42C6-B603-0032AB0F7304}"/>
              </a:ext>
            </a:extLst>
          </p:cNvPr>
          <p:cNvSpPr txBox="1"/>
          <p:nvPr/>
        </p:nvSpPr>
        <p:spPr>
          <a:xfrm>
            <a:off x="6667500" y="45720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São 11 janelas iniciais por FC, UID e endpoint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3549ADA-1FAA-4C7E-9862-FDAA8478B6E4}"/>
              </a:ext>
            </a:extLst>
          </p:cNvPr>
          <p:cNvSpPr txBox="1"/>
          <p:nvPr/>
        </p:nvSpPr>
        <p:spPr>
          <a:xfrm>
            <a:off x="685800" y="6057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>
                <a:solidFill>
                  <a:srgbClr val="556C7D"/>
                </a:solidFill>
                <a:latin typeface="Segoe UI" panose="020B0502040204020203" pitchFamily="34" charset="0"/>
              </a:rPr>
              <a:t>Fallback e outras funções/UIDs acrescentam consultas</a:t>
            </a:r>
          </a:p>
        </p:txBody>
      </p:sp>
    </p:spTree>
    <p:extLst>
      <p:ext uri="{BB962C8B-B14F-4D97-AF65-F5344CB8AC3E}">
        <p14:creationId xmlns:p14="http://schemas.microsoft.com/office/powerpoint/2010/main" val="3850695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DD0FC4B-B6D2-4D16-8A05-C90F011A5F4F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3285EA-2D22-403A-9FDC-E8C276C95885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Leitura de diagnóstico e escrita manual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75A1A2-A5E7-489E-BF4A-17D9945C80EB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07B1384-C375-44D0-9834-33AAE4C5AFD2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5A6371-477E-46F3-A320-958820F515EF}"/>
              </a:ext>
            </a:extLst>
          </p:cNvPr>
          <p:cNvSpPr txBox="1"/>
          <p:nvPr/>
        </p:nvSpPr>
        <p:spPr>
          <a:xfrm>
            <a:off x="685800" y="19685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Teste completo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B0D7C1-5541-4D5B-9B4F-3A63D4383353}"/>
              </a:ext>
            </a:extLst>
          </p:cNvPr>
          <p:cNvSpPr txBox="1"/>
          <p:nvPr/>
        </p:nvSpPr>
        <p:spPr>
          <a:xfrm>
            <a:off x="6489700" y="1968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Escrita manual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8414C1C-3898-4A44-A3AF-A8A0E4432501}"/>
              </a:ext>
            </a:extLst>
          </p:cNvPr>
          <p:cNvSpPr txBox="1"/>
          <p:nvPr/>
        </p:nvSpPr>
        <p:spPr>
          <a:xfrm>
            <a:off x="6858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Sondagens e leituras configuradas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6DA186E-CC2E-4F47-B76E-F33AF19D9BC8}"/>
              </a:ext>
            </a:extLst>
          </p:cNvPr>
          <p:cNvSpPr txBox="1"/>
          <p:nvPr/>
        </p:nvSpPr>
        <p:spPr>
          <a:xfrm>
            <a:off x="6858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Descoberta de mapa sem escrita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C7AE3EC-D9EB-49CF-B7FA-963EFB60B8E6}"/>
              </a:ext>
            </a:extLst>
          </p:cNvPr>
          <p:cNvSpPr txBox="1"/>
          <p:nvPr/>
        </p:nvSpPr>
        <p:spPr>
          <a:xfrm>
            <a:off x="6858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Observação dos requests recebidos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699C460-6072-4252-830A-278FF81ACD25}"/>
              </a:ext>
            </a:extLst>
          </p:cNvPr>
          <p:cNvSpPr txBox="1"/>
          <p:nvPr/>
        </p:nvSpPr>
        <p:spPr>
          <a:xfrm>
            <a:off x="64897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Pode alterar o processo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349FB5A-F8B3-431F-BE44-1C1054943469}"/>
              </a:ext>
            </a:extLst>
          </p:cNvPr>
          <p:cNvSpPr txBox="1"/>
          <p:nvPr/>
        </p:nvSpPr>
        <p:spPr>
          <a:xfrm>
            <a:off x="64897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Exige ponto e valor aprovados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9D5B5D3-7E88-4E64-9706-2A881E433B37}"/>
              </a:ext>
            </a:extLst>
          </p:cNvPr>
          <p:cNvSpPr txBox="1"/>
          <p:nvPr/>
        </p:nvSpPr>
        <p:spPr>
          <a:xfrm>
            <a:off x="64897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Timeout exige conferir o estado antes de repetir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CEE8BB6-70C9-47AB-8922-D40880C42D93}"/>
              </a:ext>
            </a:extLst>
          </p:cNvPr>
          <p:cNvSpPr txBox="1"/>
          <p:nvPr/>
        </p:nvSpPr>
        <p:spPr>
          <a:xfrm>
            <a:off x="685800" y="580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A demonstração de treinamento usa bancada ou ambiente autorizado.</a:t>
            </a:r>
          </a:p>
        </p:txBody>
      </p:sp>
    </p:spTree>
    <p:extLst>
      <p:ext uri="{BB962C8B-B14F-4D97-AF65-F5344CB8AC3E}">
        <p14:creationId xmlns:p14="http://schemas.microsoft.com/office/powerpoint/2010/main" val="249666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51F2104-29A4-4DC6-81B6-F172F1CB8B82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08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99EDD8-A952-4A15-A2F9-AF806CEDCC9B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O que significa dispositivo encontrado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517E76A-090E-4DCE-886E-93867FBD7E6E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70EE265-966C-49D9-88F8-884FA46964C2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29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86B920A-7EDD-401B-A7EB-6920E52E5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055724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588505397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3747933473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276104860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Categoria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Limitação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33269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Vizinho ARP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Associação local de IPv4 e MAC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identifica PLC ou atividade atual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8184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TCP aberto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Conexão aceita na porta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confirma Modbus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41868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Modbus confirmado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Resposta de leitura ou exceção válida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valida todo o mapa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11293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Cliente observado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Request reconhecido / recebido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Cliente silencioso pode não aparecer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05907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Infraestrutura anunciada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LLDP/CDP recebido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é inventário completo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14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449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E6EB0BF-53D7-4608-BDA0-427595900383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08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CC52EB-D20A-4D7B-946F-EED52EF99E23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Rotas e topologia inferida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407B58-33FC-4844-9D4C-EA23C590EE03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2F6D25-F79F-4BE4-9669-A4F2216C68D6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30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3556563-1C2C-4A88-85E4-9F15C3C7C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936065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061267127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1249536608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65296442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O que mostra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O que fica pendente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18053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Conversas Modbus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Pares que trocaram mensagens visíveis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Caminho físico entre eles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984447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Rota ICMP / TTL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Roteadores que responderam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Switch L2 e caminho de retorno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27822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Gateway local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Configuração de saída da estação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Rota efetivamente usada pelo alvo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20237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LLDP / CDP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Identidade e porta anunciadas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Saúde e inventário remoto do switch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914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605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0928744-324F-464A-9FC0-4CE0F06EEA27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08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DA434A-8D7F-4E1D-A118-AF576E5FC1FD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Leitura do diagrama e das suas lacunas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22509E-AF6B-4625-A40C-A4859CC160AC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8125B9-E512-4AB6-ABE5-18D2260D8AED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EFDBBD-1987-43C4-9B6C-76F50154ED72}"/>
              </a:ext>
            </a:extLst>
          </p:cNvPr>
          <p:cNvSpPr txBox="1"/>
          <p:nvPr/>
        </p:nvSpPr>
        <p:spPr>
          <a:xfrm>
            <a:off x="685800" y="1955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50024A-F8F5-4136-80C9-0024A7EB5687}"/>
              </a:ext>
            </a:extLst>
          </p:cNvPr>
          <p:cNvSpPr txBox="1"/>
          <p:nvPr/>
        </p:nvSpPr>
        <p:spPr>
          <a:xfrm>
            <a:off x="1727200" y="19685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enlace tem evidência Modbus?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FEE7487-32B7-42C2-8C00-626D78BE1518}"/>
              </a:ext>
            </a:extLst>
          </p:cNvPr>
          <p:cNvSpPr txBox="1"/>
          <p:nvPr/>
        </p:nvSpPr>
        <p:spPr>
          <a:xfrm>
            <a:off x="685800" y="2946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C246C52-C6CB-44B3-9979-B329453AC55F}"/>
              </a:ext>
            </a:extLst>
          </p:cNvPr>
          <p:cNvSpPr txBox="1"/>
          <p:nvPr/>
        </p:nvSpPr>
        <p:spPr>
          <a:xfrm>
            <a:off x="1727200" y="29591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salto veio de uma resposta ICMP?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80BD89A-861E-4956-AE4F-964FA7DA96CA}"/>
              </a:ext>
            </a:extLst>
          </p:cNvPr>
          <p:cNvSpPr txBox="1"/>
          <p:nvPr/>
        </p:nvSpPr>
        <p:spPr>
          <a:xfrm>
            <a:off x="685800" y="39370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C921F1C-A8A3-4D95-9F56-AA3F34FD7F86}"/>
              </a:ext>
            </a:extLst>
          </p:cNvPr>
          <p:cNvSpPr txBox="1"/>
          <p:nvPr/>
        </p:nvSpPr>
        <p:spPr>
          <a:xfrm>
            <a:off x="1727200" y="39497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Há anúncio que identifica infraestrutura?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25F8D97-A7A7-42B0-9B41-101D8E7FFCBB}"/>
              </a:ext>
            </a:extLst>
          </p:cNvPr>
          <p:cNvSpPr txBox="1"/>
          <p:nvPr/>
        </p:nvSpPr>
        <p:spPr>
          <a:xfrm>
            <a:off x="685800" y="49276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AD3DBCC-43F6-4045-A4D6-DB7DD7819284}"/>
              </a:ext>
            </a:extLst>
          </p:cNvPr>
          <p:cNvSpPr txBox="1"/>
          <p:nvPr/>
        </p:nvSpPr>
        <p:spPr>
          <a:xfrm>
            <a:off x="1727200" y="49403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conexão física ainda exige confirmação?</a:t>
            </a:r>
          </a:p>
        </p:txBody>
      </p:sp>
    </p:spTree>
    <p:extLst>
      <p:ext uri="{BB962C8B-B14F-4D97-AF65-F5344CB8AC3E}">
        <p14:creationId xmlns:p14="http://schemas.microsoft.com/office/powerpoint/2010/main" val="3517244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B10D33-65AF-4A22-BDD7-50BE2ABACFCB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09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ED79E0-9FC8-4E53-A602-8A482BEA30A6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Relatório resumido e completo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6CAD0C3-716E-4012-A512-BF1FFD061EC2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017F86-BA62-4D79-A838-F7330B2C2E23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4EE7B8-010B-4DFB-9A0E-589E755D98E0}"/>
              </a:ext>
            </a:extLst>
          </p:cNvPr>
          <p:cNvSpPr txBox="1"/>
          <p:nvPr/>
        </p:nvSpPr>
        <p:spPr>
          <a:xfrm>
            <a:off x="685800" y="19685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Resumido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CD2BA0A-0B72-48BF-80C4-D503F5D4A5D7}"/>
              </a:ext>
            </a:extLst>
          </p:cNvPr>
          <p:cNvSpPr txBox="1"/>
          <p:nvPr/>
        </p:nvSpPr>
        <p:spPr>
          <a:xfrm>
            <a:off x="6489700" y="1968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Completo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F64A72E-C1C3-441F-8ADC-4F2D50D4C7EC}"/>
              </a:ext>
            </a:extLst>
          </p:cNvPr>
          <p:cNvSpPr txBox="1"/>
          <p:nvPr/>
        </p:nvSpPr>
        <p:spPr>
          <a:xfrm>
            <a:off x="6858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Principais achados e resultados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614411B-9DF2-4B4B-9BC4-6E7402A656CB}"/>
              </a:ext>
            </a:extLst>
          </p:cNvPr>
          <p:cNvSpPr txBox="1"/>
          <p:nvPr/>
        </p:nvSpPr>
        <p:spPr>
          <a:xfrm>
            <a:off x="6858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Impacto e próxima verificação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C99E5A6-AFDF-4123-AA0F-0BD88EDA2DB0}"/>
              </a:ext>
            </a:extLst>
          </p:cNvPr>
          <p:cNvSpPr txBox="1"/>
          <p:nvPr/>
        </p:nvSpPr>
        <p:spPr>
          <a:xfrm>
            <a:off x="6858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Comunicação rápida à equipe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E3F8939-48A5-4176-870F-880C2EB6F581}"/>
              </a:ext>
            </a:extLst>
          </p:cNvPr>
          <p:cNvSpPr txBox="1"/>
          <p:nvPr/>
        </p:nvSpPr>
        <p:spPr>
          <a:xfrm>
            <a:off x="6489700" y="27051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Etapas e estatísticas detalhadas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C1CDF3B-5F22-45AE-BD5C-BAE5C2DEDBD7}"/>
              </a:ext>
            </a:extLst>
          </p:cNvPr>
          <p:cNvSpPr txBox="1"/>
          <p:nvPr/>
        </p:nvSpPr>
        <p:spPr>
          <a:xfrm>
            <a:off x="6489700" y="361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Inventário, mapa e topologia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89CCA3A-D231-489F-AB04-5F62B3352DE5}"/>
              </a:ext>
            </a:extLst>
          </p:cNvPr>
          <p:cNvSpPr txBox="1"/>
          <p:nvPr/>
        </p:nvSpPr>
        <p:spPr>
          <a:xfrm>
            <a:off x="6489700" y="4533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Rastreabilidade técnica do ensaio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A697A7E-A1ED-4AC6-B9B1-894F858D01A8}"/>
              </a:ext>
            </a:extLst>
          </p:cNvPr>
          <p:cNvSpPr txBox="1"/>
          <p:nvPr/>
        </p:nvSpPr>
        <p:spPr>
          <a:xfrm>
            <a:off x="685800" y="580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MD e PDF preservam o relatório. Imagens auxiliares do MD devem acompanhar o arquivo.</a:t>
            </a:r>
          </a:p>
        </p:txBody>
      </p:sp>
    </p:spTree>
    <p:extLst>
      <p:ext uri="{BB962C8B-B14F-4D97-AF65-F5344CB8AC3E}">
        <p14:creationId xmlns:p14="http://schemas.microsoft.com/office/powerpoint/2010/main" val="3900428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E4B9F0E-8B7E-4DF3-A8E6-83B8AE51EE5C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09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96DCD8-D0EC-4E39-BC20-AFBFB14EAAB8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Um achado técnico reproduzível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A5E4A9D-0181-4113-9709-35A5CC98ED54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C519E0-BBC4-49E4-8127-732A5DF8E787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A65611-F748-4136-8E2B-ABD3A95E78B9}"/>
              </a:ext>
            </a:extLst>
          </p:cNvPr>
          <p:cNvSpPr txBox="1"/>
          <p:nvPr/>
        </p:nvSpPr>
        <p:spPr>
          <a:xfrm>
            <a:off x="685800" y="199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500" b="1">
                <a:solidFill>
                  <a:srgbClr val="087E8B"/>
                </a:solidFill>
                <a:latin typeface="Segoe UI" panose="020B0502040204020203" pitchFamily="34" charset="0"/>
              </a:rPr>
              <a:t>FC03 recusou a faixa 9–10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F0DB016-DF0C-4CA0-BBE7-949DCCD20063}"/>
              </a:ext>
            </a:extLst>
          </p:cNvPr>
          <p:cNvSpPr txBox="1"/>
          <p:nvPr/>
        </p:nvSpPr>
        <p:spPr>
          <a:xfrm>
            <a:off x="685800" y="36195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Evidência: três respostas com exceção 02, UID 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50D4C4-4F62-4FDA-87CB-1C3EFBCD07AD}"/>
              </a:ext>
            </a:extLst>
          </p:cNvPr>
          <p:cNvSpPr txBox="1"/>
          <p:nvPr/>
        </p:nvSpPr>
        <p:spPr>
          <a:xfrm>
            <a:off x="685800" y="4406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Mapa de bancada: HR 0–9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25651E0-01CC-4025-92F9-B53E9D7CBEFA}"/>
              </a:ext>
            </a:extLst>
          </p:cNvPr>
          <p:cNvSpPr txBox="1"/>
          <p:nvPr/>
        </p:nvSpPr>
        <p:spPr>
          <a:xfrm>
            <a:off x="685800" y="51943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Próxima verificação: corrigir quantidade ou mapa documentado</a:t>
            </a:r>
          </a:p>
        </p:txBody>
      </p:sp>
    </p:spTree>
    <p:extLst>
      <p:ext uri="{BB962C8B-B14F-4D97-AF65-F5344CB8AC3E}">
        <p14:creationId xmlns:p14="http://schemas.microsoft.com/office/powerpoint/2010/main" val="1375338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02C9EEC-1186-4E40-B146-8C441959F310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09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08D2DA-C83E-41C3-AAEC-B91162B4F5D4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Parâmetros para repetir o teste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C1F88F-CC1D-4BFB-AEBD-7E0220091686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292C3F-1B77-4731-B8C9-17B67B22C296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34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7360D9B-8AD5-4EBF-B3BF-E0794039F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046096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977582924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20401907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Registro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Por que guardar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35748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Versão e configuração .ffd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Reproduzir estação, alvos e mapa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30276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IP, porta, UID, FC e range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Identificar exatamente a operação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81983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Interface e filtro de captura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Reproduzir a cobertura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5957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Janela, repetição e intervalo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Comparar amostras equivalentes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17089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Relatório e evidências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Conferir achados antes e depois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594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9119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FF928B6-0CA7-4A92-B3E0-BBFBB062803D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10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047ABA-7A6C-49FD-81C0-FA8FC2F50B37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Estudo de caso: a primeira evidência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BAF604A-DC03-4DA9-97D8-44F37800E1F9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0374CB-8EB7-4960-BB1B-384803DA497E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41A6B3D-4574-4F3E-85BF-A46CD7F59DA5}"/>
              </a:ext>
            </a:extLst>
          </p:cNvPr>
          <p:cNvSpPr txBox="1"/>
          <p:nvPr/>
        </p:nvSpPr>
        <p:spPr>
          <a:xfrm>
            <a:off x="685800" y="1955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088084-A76D-4BD6-9F9B-671539C270E0}"/>
              </a:ext>
            </a:extLst>
          </p:cNvPr>
          <p:cNvSpPr txBox="1"/>
          <p:nvPr/>
        </p:nvSpPr>
        <p:spPr>
          <a:xfrm>
            <a:off x="1727200" y="19685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O cliente indica falha no HR documental 40010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D7CE02B-98C7-4AA1-8B8D-02256DAA1102}"/>
              </a:ext>
            </a:extLst>
          </p:cNvPr>
          <p:cNvSpPr txBox="1"/>
          <p:nvPr/>
        </p:nvSpPr>
        <p:spPr>
          <a:xfrm>
            <a:off x="685800" y="2946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D7DED27-44DB-40EC-8AEF-DB794C8D9386}"/>
              </a:ext>
            </a:extLst>
          </p:cNvPr>
          <p:cNvSpPr txBox="1"/>
          <p:nvPr/>
        </p:nvSpPr>
        <p:spPr>
          <a:xfrm>
            <a:off x="1727200" y="29591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O IP responde ao ping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BE872C-FD74-4BF4-9B22-5008AB0DCBC0}"/>
              </a:ext>
            </a:extLst>
          </p:cNvPr>
          <p:cNvSpPr txBox="1"/>
          <p:nvPr/>
        </p:nvSpPr>
        <p:spPr>
          <a:xfrm>
            <a:off x="685800" y="39370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D480128-A8B7-4C35-B0B2-2F78589BE67D}"/>
              </a:ext>
            </a:extLst>
          </p:cNvPr>
          <p:cNvSpPr txBox="1"/>
          <p:nvPr/>
        </p:nvSpPr>
        <p:spPr>
          <a:xfrm>
            <a:off x="1727200" y="39497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A porta TCP aceita conexão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5000F91-A092-4624-8AAA-4BACDF9A8EAA}"/>
              </a:ext>
            </a:extLst>
          </p:cNvPr>
          <p:cNvSpPr txBox="1"/>
          <p:nvPr/>
        </p:nvSpPr>
        <p:spPr>
          <a:xfrm>
            <a:off x="685800" y="49276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F1A783-FA31-4335-9DE0-67BD66645BC3}"/>
              </a:ext>
            </a:extLst>
          </p:cNvPr>
          <p:cNvSpPr txBox="1"/>
          <p:nvPr/>
        </p:nvSpPr>
        <p:spPr>
          <a:xfrm>
            <a:off x="1727200" y="49403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será o próximo teste?</a:t>
            </a:r>
          </a:p>
        </p:txBody>
      </p:sp>
    </p:spTree>
    <p:extLst>
      <p:ext uri="{BB962C8B-B14F-4D97-AF65-F5344CB8AC3E}">
        <p14:creationId xmlns:p14="http://schemas.microsoft.com/office/powerpoint/2010/main" val="3131053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A9D3BF5-E02C-4EFF-8469-F4371DA2879C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10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B3F40C-1191-4D59-B77B-4BA73D3A7DC2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Estudo de caso: a leitura recusada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EAEF2F-6D75-435A-9E08-C53B3F2E138C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699A19-405E-49D1-BC97-E53D63771FA7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36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DB637AF-89A3-4CFD-AC1A-762D1F2DE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119793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539114464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406997807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Campo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 liberada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7604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Endpoint / UID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127.0.0.1:1502 / 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21869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Consulta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FC03, início 9, quantidade 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79403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Mapa conhecido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98539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Resposta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Exceção 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30524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Pergunta à turma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 que comprova a resposta e qual configuração revisar?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120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597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9730B56-581D-4DF2-9A9B-935C1A0CEE68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10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873AB36-F292-469D-8669-95890DF3F76E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Estudo de caso: confirmação após ajuste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C6B76A-73F7-41E0-B0AF-39A6AC77FD40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955137E-ECEE-417E-8993-F8FE5DF1D2ED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83E6645-9B98-4B4B-A813-3FC3CD3D9D78}"/>
              </a:ext>
            </a:extLst>
          </p:cNvPr>
          <p:cNvSpPr txBox="1"/>
          <p:nvPr/>
        </p:nvSpPr>
        <p:spPr>
          <a:xfrm>
            <a:off x="685800" y="1892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F76BB3-AFE2-4DCC-A2C7-BD944BF95E00}"/>
              </a:ext>
            </a:extLst>
          </p:cNvPr>
          <p:cNvSpPr txBox="1"/>
          <p:nvPr/>
        </p:nvSpPr>
        <p:spPr>
          <a:xfrm>
            <a:off x="1473200" y="1905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Corrigir somente a quantidade para 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A1D5236-B3EA-468C-8C26-DA427612B1E1}"/>
              </a:ext>
            </a:extLst>
          </p:cNvPr>
          <p:cNvSpPr txBox="1"/>
          <p:nvPr/>
        </p:nvSpPr>
        <p:spPr>
          <a:xfrm>
            <a:off x="685800" y="2705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D4B7FA-4946-4081-8525-9F56C8AC24FB}"/>
              </a:ext>
            </a:extLst>
          </p:cNvPr>
          <p:cNvSpPr txBox="1"/>
          <p:nvPr/>
        </p:nvSpPr>
        <p:spPr>
          <a:xfrm>
            <a:off x="1473200" y="2717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Repetir a leitura no offset 9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25C913-6849-4D84-BF05-4A8B593B274F}"/>
              </a:ext>
            </a:extLst>
          </p:cNvPr>
          <p:cNvSpPr txBox="1"/>
          <p:nvPr/>
        </p:nvSpPr>
        <p:spPr>
          <a:xfrm>
            <a:off x="685800" y="35179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A25406-1DA5-4271-A1D4-90FA1BE238FF}"/>
              </a:ext>
            </a:extLst>
          </p:cNvPr>
          <p:cNvSpPr txBox="1"/>
          <p:nvPr/>
        </p:nvSpPr>
        <p:spPr>
          <a:xfrm>
            <a:off x="1473200" y="35306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Conferir valor, qualidade e horário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ECD4E68-DDF6-4A2D-8DC4-8C8C8D6B60EF}"/>
              </a:ext>
            </a:extLst>
          </p:cNvPr>
          <p:cNvSpPr txBox="1"/>
          <p:nvPr/>
        </p:nvSpPr>
        <p:spPr>
          <a:xfrm>
            <a:off x="685800" y="43307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4752E6-2AC6-40F6-B2C6-88A000B97A16}"/>
              </a:ext>
            </a:extLst>
          </p:cNvPr>
          <p:cNvSpPr txBox="1"/>
          <p:nvPr/>
        </p:nvSpPr>
        <p:spPr>
          <a:xfrm>
            <a:off x="1473200" y="43434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Registrar o antes e depois no relatório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0392A3-0F23-4D40-8CCE-EDDEA34D8DB1}"/>
              </a:ext>
            </a:extLst>
          </p:cNvPr>
          <p:cNvSpPr txBox="1"/>
          <p:nvPr/>
        </p:nvSpPr>
        <p:spPr>
          <a:xfrm>
            <a:off x="685800" y="54483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A leitura válida confirma o diagnóstico do range na bancada. Registrar a convenção usada para 40010.</a:t>
            </a:r>
          </a:p>
        </p:txBody>
      </p:sp>
    </p:spTree>
    <p:extLst>
      <p:ext uri="{BB962C8B-B14F-4D97-AF65-F5344CB8AC3E}">
        <p14:creationId xmlns:p14="http://schemas.microsoft.com/office/powerpoint/2010/main" val="1520024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B4691D8-6CEB-4CC6-BE9D-4DBE405FDAE4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Encerramento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C4020A-6443-4055-A225-67199FD9DD5F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Método de diagnóstico para o campo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50088A-87BE-48A6-9F48-277CBC9A5815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1790DD-ED2A-486F-BAF8-FF75AA1E1EC6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43B9E1-3789-4F53-809F-3B6231F104E6}"/>
              </a:ext>
            </a:extLst>
          </p:cNvPr>
          <p:cNvSpPr txBox="1"/>
          <p:nvPr/>
        </p:nvSpPr>
        <p:spPr>
          <a:xfrm>
            <a:off x="685800" y="1955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1  Papel do equipamento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3E6B80-D2E8-41F3-848F-E9B01BC19A1A}"/>
              </a:ext>
            </a:extLst>
          </p:cNvPr>
          <p:cNvSpPr txBox="1"/>
          <p:nvPr/>
        </p:nvSpPr>
        <p:spPr>
          <a:xfrm>
            <a:off x="685800" y="2768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it-IT" sz="2100">
                <a:solidFill>
                  <a:srgbClr val="18354B"/>
                </a:solidFill>
                <a:latin typeface="Segoe UI" panose="020B0502040204020203" pitchFamily="34" charset="0"/>
              </a:rPr>
              <a:t>2  IP, rota e interface</a:t>
            </a:r>
            <a:endParaRPr lang="pt-BR" sz="2100">
              <a:solidFill>
                <a:srgbClr val="18354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396844-3C74-49F6-8088-FDBAC3837335}"/>
              </a:ext>
            </a:extLst>
          </p:cNvPr>
          <p:cNvSpPr txBox="1"/>
          <p:nvPr/>
        </p:nvSpPr>
        <p:spPr>
          <a:xfrm>
            <a:off x="685800" y="3581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3  Porta TCP e serviço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EF495E-3DA4-43DC-AE35-BB2FFBD4F9C9}"/>
              </a:ext>
            </a:extLst>
          </p:cNvPr>
          <p:cNvSpPr txBox="1"/>
          <p:nvPr/>
        </p:nvSpPr>
        <p:spPr>
          <a:xfrm>
            <a:off x="685800" y="4394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4  UID, função e região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5C283E5-90A4-4875-9835-7E09FEEFABE1}"/>
              </a:ext>
            </a:extLst>
          </p:cNvPr>
          <p:cNvSpPr txBox="1"/>
          <p:nvPr/>
        </p:nvSpPr>
        <p:spPr>
          <a:xfrm>
            <a:off x="6413500" y="1955800"/>
            <a:ext cx="5092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5  Leitura mínima conhecida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1717D3-F7B9-459C-B86A-F04A93989D04}"/>
              </a:ext>
            </a:extLst>
          </p:cNvPr>
          <p:cNvSpPr txBox="1"/>
          <p:nvPr/>
        </p:nvSpPr>
        <p:spPr>
          <a:xfrm>
            <a:off x="6413500" y="2768600"/>
            <a:ext cx="5092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6  Timeline e captura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20E7A6-7CDF-44A8-9071-2440941390EA}"/>
              </a:ext>
            </a:extLst>
          </p:cNvPr>
          <p:cNvSpPr txBox="1"/>
          <p:nvPr/>
        </p:nvSpPr>
        <p:spPr>
          <a:xfrm>
            <a:off x="6413500" y="3581400"/>
            <a:ext cx="5092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7  Hipótese e próximo teste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27EA71C-A7A5-4680-9DFA-BE0AB52326B2}"/>
              </a:ext>
            </a:extLst>
          </p:cNvPr>
          <p:cNvSpPr txBox="1"/>
          <p:nvPr/>
        </p:nvSpPr>
        <p:spPr>
          <a:xfrm>
            <a:off x="6413500" y="4394200"/>
            <a:ext cx="5092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8  Repetição e evidência final</a:t>
            </a:r>
          </a:p>
        </p:txBody>
      </p:sp>
    </p:spTree>
    <p:extLst>
      <p:ext uri="{BB962C8B-B14F-4D97-AF65-F5344CB8AC3E}">
        <p14:creationId xmlns:p14="http://schemas.microsoft.com/office/powerpoint/2010/main" val="21279926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EEC46F2-B615-46EE-BA7C-680A6B661F8E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Encerramento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FD186D-F1E6-4588-B34D-A25D9F2A585D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Dúvidas, decisões e próximos passos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108502-6582-443C-9B7B-877331AD40E9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418D54-F650-4B27-9C8D-A80D2451A74D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39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2875EA5-11D1-4DF3-A448-85E29B496C1D}"/>
              </a:ext>
            </a:extLst>
          </p:cNvPr>
          <p:cNvSpPr txBox="1"/>
          <p:nvPr/>
        </p:nvSpPr>
        <p:spPr>
          <a:xfrm>
            <a:off x="685800" y="1955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D6CB87-980D-4C1F-A560-E495B43BADAE}"/>
              </a:ext>
            </a:extLst>
          </p:cNvPr>
          <p:cNvSpPr txBox="1"/>
          <p:nvPr/>
        </p:nvSpPr>
        <p:spPr>
          <a:xfrm>
            <a:off x="1727200" y="19685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Quais dúvidas do primeiro treinamento foram resolvidas?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9BFB35A-40B7-4FEF-BB97-F641E970EFCC}"/>
              </a:ext>
            </a:extLst>
          </p:cNvPr>
          <p:cNvSpPr txBox="1"/>
          <p:nvPr/>
        </p:nvSpPr>
        <p:spPr>
          <a:xfrm>
            <a:off x="685800" y="2946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D30395-9D00-4746-9BB7-601A54DF1861}"/>
              </a:ext>
            </a:extLst>
          </p:cNvPr>
          <p:cNvSpPr txBox="1"/>
          <p:nvPr/>
        </p:nvSpPr>
        <p:spPr>
          <a:xfrm>
            <a:off x="1727200" y="29591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etapa precisa de reforço?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264E2C-F4EB-4728-9957-2C116E39D369}"/>
              </a:ext>
            </a:extLst>
          </p:cNvPr>
          <p:cNvSpPr txBox="1"/>
          <p:nvPr/>
        </p:nvSpPr>
        <p:spPr>
          <a:xfrm>
            <a:off x="685800" y="39370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02E3571-9506-4945-B510-FADD5FE3D18E}"/>
              </a:ext>
            </a:extLst>
          </p:cNvPr>
          <p:cNvSpPr txBox="1"/>
          <p:nvPr/>
        </p:nvSpPr>
        <p:spPr>
          <a:xfrm>
            <a:off x="1727200" y="39497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Que evidência ou acesso falta no caso real?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7630FD8-9C10-424A-81B9-7D38508D2000}"/>
              </a:ext>
            </a:extLst>
          </p:cNvPr>
          <p:cNvSpPr txBox="1"/>
          <p:nvPr/>
        </p:nvSpPr>
        <p:spPr>
          <a:xfrm>
            <a:off x="685800" y="49276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CD93CE7-86FD-4A5D-9395-3EBF843EF615}"/>
              </a:ext>
            </a:extLst>
          </p:cNvPr>
          <p:cNvSpPr txBox="1"/>
          <p:nvPr/>
        </p:nvSpPr>
        <p:spPr>
          <a:xfrm>
            <a:off x="1727200" y="4940300"/>
            <a:ext cx="933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Quem fica responsável pela próxima verificação?</a:t>
            </a:r>
          </a:p>
        </p:txBody>
      </p:sp>
    </p:spTree>
    <p:extLst>
      <p:ext uri="{BB962C8B-B14F-4D97-AF65-F5344CB8AC3E}">
        <p14:creationId xmlns:p14="http://schemas.microsoft.com/office/powerpoint/2010/main" val="2264090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18A82A-14CD-4B07-98C6-0712586F339F}"/>
              </a:ext>
            </a:extLst>
          </p:cNvPr>
          <p:cNvSpPr txBox="1"/>
          <p:nvPr/>
        </p:nvSpPr>
        <p:spPr>
          <a:xfrm>
            <a:off x="685800" y="279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Consulta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84FC2C-9EEC-42C7-B9A4-7FE18D9E0481}"/>
              </a:ext>
            </a:extLst>
          </p:cNvPr>
          <p:cNvSpPr txBox="1"/>
          <p:nvPr/>
        </p:nvSpPr>
        <p:spPr>
          <a:xfrm>
            <a:off x="685800" y="7239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Referências e material de apoio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14EBB8-A24E-436F-AADB-AEE7A01EC3BA}"/>
              </a:ext>
            </a:extLst>
          </p:cNvPr>
          <p:cNvSpPr txBox="1"/>
          <p:nvPr/>
        </p:nvSpPr>
        <p:spPr>
          <a:xfrm>
            <a:off x="685800" y="64516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699FDA-58BB-4D2C-AE96-6D585F5EBD70}"/>
              </a:ext>
            </a:extLst>
          </p:cNvPr>
          <p:cNvSpPr txBox="1"/>
          <p:nvPr/>
        </p:nvSpPr>
        <p:spPr>
          <a:xfrm>
            <a:off x="11061700" y="6426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40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263984-275F-4CAE-8B3B-C682BB571C01}"/>
              </a:ext>
            </a:extLst>
          </p:cNvPr>
          <p:cNvSpPr txBox="1"/>
          <p:nvPr/>
        </p:nvSpPr>
        <p:spPr>
          <a:xfrm>
            <a:off x="685800" y="21082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300">
                <a:solidFill>
                  <a:srgbClr val="18354B"/>
                </a:solidFill>
                <a:latin typeface="Segoe UI" panose="020B0502040204020203" pitchFamily="34" charset="0"/>
              </a:rPr>
              <a:t>Ata e roteiro de 03/10/2026: sequência dos dez momentos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752F92-03FA-4B5F-BF2D-FC2C6BD46B25}"/>
              </a:ext>
            </a:extLst>
          </p:cNvPr>
          <p:cNvSpPr txBox="1"/>
          <p:nvPr/>
        </p:nvSpPr>
        <p:spPr>
          <a:xfrm>
            <a:off x="685800" y="30734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300">
                <a:solidFill>
                  <a:srgbClr val="18354B"/>
                </a:solidFill>
                <a:latin typeface="Segoe UI" panose="020B0502040204020203" pitchFamily="34" charset="0"/>
              </a:rPr>
              <a:t>Manual integrado do software: campos, funções e diagnóstico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0BA35EA-0456-48A2-8169-09A3878F65A1}"/>
              </a:ext>
            </a:extLst>
          </p:cNvPr>
          <p:cNvSpPr txBox="1"/>
          <p:nvPr/>
        </p:nvSpPr>
        <p:spPr>
          <a:xfrm>
            <a:off x="685800" y="4038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300">
                <a:solidFill>
                  <a:srgbClr val="18354B"/>
                </a:solidFill>
                <a:latin typeface="Segoe UI" panose="020B0502040204020203" pitchFamily="34" charset="0"/>
              </a:rPr>
              <a:t>Modbus Application Protocol Specification V1.1b3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B396557-1C4A-4991-94B7-1D0BE0FE30E2}"/>
              </a:ext>
            </a:extLst>
          </p:cNvPr>
          <p:cNvSpPr txBox="1"/>
          <p:nvPr/>
        </p:nvSpPr>
        <p:spPr>
          <a:xfrm>
            <a:off x="685800" y="5003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300">
                <a:solidFill>
                  <a:srgbClr val="18354B"/>
                </a:solidFill>
                <a:latin typeface="Segoe UI" panose="020B0502040204020203" pitchFamily="34" charset="0"/>
              </a:rPr>
              <a:t>Modbus Messaging on TCP/IP Implementation Guide V1.0b</a:t>
            </a:r>
          </a:p>
        </p:txBody>
      </p:sp>
    </p:spTree>
    <p:extLst>
      <p:ext uri="{BB962C8B-B14F-4D97-AF65-F5344CB8AC3E}">
        <p14:creationId xmlns:p14="http://schemas.microsoft.com/office/powerpoint/2010/main" val="36764054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5080</Words>
  <Application>Microsoft Office PowerPoint</Application>
  <PresentationFormat>Personalizar</PresentationFormat>
  <Paragraphs>727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F. Delarmelina - Autvix Group</dc:creator>
  <cp:lastModifiedBy>Felipe F. Delarmelina - Autvix Group</cp:lastModifiedBy>
  <cp:revision>1</cp:revision>
  <dcterms:created xsi:type="dcterms:W3CDTF">2026-10-02T17:02:12Z</dcterms:created>
  <dcterms:modified xsi:type="dcterms:W3CDTF">2026-10-02T17:02:12Z</dcterms:modified>
</cp:coreProperties>
</file>