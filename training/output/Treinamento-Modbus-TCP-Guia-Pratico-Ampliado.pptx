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503B5E-19FA-4AF2-96AA-C8A32932EF82}" type="datetimeFigureOut">
              <a:rPr lang="pt-BR" smtClean="0"/>
              <a:t>02/10/2026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78294-2208-4EC8-B126-4C9959F131DB}" type="slidenum">
              <a:rPr lang="pt-BR" smtClean="0"/>
              <a:t>‹nº›</a:t>
            </a:fld>
            <a:endParaRPr lang="pt-BR"/>
          </a:p>
        </p:txBody>
      </p:sp>
    </p:spTree>
    <p:extLst>
      <p:ext uri="{BB962C8B-B14F-4D97-AF65-F5344CB8AC3E}">
        <p14:creationId xmlns:p14="http://schemas.microsoft.com/office/powerpoint/2010/main" val="3629413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Treinamento prático. Use os prints para apresentar a função de cada tela e depois demonstre no software. Os dados nas telas de resultados são exemplos didáticos, sem captura ou sondagem real da rede.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a:t>
            </a:fld>
            <a:endParaRPr lang="pt-BR"/>
          </a:p>
        </p:txBody>
      </p:sp>
    </p:spTree>
    <p:extLst>
      <p:ext uri="{BB962C8B-B14F-4D97-AF65-F5344CB8AC3E}">
        <p14:creationId xmlns:p14="http://schemas.microsoft.com/office/powerpoint/2010/main" val="435497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Abra a aplicação e mostre essas quatro regiões. Diferencie seleção de visualização de serviço em execução. Cliente e servidor podem operar simultaneamente. Selecionar um item lateral não define sozinho o escopo do teste. A imagem contém cadastros demonstrativos, sem conexão iniciada.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a:t>
            </a:fld>
            <a:endParaRPr lang="pt-BR"/>
          </a:p>
        </p:txBody>
      </p:sp>
    </p:spTree>
    <p:extLst>
      <p:ext uri="{BB962C8B-B14F-4D97-AF65-F5344CB8AC3E}">
        <p14:creationId xmlns:p14="http://schemas.microsoft.com/office/powerpoint/2010/main" val="3098040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a diferença entre estação cliente e servidor-alvo. Uma estação pode manter várias sessões independentes. Excluir Alvo 1 permite trabalhar apenas como servidor ou partir de descoberta sem alvo pré-cadastrado. Se houver alvo ativo, pare sua comunicação antes de alterar o endpoint. Salvar .ffd preserva essa estrutura.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a:t>
            </a:fld>
            <a:endParaRPr lang="pt-BR"/>
          </a:p>
        </p:txBody>
      </p:sp>
    </p:spTree>
    <p:extLst>
      <p:ext uri="{BB962C8B-B14F-4D97-AF65-F5344CB8AC3E}">
        <p14:creationId xmlns:p14="http://schemas.microsoft.com/office/powerpoint/2010/main" val="993517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Caminho: Conexões, Cliente/Mestre, configurar servidor-alvo selecionado. IP não identifica a porta automaticamente. Porta aceita 1 a 65535. Unit ID aceita 0 a 255, mas o equipamento pode restringir o uso. 0.0.0.0 não é destino apropriado. Para a bancada, use 127.0.0.1:1502 e UID 1. Configuração válida no formulário ainda exige leitura válida para comprovar comunicação.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a:t>
            </a:fld>
            <a:endParaRPr lang="pt-BR"/>
          </a:p>
        </p:txBody>
      </p:sp>
    </p:spTree>
    <p:extLst>
      <p:ext uri="{BB962C8B-B14F-4D97-AF65-F5344CB8AC3E}">
        <p14:creationId xmlns:p14="http://schemas.microsoft.com/office/powerpoint/2010/main" val="4250676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intervalo mínimo do diálogo é 100 ms. A pausa soma-se ao tempo das transações. Padrão 1000 ms e conexão persistente marcada. Compare os handshakes na captura se necessário. Desconectar para a sessão e fecha seu socket. Não interpretar a diferença entre dois blocos do mesmo ciclo como o período de polling do mesmo bloco.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a:t>
            </a:fld>
            <a:endParaRPr lang="pt-BR"/>
          </a:p>
        </p:txBody>
      </p:sp>
    </p:spTree>
    <p:extLst>
      <p:ext uri="{BB962C8B-B14F-4D97-AF65-F5344CB8AC3E}">
        <p14:creationId xmlns:p14="http://schemas.microsoft.com/office/powerpoint/2010/main" val="3601370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Para ensaio isolado, configure 127.0.0.1:1502. 0.0.0.0 permite acesso por outras interfaces e exige avaliar exposição e firewall. Configurar não inicia o servidor automaticamente. Conflito de porta ou IP não pertencente ao notebook pode impedir a escuta. O mapa aplicado define os pontos que o simulador responderá. Não duplicar IP de PLC ativo em produção.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a:t>
            </a:fld>
            <a:endParaRPr lang="pt-BR"/>
          </a:p>
        </p:txBody>
      </p:sp>
    </p:spTree>
    <p:extLst>
      <p:ext uri="{BB962C8B-B14F-4D97-AF65-F5344CB8AC3E}">
        <p14:creationId xmlns:p14="http://schemas.microsoft.com/office/powerpoint/2010/main" val="2835946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Selecione um alvo no painel lateral e abra Dispositivo, Configuração do dispositivo. Intervalo e conexão persistente aparecem para o cliente. O servidor possui dados de escuta. A configuração pode ficar bloqueada durante operação ou teste. Alterar IP, porta ou ID invalida as amostras anteriores, mas preserva os blocos. Aplicar não inicia comunicação. Demonstre renomear e descartar sem iniciar serviço.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a:t>
            </a:fld>
            <a:endParaRPr lang="pt-BR"/>
          </a:p>
        </p:txBody>
      </p:sp>
    </p:spTree>
    <p:extLst>
      <p:ext uri="{BB962C8B-B14F-4D97-AF65-F5344CB8AC3E}">
        <p14:creationId xmlns:p14="http://schemas.microsoft.com/office/powerpoint/2010/main" val="3986273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Cada linha habilitada gera uma requisição por ciclo. FC01 lê COIL, FC02 DI, FC03 HR e FC04 IR. Endereço de 0 a 65535. Quantidade positiva, até 125 registros ou 2000 bits no protocolo básico, podendo existir limite menor no equipamento. Exemplo início 1000 e quantidade 10 lê 1000 até 1009. Confirme a edição da célula. Nome não é tag enviada ao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a:t>
            </a:fld>
            <a:endParaRPr lang="pt-BR"/>
          </a:p>
        </p:txBody>
      </p:sp>
    </p:spTree>
    <p:extLst>
      <p:ext uri="{BB962C8B-B14F-4D97-AF65-F5344CB8AC3E}">
        <p14:creationId xmlns:p14="http://schemas.microsoft.com/office/powerpoint/2010/main" val="2885714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que os blocos da imagem estão Não lido porque não houve requisição. Valor antigo não comprova leitura atual. O bloco 2 está desabilitado. Não deve aparecer como região ativa do cliente. Explique que 40001 só corresponde a offset 0 quando o fabricante usa a convenção clássica. Valor bruto de 16 bits ainda exige escala, unidade, tipo e ordem de palavras para representar engenharia.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9</a:t>
            </a:fld>
            <a:endParaRPr lang="pt-BR"/>
          </a:p>
        </p:txBody>
      </p:sp>
    </p:spTree>
    <p:extLst>
      <p:ext uri="{BB962C8B-B14F-4D97-AF65-F5344CB8AC3E}">
        <p14:creationId xmlns:p14="http://schemas.microsoft.com/office/powerpoint/2010/main" val="2985904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navegar por HR e IR e comparar com os blocos habilitados. Regiões sobrepostas podem mostrar um endereço em mais de uma linha. Qualidade Não lido não é zero válido. R/W não representa autorização operacional. Escrita em COIL/HR usa funções próprias e modifica o destino. Durante o treinamento, somente bancada autorizada. O teste completo não usa esse popup.</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10</a:t>
            </a:fld>
            <a:endParaRPr lang="pt-BR"/>
          </a:p>
        </p:txBody>
      </p:sp>
    </p:spTree>
    <p:extLst>
      <p:ext uri="{BB962C8B-B14F-4D97-AF65-F5344CB8AC3E}">
        <p14:creationId xmlns:p14="http://schemas.microsoft.com/office/powerpoint/2010/main" val="1826649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o mesmo HR nas duas visões. A página limita a quantidade renderizada para preservar desempenho. Um hífen em ponto não lido evita apresentar um zero artificial. A forma visual não altera FC, quantidade, dados ou direitos de escrita. O mapa deve refletir os blocos atualmente habilitados.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11</a:t>
            </a:fld>
            <a:endParaRPr lang="pt-BR"/>
          </a:p>
        </p:txBody>
      </p:sp>
    </p:spTree>
    <p:extLst>
      <p:ext uri="{BB962C8B-B14F-4D97-AF65-F5344CB8AC3E}">
        <p14:creationId xmlns:p14="http://schemas.microsoft.com/office/powerpoint/2010/main" val="3097847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Configure HR início 0, Qtd 3, inicial 1000. Inc desligado produz 1000,1000,1000. Ligado produz 1000,1001,1002. Para bits, use 0/1. DI/IR continuam áreas de leitura para Modbus remoto. Soma de início e quantidade deve ser no máximo 65536. Faixas sobrepostas do mesmo tipo podem substituir pontos anteriores. O prefixo é local, não parte do protocolo.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12</a:t>
            </a:fld>
            <a:endParaRPr lang="pt-BR"/>
          </a:p>
        </p:txBody>
      </p:sp>
    </p:spTree>
    <p:extLst>
      <p:ext uri="{BB962C8B-B14F-4D97-AF65-F5344CB8AC3E}">
        <p14:creationId xmlns:p14="http://schemas.microsoft.com/office/powerpoint/2010/main" val="3568365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Aplicar mapa pode substituir valores editados em memória pelos iniciais das faixas. Edição local de DI/IR é simulação, diferente de escrita Modbus remota. Se uma leitura atravessar uma região ausente, o servidor pode responder exceção 02. Demonstre observar valores sem realizar escrita em dispositivo de produção.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13</a:t>
            </a:fld>
            <a:endParaRPr lang="pt-BR"/>
          </a:p>
        </p:txBody>
      </p:sp>
    </p:spTree>
    <p:extLst>
      <p:ext uri="{BB962C8B-B14F-4D97-AF65-F5344CB8AC3E}">
        <p14:creationId xmlns:p14="http://schemas.microsoft.com/office/powerpoint/2010/main" val="1302301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Este popup é uma ação operacional, não diagnóstico automático. O exemplo permite o intervalo 0 a 1. Só demonstrar em bancada. Escrita de range pode executar sequencialmente e terminar parcialmente após uma falha. Em timeout, o destino pode ter aplicado o valor antes de a resposta se perder. Conferir o estado antes de repetir. COIL aceita estado lógico; HR aceita palavra de 16 bits. Uma marca R/W não autoriza comando de processo.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14</a:t>
            </a:fld>
            <a:endParaRPr lang="pt-BR"/>
          </a:p>
        </p:txBody>
      </p:sp>
    </p:spTree>
    <p:extLst>
      <p:ext uri="{BB962C8B-B14F-4D97-AF65-F5344CB8AC3E}">
        <p14:creationId xmlns:p14="http://schemas.microsoft.com/office/powerpoint/2010/main" val="464321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imagem inicial não tem eventos porque não iniciamos comunicação. Na aula, faça leitura única em bancada e procure request e response. A seleção de mensagem abre o detalhamento, inclusive Hex quando disponível. Esta timeline registra eventos da aplicação, não todos os quadros Ethernet. Uma resposta de exceção confirma protocolo naquela tentativa, mas recusa a operação. Exemplo FC03 offset 9 Qtd2 quando mapa só tem 0 a 9.</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15</a:t>
            </a:fld>
            <a:endParaRPr lang="pt-BR"/>
          </a:p>
        </p:txBody>
      </p:sp>
    </p:spTree>
    <p:extLst>
      <p:ext uri="{BB962C8B-B14F-4D97-AF65-F5344CB8AC3E}">
        <p14:creationId xmlns:p14="http://schemas.microsoft.com/office/powerpoint/2010/main" val="2436486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Esses campos alteram a visualização, não a captura. Combine alvo, UID e FC para localizar o bloco. Sem resultados, primeiro limpe filtros antes de concluir ausência de comunicação. Compare contagem de mensagens visíveis com total retido. Erro inclui exceção do servidor e falha de transporte, que têm significados diferentes. Demonstre localizar o request recusado do exercício final.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16</a:t>
            </a:fld>
            <a:endParaRPr lang="pt-BR"/>
          </a:p>
        </p:txBody>
      </p:sp>
    </p:spTree>
    <p:extLst>
      <p:ext uri="{BB962C8B-B14F-4D97-AF65-F5344CB8AC3E}">
        <p14:creationId xmlns:p14="http://schemas.microsoft.com/office/powerpoint/2010/main" val="2045982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Escolha a interface adequada, não apenas a primeira da lista. O campo pode conter adaptadores virtuais. Filtrar porta 502 exclui um servidor na 1501. Somente origem pode excluir a resposta. Filtro TCP/IP/porta pode excluir ARP, ICMP, LLDP e CDP. Uma NIC sem espelhamento pode não ver comunicação entre outros dois hosts. Não iniciar captura em rede real durante produção da apresentação.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17</a:t>
            </a:fld>
            <a:endParaRPr lang="pt-BR"/>
          </a:p>
        </p:txBody>
      </p:sp>
    </p:spTree>
    <p:extLst>
      <p:ext uri="{BB962C8B-B14F-4D97-AF65-F5344CB8AC3E}">
        <p14:creationId xmlns:p14="http://schemas.microsoft.com/office/powerpoint/2010/main" val="1906790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Atualizar interfaces recarrega os dispositivos expostos pelo driver. A prévia BPF mostra a combinação dos campos. Diferencie restrição de coleta e filtragem da lista. Mostre número, tempo relativo, origem/destino, protocolo, tamanho, fase e informação. Captura vazia exige verificar interface, tráfego, filtro e Npcap antes de concluir falha Modbus.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18</a:t>
            </a:fld>
            <a:endParaRPr lang="pt-BR"/>
          </a:p>
        </p:txBody>
      </p:sp>
    </p:spTree>
    <p:extLst>
      <p:ext uri="{BB962C8B-B14F-4D97-AF65-F5344CB8AC3E}">
        <p14:creationId xmlns:p14="http://schemas.microsoft.com/office/powerpoint/2010/main" val="2847258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Dados só fica disponível após parar a captura. O print usa 300 quadros demonstrativos distribuídos por cerca de 15 s, 90 bytes cada. Não corresponde à rede do usuário. O período Último 1 min inclui parte sem pacotes no gráfico, mas o resumo informa a duração entre o primeiro e o último quadro da amostra. Até 2000 pacotes retidos. Taxa de bytes não é utilização percentual do link nem prova de saturação. Conferir latência, descartes e contadores de NIC/switch.</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19</a:t>
            </a:fld>
            <a:endParaRPr lang="pt-BR"/>
          </a:p>
        </p:txBody>
      </p:sp>
    </p:spTree>
    <p:extLst>
      <p:ext uri="{BB962C8B-B14F-4D97-AF65-F5344CB8AC3E}">
        <p14:creationId xmlns:p14="http://schemas.microsoft.com/office/powerpoint/2010/main" val="180973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amostra demonstrativa tem estatísticas de driver indisponíveis, fila zero e zero descartes da fila, sem representar saúde real da rede. Até 2000 quadros retidos. Fila zero não comprova ausência de perdas no driver ou switch. Byte/s soma tamanhos dos quadros observados e não mede banda útil nem utilização percentual do link. Conferir velocidade negociada, erros, descartes e latência para avaliar sobrecarga.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20</a:t>
            </a:fld>
            <a:endParaRPr lang="pt-BR"/>
          </a:p>
        </p:txBody>
      </p:sp>
    </p:spTree>
    <p:extLst>
      <p:ext uri="{BB962C8B-B14F-4D97-AF65-F5344CB8AC3E}">
        <p14:creationId xmlns:p14="http://schemas.microsoft.com/office/powerpoint/2010/main" val="20693012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com dados demonstrativos. Um pacote A para B conta na participação de A e de B, então somar a coluna de percentuais pode exceder 100%. Na amostra de somente dois hosts, ambos participam de 100% dos quadros. Mais tráfego não implica sobrecarga. Compare função do host, comportamento esperado e impacto operacional.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21</a:t>
            </a:fld>
            <a:endParaRPr lang="pt-BR"/>
          </a:p>
        </p:txBody>
      </p:sp>
    </p:spTree>
    <p:extLst>
      <p:ext uri="{BB962C8B-B14F-4D97-AF65-F5344CB8AC3E}">
        <p14:creationId xmlns:p14="http://schemas.microsoft.com/office/powerpoint/2010/main" val="3000427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agrupamento soma os quadros de ida e volta. Retransmissões também contam como quadros. Identifique a conversa do alvo Modbus e compare com tráfego de outros serviços. O conteúdo Modbus depende de reconhecimento estrutural, não apenas do rótulo de protocolo atribuído ao exemplo. Não interpretar a captura sintética como confirmação de nenhum servidor real.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22</a:t>
            </a:fld>
            <a:endParaRPr lang="pt-BR"/>
          </a:p>
        </p:txBody>
      </p:sp>
    </p:spTree>
    <p:extLst>
      <p:ext uri="{BB962C8B-B14F-4D97-AF65-F5344CB8AC3E}">
        <p14:creationId xmlns:p14="http://schemas.microsoft.com/office/powerpoint/2010/main" val="4294275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tela está sem dados neste print. A aula deve gerar uma falha de porta controlada e verificar o evento. Desconectar e restaurar a porta correta. O histórico global de avisos não deve ser confundido com a consolidação do Teste completo, que usa o escopo e período da execução. Número elevado de ocorrências exige conferir causa comum e assinatura, não contar cada linha como uma falha independente.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23</a:t>
            </a:fld>
            <a:endParaRPr lang="pt-BR"/>
          </a:p>
        </p:txBody>
      </p:sp>
    </p:spTree>
    <p:extLst>
      <p:ext uri="{BB962C8B-B14F-4D97-AF65-F5344CB8AC3E}">
        <p14:creationId xmlns:p14="http://schemas.microsoft.com/office/powerpoint/2010/main" val="37880826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Este é o centro da parte prática do treinamento. Mostre as seis subabas, todas dentro do Teste completo. A seleção lateral não restringe o teste. IP e porta dos serviços vêm do cadastro do dispositivo, não de um endpoint solto no teste. Procedimentos controlam como testar. A imagem é a interface atual com cadastros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24</a:t>
            </a:fld>
            <a:endParaRPr lang="pt-BR"/>
          </a:p>
        </p:txBody>
      </p:sp>
    </p:spTree>
    <p:extLst>
      <p:ext uri="{BB962C8B-B14F-4D97-AF65-F5344CB8AC3E}">
        <p14:creationId xmlns:p14="http://schemas.microsoft.com/office/powerpoint/2010/main" val="16000926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Os botões Revisar e executar/Cancelar e a barra de progresso ficam acima das subabas na janela geral. O print de execução destaca a área interna. Serviços previamente ativos podem continuar, incluindo polling. Cancelado não deve ser interpretado como falha de comunicação. Configure os procedimentos e revise o plano antes de executar. O teste completo não realiza escrita automática.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25</a:t>
            </a:fld>
            <a:endParaRPr lang="pt-BR"/>
          </a:p>
        </p:txBody>
      </p:sp>
    </p:spTree>
    <p:extLst>
      <p:ext uri="{BB962C8B-B14F-4D97-AF65-F5344CB8AC3E}">
        <p14:creationId xmlns:p14="http://schemas.microsoft.com/office/powerpoint/2010/main" val="1000736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conteúdo da revisão vem da configuração atual, antes de executar. Conferir autorização, IPs, portas, interface, filtros e quantidade de requests. A duração pode aumentar com timeouts, rotas, novos servidores e fallback. Uma operação já ativa pode continuar durante a referência. O print contém cadastros demonstrativos. Nenhum teste foi executado para produzi-lo.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26</a:t>
            </a:fld>
            <a:endParaRPr lang="pt-BR"/>
          </a:p>
        </p:txBody>
      </p:sp>
    </p:spTree>
    <p:extLst>
      <p:ext uri="{BB962C8B-B14F-4D97-AF65-F5344CB8AC3E}">
        <p14:creationId xmlns:p14="http://schemas.microsoft.com/office/powerpoint/2010/main" val="12916420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seleção é independente do item lateral. Campos de cadastro são somente leitura nesta janela. Alterar IP, porta ou mapa na aba Dispositivo. Um alvo parado pode participar e ser iniciado pelo teste. Um alvo em leitura pode continuar acrescentando tráfego durante a referência. Exemplo: incluir apenas o PLC da bancada e deixar o PLC demonstrativo desmarcado.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27</a:t>
            </a:fld>
            <a:endParaRPr lang="pt-BR"/>
          </a:p>
        </p:txBody>
      </p:sp>
    </p:spTree>
    <p:extLst>
      <p:ext uri="{BB962C8B-B14F-4D97-AF65-F5344CB8AC3E}">
        <p14:creationId xmlns:p14="http://schemas.microsoft.com/office/powerpoint/2010/main" val="4092286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OK apenas grava a seleção, não conecta imediatamente. Sem alvo selecionado, Cliente/Mestre pode descobrir servidores no escopo autorizado e validar os confirmados conforme o mapa disponível. Não presumir que todo host de ARP será sondado fora do escopo. No papel Servidor/Escravo, o serviço local observa clientes que o procuram, não usa essa lista como destino de leituras. Demonstrar revisão antes de executar.</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28</a:t>
            </a:fld>
            <a:endParaRPr lang="pt-BR"/>
          </a:p>
        </p:txBody>
      </p:sp>
    </p:spTree>
    <p:extLst>
      <p:ext uri="{BB962C8B-B14F-4D97-AF65-F5344CB8AC3E}">
        <p14:creationId xmlns:p14="http://schemas.microsoft.com/office/powerpoint/2010/main" val="11580883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referência não representa rede silenciosa. O teste adia suas novas leituras e sondagens, mas não suspende comunicação já existente. A interface e BPF limitam a amostra. Aumentar para 30 a 60 s pode representar melhor tráfego variável, conforme autorização e duração aceitável. Comparar taxas normalizadas por segundo, não só totais de pacotes.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29</a:t>
            </a:fld>
            <a:endParaRPr lang="pt-BR"/>
          </a:p>
        </p:txBody>
      </p:sp>
    </p:spTree>
    <p:extLst>
      <p:ext uri="{BB962C8B-B14F-4D97-AF65-F5344CB8AC3E}">
        <p14:creationId xmlns:p14="http://schemas.microsoft.com/office/powerpoint/2010/main" val="19779204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monitoramento final ocorre após sondagens, sem nova varredura de hosts nessa janela. Procura RST, zero-window, segmentos repetidos e picos. 5000 pkt/s é limiar operacional configurável, não capacidade universal de PLC nem saturação física. Tempo maior favorece observar intermitências, mas uma ausência de sinais só vale para o período e tráfego visíveis.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30</a:t>
            </a:fld>
            <a:endParaRPr lang="pt-BR"/>
          </a:p>
        </p:txBody>
      </p:sp>
    </p:spTree>
    <p:extLst>
      <p:ext uri="{BB962C8B-B14F-4D97-AF65-F5344CB8AC3E}">
        <p14:creationId xmlns:p14="http://schemas.microsoft.com/office/powerpoint/2010/main" val="28200018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quantidade multiplica-se pelo número de blocos e alvos incluídos. Separar planejadas, tentadas e válidas quando houver cancelamento. 15/15 não prova estabilidade permanente. Menos de 20 respostas não caracteriza a cauda de latência. Descrever timeout, exceção e falha TCP separadamente. Essas são leituras adicionais ao polling existente, sem escrita.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31</a:t>
            </a:fld>
            <a:endParaRPr lang="pt-BR"/>
          </a:p>
        </p:txBody>
      </p:sp>
    </p:spTree>
    <p:extLst>
      <p:ext uri="{BB962C8B-B14F-4D97-AF65-F5344CB8AC3E}">
        <p14:creationId xmlns:p14="http://schemas.microsoft.com/office/powerpoint/2010/main" val="39427302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Para 15 tentativas há aproximadamente 14 pausas entre elas. A duração real soma o tempo das leituras de todos os blocos. Não confundir essa configuração com o intervalo de polling do cadastro do alvo. O socket pode ser compartilhado com polling ativo e a espera participa da latência medida. O exemplo do relatório leva 14,1 s para 15 leituras rápidas.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32</a:t>
            </a:fld>
            <a:endParaRPr lang="pt-BR"/>
          </a:p>
        </p:txBody>
      </p:sp>
    </p:spTree>
    <p:extLst>
      <p:ext uri="{BB962C8B-B14F-4D97-AF65-F5344CB8AC3E}">
        <p14:creationId xmlns:p14="http://schemas.microsoft.com/office/powerpoint/2010/main" val="21970632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autorização refere-se à sondagem, mesmo que somente leitura. Ela pode aumentar carga e gerar registros no equipamento. O campo CIDR manual é usado quando a identificação automática da sub-rede estiver desmarcada. Conferir VLAN, máscara e interface na revisão antes de executar. Não presumir alcance de outra sub-rede nem testar rede de produção sem autorização.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33</a:t>
            </a:fld>
            <a:endParaRPr lang="pt-BR"/>
          </a:p>
        </p:txBody>
      </p:sp>
    </p:spTree>
    <p:extLst>
      <p:ext uri="{BB962C8B-B14F-4D97-AF65-F5344CB8AC3E}">
        <p14:creationId xmlns:p14="http://schemas.microsoft.com/office/powerpoint/2010/main" val="5072310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Distinguir ausência de resposta de rejeição imediata. Timeout não prova host desligado. Pode haver firewall, ACL, serviço lento ou caminho indisponível. Escolher valor com base no caminho e equipamento, iniciando de forma conservadora e autorizada. No relatório exemplo a sondagem usa 250 ms, o que deve ser considerado ao interpretar 172.27.20.34:502 não confirmado.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34</a:t>
            </a:fld>
            <a:endParaRPr lang="pt-BR"/>
          </a:p>
        </p:txBody>
      </p:sp>
    </p:spTree>
    <p:extLst>
      <p:ext uri="{BB962C8B-B14F-4D97-AF65-F5344CB8AC3E}">
        <p14:creationId xmlns:p14="http://schemas.microsoft.com/office/powerpoint/2010/main" val="41615708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Os dois limites atuam em conjunto. Não interpretar concorrência 2 como 2 sondagens/s. A duração depende de candidatos, portas, timeouts e confirmações. No relatório a varredura leva 210,2 s usando 5/s e concorrência 2. Evitar aumentar limites apenas para tornar a aula mais rápida em rede industrial real.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35</a:t>
            </a:fld>
            <a:endParaRPr lang="pt-BR"/>
          </a:p>
        </p:txBody>
      </p:sp>
    </p:spTree>
    <p:extLst>
      <p:ext uri="{BB962C8B-B14F-4D97-AF65-F5344CB8AC3E}">
        <p14:creationId xmlns:p14="http://schemas.microsoft.com/office/powerpoint/2010/main" val="911767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Automático: identifica a sub-rede da interface selecionada.
Portas: lista TCP separada por vírgulas, com até 16 entradas.
502,1501,1502: testa somente esses serviços candidatos.
Portas não listadas ficam fora da descoberta ativa.
As portas precisam estar entre 1 e 65535. A aplicação verifica somente as portas listadas. A confirmação Modbus exige resposta coerente, não apenas o handshake TCP. Demonstrar a diferença entre 502 e uma porta alternativa como 1501.</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36</a:t>
            </a:fld>
            <a:endParaRPr lang="pt-BR"/>
          </a:p>
        </p:txBody>
      </p:sp>
    </p:spTree>
    <p:extLst>
      <p:ext uri="{BB962C8B-B14F-4D97-AF65-F5344CB8AC3E}">
        <p14:creationId xmlns:p14="http://schemas.microsoft.com/office/powerpoint/2010/main" val="40557215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Rastrear rotas: consulta o percurso com TTL crescente.
Cliente: usa os alvos. Servidor: pares Modbus observados.
Um switch L2 não aparece como salto de roteador.
ICMP sem resposta pode coexistir com Modbus funcional.
A consulta usa uma requisição por TTL e não consulta DNS. Switches de camada 2 não reduzem TTL. Os anúncios LLDP/CDP observados não comprovam que o equipamento anunciado participa do caminho até cada servidor. A aplicação não consulta SNMP.</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37</a:t>
            </a:fld>
            <a:endParaRPr lang="pt-BR"/>
          </a:p>
        </p:txBody>
      </p:sp>
    </p:spTree>
    <p:extLst>
      <p:ext uri="{BB962C8B-B14F-4D97-AF65-F5344CB8AC3E}">
        <p14:creationId xmlns:p14="http://schemas.microsoft.com/office/powerpoint/2010/main" val="17841120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Máximo de saltos: TTL limite, de 1 a 30.
Timeout por salto: espera ICMP, de 200 a 3000 ms.
Máximo de alvos: de 1 a 32 destinos rastreados.
Limites baixos reduzem duração e podem deixar caminhos parciais.
Limite superior aproximado de espera: quantidade de alvos vezes saltos vezes timeout. Com 8 alvos, 10 saltos e 200 ms, pode chegar a cerca de 16 s se todos ficarem silenciosos. O rastreamento termina antes quando o destino responde. Destinos omitidos reduzem a cobertura.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38</a:t>
            </a:fld>
            <a:endParaRPr lang="pt-BR"/>
          </a:p>
        </p:txBody>
      </p:sp>
    </p:spTree>
    <p:extLst>
      <p:ext uri="{BB962C8B-B14F-4D97-AF65-F5344CB8AC3E}">
        <p14:creationId xmlns:p14="http://schemas.microsoft.com/office/powerpoint/2010/main" val="8255090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Habilitar: inclui a etapa opcional no Teste completo.
Cliente: sonda servidores com funções de leitura.
Servidor: observa ranges solicitados pelos clientes.
OK grava opções. A revisão confirma a execução.
A descoberta usa FC01 a FC04, sem escrita automática. No papel servidor, os ranges observados correspondem às solicitações dos clientes, sem revelar necessariamente todo o mapa do PLC original. No cliente, a cobertura depende dos limites, funções e IDs escolhidos.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39</a:t>
            </a:fld>
            <a:endParaRPr lang="pt-BR"/>
          </a:p>
        </p:txBody>
      </p:sp>
    </p:spTree>
    <p:extLst>
      <p:ext uri="{BB962C8B-B14F-4D97-AF65-F5344CB8AC3E}">
        <p14:creationId xmlns:p14="http://schemas.microsoft.com/office/powerpoint/2010/main" val="10654363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Endereço máximo: limite inclusivo, de 0 a 65535.
Bloco: pontos por leitura, de 1 a 120.
Máximo 100, bloco 10: 11 leituras iniciais por UID/FC.
A última leitura cobre só o restante até o limite.
Máximo 100 e bloco 10 produz os ranges 0 a 9, 10 a 19, até 90 a 99 e depois somente o endereço 100. A quantidade inicial por combinação é teto((máximo + 1) / bloco). Máximo 120 produz 13 leituras. Uma leitura atravessando lacuna pode falhar mesmo que parte dos pontos exista.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40</a:t>
            </a:fld>
            <a:endParaRPr lang="pt-BR"/>
          </a:p>
        </p:txBody>
      </p:sp>
    </p:spTree>
    <p:extLst>
      <p:ext uri="{BB962C8B-B14F-4D97-AF65-F5344CB8AC3E}">
        <p14:creationId xmlns:p14="http://schemas.microsoft.com/office/powerpoint/2010/main" val="9400449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Varrer IDs: testa a faixa de IDs em vez do UID cadastrado.
ID inicial e final: limites inclusivos, de 0 a 255.
Inicial deve ser menor ou igual ao final.
Mais IDs multiplicam requests e timeouts.
Um gateway pode usar Unit ID para selecionar um escravo serial. Se o ID já for conhecido, restringir a varredura reduz carga. A faixa 1 a 10 representa dez IDs testados e não dez dispositivos físicos confirmados. Neste relatório, somente UID 1 participou da descoberta de mapa.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41</a:t>
            </a:fld>
            <a:endParaRPr lang="pt-BR"/>
          </a:p>
        </p:txBody>
      </p:sp>
    </p:spTree>
    <p:extLst>
      <p:ext uri="{BB962C8B-B14F-4D97-AF65-F5344CB8AC3E}">
        <p14:creationId xmlns:p14="http://schemas.microsoft.com/office/powerpoint/2010/main" val="15757162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FC01: Coils. FC02: Discrete Inputs.
FC03: Holding Registers. FC04: Input Registers.
Ao menos uma função deve ficar selecionada.
Cada função descreve uma área independente.
FC01 e FC02 retornam bits. FC03 e FC04 retornam palavras de 16 bits. Endereço 0 de HR é independente do endereço 0 de IR. Selecionar quatro funções multiplica as combinações. Exceção 01 pode indicar função não suportada e 02 pode indicar range inválido. Valores zero podem ser dados válidos.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42</a:t>
            </a:fld>
            <a:endParaRPr lang="pt-BR"/>
          </a:p>
        </p:txBody>
      </p:sp>
    </p:spTree>
    <p:extLst>
      <p:ext uri="{BB962C8B-B14F-4D97-AF65-F5344CB8AC3E}">
        <p14:creationId xmlns:p14="http://schemas.microsoft.com/office/powerpoint/2010/main" val="29012978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Fallback: repete pontos individuais após falha do bloco.
Ajuda a localizar regiões menores e lacunas.
Aumenta requests e duração em áreas inválidas.
O mapa mostra leitura aceita, sem nomes ou escalas de engenharia.
Exemplo: a leitura 10 a 19 falha porque somente 10 a 14 existe. O fallback individual pode revelar os pontos aceitos. Esse recurso aumenta carga e duração, especialmente quando a maior parte da faixa não existe. Neste PDF, 208 requisições iniciais antes do fallback resultaram em 1016 requests totais. A descoberta não identifica nomes, escalas ou comandos seguros.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43</a:t>
            </a:fld>
            <a:endParaRPr lang="pt-BR"/>
          </a:p>
        </p:txBody>
      </p:sp>
    </p:spTree>
    <p:extLst>
      <p:ext uri="{BB962C8B-B14F-4D97-AF65-F5344CB8AC3E}">
        <p14:creationId xmlns:p14="http://schemas.microsoft.com/office/powerpoint/2010/main" val="3171199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com estados e texto didáticos. Nunca apresentá-lo como ensaio real. No software, clique uma etapa de leitura e confira tentativas, respostas e falhas. Clique referência passiva e compare cobertura. A ordem e a quantidade de etapas não são universais, pois alvos geram validações específicas. Resultado e recomendação devem orientar uma próxima ação verificável.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44</a:t>
            </a:fld>
            <a:endParaRPr lang="pt-BR"/>
          </a:p>
        </p:txBody>
      </p:sp>
    </p:spTree>
    <p:extLst>
      <p:ext uri="{BB962C8B-B14F-4D97-AF65-F5344CB8AC3E}">
        <p14:creationId xmlns:p14="http://schemas.microsoft.com/office/powerpoint/2010/main" val="15802727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Verde OK, amarelo atenção, vermelho falha, azul execução e cinza pendência. Inconclusivo tem cor de atenção mas exige interpretação de cobertura, sem equivaler a falha do processo. OK não certifica estabilidade futura. O estado global considera os resultados do plano. Dados da imagem são didáticos e não têm finalidade de validar o software ou a rede.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45</a:t>
            </a:fld>
            <a:endParaRPr lang="pt-BR"/>
          </a:p>
        </p:txBody>
      </p:sp>
    </p:spTree>
    <p:extLst>
      <p:ext uri="{BB962C8B-B14F-4D97-AF65-F5344CB8AC3E}">
        <p14:creationId xmlns:p14="http://schemas.microsoft.com/office/powerpoint/2010/main" val="5190468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Comece a interpretação por esta aba antes de ler todas as etapas. Um alerta de p95 próximo ao scan exige revisar ciclo e quantidade de blocos. Uma captura sem driver disponível limita a análise TCP e não prova que o Modbus falhou. Compare janelas inicial/final, amostras e alterações. Os estados do print são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46</a:t>
            </a:fld>
            <a:endParaRPr lang="pt-BR"/>
          </a:p>
        </p:txBody>
      </p:sp>
    </p:spTree>
    <p:extLst>
      <p:ext uri="{BB962C8B-B14F-4D97-AF65-F5344CB8AC3E}">
        <p14:creationId xmlns:p14="http://schemas.microsoft.com/office/powerpoint/2010/main" val="26160574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Ordenação de IPv4 é numérica. ARP informa associação IP/MAC, não identifica um PLC nem comprova atividade atual. IP local e loopback podem representar o mesmo computador. Um host atrás de roteador pode não ter MAC próprio na tabela ARP local. Cliente observado pode não ter um listener para responder sondagem. O print tem dois hosts demonstrativos.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47</a:t>
            </a:fld>
            <a:endParaRPr lang="pt-BR"/>
          </a:p>
        </p:txBody>
      </p:sp>
    </p:spTree>
    <p:extLst>
      <p:ext uri="{BB962C8B-B14F-4D97-AF65-F5344CB8AC3E}">
        <p14:creationId xmlns:p14="http://schemas.microsoft.com/office/powerpoint/2010/main" val="16311700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porta precisa estar no escopo ou ser explicitamente verificada. Para adicionar um descoberto, conferir endpoint e UID. Mapa observado não comprova todo o mapa remoto. Sem mapa, o fluxo oferece encontrar mapa quando pertinente. Tráfego de Internet ou ARP não autoriza sondagem fora do escopo. Adicionar alvo cria cadastro e não prova conexão persistente.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48</a:t>
            </a:fld>
            <a:endParaRPr lang="pt-BR"/>
          </a:p>
        </p:txBody>
      </p:sp>
    </p:spTree>
    <p:extLst>
      <p:ext uri="{BB962C8B-B14F-4D97-AF65-F5344CB8AC3E}">
        <p14:creationId xmlns:p14="http://schemas.microsoft.com/office/powerpoint/2010/main" val="28673706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Dados do diagrama são demonstrativos. Nunca inferir que há um switch específico sem anúncio ou consulta que sustente a identidade. TTL não mostra switches L2. O diagrama filtra a relevância Modbus e pode agrupar outros hosts. Leia cobertura acima do diagrama. Caminho físico e saúde do switch exigem inventário e verificações autorizadas adicionais.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49</a:t>
            </a:fld>
            <a:endParaRPr lang="pt-BR"/>
          </a:p>
        </p:txBody>
      </p:sp>
    </p:spTree>
    <p:extLst>
      <p:ext uri="{BB962C8B-B14F-4D97-AF65-F5344CB8AC3E}">
        <p14:creationId xmlns:p14="http://schemas.microsoft.com/office/powerpoint/2010/main" val="9296345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tabela explicita a base do diagrama. No print, 300 é uma contagem demonstrativa. Não equivale a 300 leituras aceitas, pois quadros e operações são métricas diferentes. Correlação com request/response e UID ajuda a separar protocolo, sessão e host. Uma conversa observada não revela sozinha as portas físicas de switch.</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50</a:t>
            </a:fld>
            <a:endParaRPr lang="pt-BR"/>
          </a:p>
        </p:txBody>
      </p:sp>
    </p:spTree>
    <p:extLst>
      <p:ext uri="{BB962C8B-B14F-4D97-AF65-F5344CB8AC3E}">
        <p14:creationId xmlns:p14="http://schemas.microsoft.com/office/powerpoint/2010/main" val="30854650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Print demonstrativo com destino alcançado no primeiro salto. Hosts da mesma sub-rede podem responder diretamente mesmo atravessando switch físico. Timeout de ICMP não comprova interrupção do TCP. O caminho de retorno pode diferir. Limites de saltos/alvos e filtro devem constar da cobertura. Não interpretar o tempo ICMP como tempo de processamento do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51</a:t>
            </a:fld>
            <a:endParaRPr lang="pt-BR"/>
          </a:p>
        </p:txBody>
      </p:sp>
    </p:spTree>
    <p:extLst>
      <p:ext uri="{BB962C8B-B14F-4D97-AF65-F5344CB8AC3E}">
        <p14:creationId xmlns:p14="http://schemas.microsoft.com/office/powerpoint/2010/main" val="28913687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A lista do print está vazia. Isso não comprova ausência de switch. O dispositivo pode não emitir anúncio, a captura pode estar no ponto errado ou BPF pode ter excluído LLDP/CDP. O software não executa consulta SNMP nem configuração de infraestrutura. Nome/porta anunciados não certificam saúde do switch, contadores ou cabeamento.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52</a:t>
            </a:fld>
            <a:endParaRPr lang="pt-BR"/>
          </a:p>
        </p:txBody>
      </p:sp>
    </p:spTree>
    <p:extLst>
      <p:ext uri="{BB962C8B-B14F-4D97-AF65-F5344CB8AC3E}">
        <p14:creationId xmlns:p14="http://schemas.microsoft.com/office/powerpoint/2010/main" val="13015159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print demonstra FC03 offsets0 a9 quantidade10. Na descoberta ativa, Qtd = fim-início+1. Range validado teve resposta aceita. Range requisitado só prova a solicitação e pode ter gerado exceção. Trechos pequenos válidos não garantem que a união deles seja aceita em bloco maior. Região ausente pode estar fora do máximo, em outra FC/UID ou não ter sido consultada. Descoberta não determina engenharia nem direitos de escrita.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53</a:t>
            </a:fld>
            <a:endParaRPr lang="pt-BR"/>
          </a:p>
        </p:txBody>
      </p:sp>
    </p:spTree>
    <p:extLst>
      <p:ext uri="{BB962C8B-B14F-4D97-AF65-F5344CB8AC3E}">
        <p14:creationId xmlns:p14="http://schemas.microsoft.com/office/powerpoint/2010/main" val="37732461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O texto da imagem é didático, não resultado real. Demonstre exportar sem executar sondagem adicional. O completo inclui inventário, mapa e topologia conforme dados disponíveis. Em Markdown, imagens auxiliares devem acompanhar o arquivo. PDF reúne material para consulta. Confirme período, papel, endpoints e versão antes de compartilhar.</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54</a:t>
            </a:fld>
            <a:endParaRPr lang="pt-BR"/>
          </a:p>
        </p:txBody>
      </p:sp>
    </p:spTree>
    <p:extLst>
      <p:ext uri="{BB962C8B-B14F-4D97-AF65-F5344CB8AC3E}">
        <p14:creationId xmlns:p14="http://schemas.microsoft.com/office/powerpoint/2010/main" val="19860608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Exemplo 15/15 válidas só comprova aquelas tentativas. P95 alto pede comparar com scan e ciclo total. Uma exceção02 repetida aponta função/range, sem perda total de conexão. Uma janela curta não caracteriza falha rara. Diagnóstico reproduzível inclui configuração, versão, interface, BPF, tempos e mapa documentado. Explicar à turma que mais texto não torna a conclusão automaticamente mais forte.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55</a:t>
            </a:fld>
            <a:endParaRPr lang="pt-BR"/>
          </a:p>
        </p:txBody>
      </p:sp>
    </p:spTree>
    <p:extLst>
      <p:ext uri="{BB962C8B-B14F-4D97-AF65-F5344CB8AC3E}">
        <p14:creationId xmlns:p14="http://schemas.microsoft.com/office/powerpoint/2010/main" val="17739156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 de 34. Execução em 02/10/2026.
Papel: Cliente/Mestre. Duração total: 476,9 s.
Resultado Atenção: há sinais a investigar, sem falhas agregadas.
Alvo repetido: 127.0.0.1:1502, UID 1.
Nenhuma escrita automática ocorreu nesta execução.
O resultado pertence aos alvos, blocos e janelas desta execução. Atenção significa investigação pendente e não uma causa raiz confirmada. Separar ensaio local de descoberta na rede. A duração total inclui a varredura e o fallback.</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56</a:t>
            </a:fld>
            <a:endParaRPr lang="pt-BR"/>
          </a:p>
        </p:txBody>
      </p:sp>
    </p:spTree>
    <p:extLst>
      <p:ext uri="{BB962C8B-B14F-4D97-AF65-F5344CB8AC3E}">
        <p14:creationId xmlns:p14="http://schemas.microsoft.com/office/powerpoint/2010/main" val="36727995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 de 34. Execução em 02/10/2026.
Blocos 1/1: um bloco cadastrado recebeu validação.
15/15/15: válidas, tentadas e planejadas coincidem.
Sucesso 100%: leitura do alvo local funcionou na amostra.
Os servidores descobertos não receberam esse mesmo ensaio.
A tabela inclui somente Alvo 1. Em cancelamento, comparar planejadas, tentadas e válidas. Para testar repetidamente os servidores remotos encontrados, cadastrar seus mapas e incluí-los como alvos, conforme autorização.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57</a:t>
            </a:fld>
            <a:endParaRPr lang="pt-BR"/>
          </a:p>
        </p:txBody>
      </p:sp>
    </p:spTree>
    <p:extLst>
      <p:ext uri="{BB962C8B-B14F-4D97-AF65-F5344CB8AC3E}">
        <p14:creationId xmlns:p14="http://schemas.microsoft.com/office/powerpoint/2010/main" val="182792475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 de 34. Execução em 02/10/2026.
Referência: 6 RST em 10 segundos.
Operacional: 15 RST e 21 segmentos repetidos em 30 s.
Esses indicadores motivaram os avisos TCP.
Causa raiz exige associar sinais à conversa e ao horário.
RST pode corresponder a encerramento esperado, rejeição ou interrupção. Segmentos repetidos são indícios e podem refletir retransmissão, duplicação de captura ou reuso de conexão. Zero-window, quando presente, indica falta de espaço anunciado pelo receptor. Neste PDF, os detalhes dos sinais apontam para conexões na porta 443.</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58</a:t>
            </a:fld>
            <a:endParaRPr lang="pt-BR"/>
          </a:p>
        </p:txBody>
      </p:sp>
    </p:spTree>
    <p:extLst>
      <p:ext uri="{BB962C8B-B14F-4D97-AF65-F5344CB8AC3E}">
        <p14:creationId xmlns:p14="http://schemas.microsoft.com/office/powerpoint/2010/main" val="35915149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 de 34. Execução em 02/10/2026.
Bloco: FC03, início 0, quantidade 10.
Mediana: 2,9 ms. p95: 4,4 ms.
p95: 0,44% do período configurado de 1000 ms.
Amostra: 15 respostas, insuficiente para eventos raros.
A razão 4,4 / 1000 equivale a 0,44%. Essa comparação por transação não mede utilização do PLC nem valida o ciclo inteiro. A espera pelo socket participa da latência. Quinze respostas não caracterizam falhas raras ou a cauda de latência. p95 elevado exige analisar espera, caminho e carga antes de atribuir processamento lento ao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59</a:t>
            </a:fld>
            <a:endParaRPr lang="pt-BR"/>
          </a:p>
        </p:txBody>
      </p:sp>
    </p:spTree>
    <p:extLst>
      <p:ext uri="{BB962C8B-B14F-4D97-AF65-F5344CB8AC3E}">
        <p14:creationId xmlns:p14="http://schemas.microsoft.com/office/powerpoint/2010/main" val="4470381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 de 34. Execução em 02/10/2026.
Só um bloco recebeu 15 leituras repetidas.
Descoberta confirmou .200:502 e .202:502.
127.0.0.1 e 172.27.20.21 representam este computador.
Mapa completo, saúde física e escrita segura ficam fora do teste.
Confirmar protocolo em uma sondagem não valida a estabilidade de todos os blocos. IPs locais diferentes podem representar o mesmo serviço. Mesmo IPs remotos distintos não garantem equipamentos físicos distintos. Limites de UID, função, endereço, interface e BPF reduzem o alcance da conclusão.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60</a:t>
            </a:fld>
            <a:endParaRPr lang="pt-BR"/>
          </a:p>
        </p:txBody>
      </p:sp>
    </p:spTree>
    <p:extLst>
      <p:ext uri="{BB962C8B-B14F-4D97-AF65-F5344CB8AC3E}">
        <p14:creationId xmlns:p14="http://schemas.microsoft.com/office/powerpoint/2010/main" val="7923573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 de 34. Execução em 02/10/2026.
Referência: 63,1 pkt/s. Operacional: 62,7 pkt/s.
Variação média: -0,7%. Pico final: 296 pkt/s.
Zero-window: 0 nas duas janelas.
Pico e volume isolados não demonstram saturação.
Comparar taxas por segundo em vez de totais de janelas com durações diferentes. O pico 296 está abaixo do limiar 5000 configurado, mas esse limiar não mede a capacidade física. O aumento em bytes pode refletir tráfego HTTPS externo. A comparação não estabelece causalidade entre sondagem e carga.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61</a:t>
            </a:fld>
            <a:endParaRPr lang="pt-BR"/>
          </a:p>
        </p:txBody>
      </p:sp>
    </p:spTree>
    <p:extLst>
      <p:ext uri="{BB962C8B-B14F-4D97-AF65-F5344CB8AC3E}">
        <p14:creationId xmlns:p14="http://schemas.microsoft.com/office/powerpoint/2010/main" val="22748845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3 de 34. Execução em 02/10/2026.
Dois participantes remotos com Modbus confirmado.
14 anúncios LLDP/CDP e 67 outros hosts fora do foco.
MK-AUTVIX-BORDA aparece como vizinho anunciado.
O anúncio não comprova o caminho físico dos servidores.
Esta seção apresenta uma relação lógica em texto. O vizinho anunciado não é um intermediário fisicamente verificado. Anúncios podem vir de hosts, PLCs ou equipamentos de rede. Sem inventário ou consulta autorizada, cabeamento, VLANs e portas permanecem desconhecidos.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62</a:t>
            </a:fld>
            <a:endParaRPr lang="pt-BR"/>
          </a:p>
        </p:txBody>
      </p:sp>
    </p:spTree>
    <p:extLst>
      <p:ext uri="{BB962C8B-B14F-4D97-AF65-F5344CB8AC3E}">
        <p14:creationId xmlns:p14="http://schemas.microsoft.com/office/powerpoint/2010/main" val="39644727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3 de 34. Execução em 02/10/2026.
Todos os quatro destinos responderam no TTL 1.
.200 respondeu em 1 ms e .202 em 3 ms.
TTL 1 não significa conexão direta sem switch.
Esse tempo mede ICMP, não a leitura Modbus.
Os quatro destinos incluem endereços do computador local. TTL 1 não revela switches transparentes de camada 2. Timeout ICMP pode ocorrer por ACL ou filtragem mesmo com TCP funcional. Um roteador que responde TTL expirado oferece uma evidência de salto, sem validar a saúde do enlace.</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63</a:t>
            </a:fld>
            <a:endParaRPr lang="pt-BR"/>
          </a:p>
        </p:txBody>
      </p:sp>
    </p:spTree>
    <p:extLst>
      <p:ext uri="{BB962C8B-B14F-4D97-AF65-F5344CB8AC3E}">
        <p14:creationId xmlns:p14="http://schemas.microsoft.com/office/powerpoint/2010/main" val="24516213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4 de 34. Execução em 02/10/2026.
Nome/chassi e MAC ajudam a reconhecer a origem.
Porta anunciada identifica o contexto informado pelo vizinho.
IP de gestão pode estar ausente no anúncio.
TTL é validade do anúncio, não contagem de saltos.
TTL do anúncio significa validade em segundos e difere do TTL IP. LLDP não é exclusivo de switches. O PDF inclui Mx80 Ethernet: CPU e MK-AUTVIX-BORDA. A mesma origem pode aparecer por LLDP e CDP ou em contextos de porta diferentes. Campo ausente significa informação não disponível naquele anúncio.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64</a:t>
            </a:fld>
            <a:endParaRPr lang="pt-BR"/>
          </a:p>
        </p:txBody>
      </p:sp>
    </p:spTree>
    <p:extLst>
      <p:ext uri="{BB962C8B-B14F-4D97-AF65-F5344CB8AC3E}">
        <p14:creationId xmlns:p14="http://schemas.microsoft.com/office/powerpoint/2010/main" val="12911184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5 de 34. Execução em 02/10/2026.
Realtek Ethernet e BPF definem o tráfego visível.
Referência 10 s, monitor 30 s, 15 leituras/bloco.
CIDR 172.27.20.0/24. Portas 502,1501,1502.
Limites: 5 sondagens/s e concorrência 2.
Reproduzir um ensaio exige guardar interface, BPF, janelas, CIDR, portas, limites e configuração dos alvos. O destino 127.0.0.1 precisa de interface loopback para captura passiva. A leitura direta da aplicação continua possível pela API de socket, independentemente da NIC capturada.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65</a:t>
            </a:fld>
            <a:endParaRPr lang="pt-BR"/>
          </a:p>
        </p:txBody>
      </p:sp>
    </p:spTree>
    <p:extLst>
      <p:ext uri="{BB962C8B-B14F-4D97-AF65-F5344CB8AC3E}">
        <p14:creationId xmlns:p14="http://schemas.microsoft.com/office/powerpoint/2010/main" val="27362889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5 de 34. Execução em 02/10/2026.
Varredura: 210,2 s. Descoberta de mapa: 206,9 s.
Juntas: cerca de 87,5% dos 476,9 s totais.
ARP: Não aplicável ao alvo loopback.
Atenção aparece nas duas janelas TCP e na conclusão.
A soma 210,2 + 206,9 representa 417,1 s, aproximadamente 87,5% do total. Reduzir o CIDR ou o limite de mapa pode reduzir duração e também cobertura. ARP não se aplica ao loopback. Conclusão é uma agregação, sem nova transação. Cancelamento pode deixar etapas pendentes ou interrompidas.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66</a:t>
            </a:fld>
            <a:endParaRPr lang="pt-BR"/>
          </a:p>
        </p:txBody>
      </p:sp>
    </p:spTree>
    <p:extLst>
      <p:ext uri="{BB962C8B-B14F-4D97-AF65-F5344CB8AC3E}">
        <p14:creationId xmlns:p14="http://schemas.microsoft.com/office/powerpoint/2010/main" val="24402865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6 de 34. Execução em 02/10/2026.
Os 6 RST envolvem 187.64.130.42:443.
Porta 443 situa essas conversas fora do alvo Modbus testado.
O sinal global não comprova falha em 127.0.0.1:1502.
A análise precisa filtrar endpoints e horários relevantes.
O recorte mostra duas conversas HTTPS com três RST cada. O PDF não comprova qual aplicação ou condição os gerou. Esses sinais não pertencem ao endpoint local Modbus repetidamente testado. Correlacionar horários e respostas do serviço investigado antes de afirmar impacto industrial.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67</a:t>
            </a:fld>
            <a:endParaRPr lang="pt-BR"/>
          </a:p>
        </p:txBody>
      </p:sp>
    </p:spTree>
    <p:extLst>
      <p:ext uri="{BB962C8B-B14F-4D97-AF65-F5344CB8AC3E}">
        <p14:creationId xmlns:p14="http://schemas.microsoft.com/office/powerpoint/2010/main" val="114965481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6 de 34. Execução em 02/10/2026.
1880 pacotes em 30 s, pico de 296 pkt/s.
Driver e fila reportam zero descartes nessa janela.
SO reporta zero erros e descartes de interface.
Nenhum desses contadores valida todas as portas do switch.
Separar fila da UI, descarte do driver e contadores do sistema operacional. Zero nesses contadores não valida perdas em portas de switches ou caminhos não visíveis. A análise de segmentos repetidos pode ser parcial quando os limites de detalhes são atingidos. Confrontar com contadores de infraestrutura se autorizado.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68</a:t>
            </a:fld>
            <a:endParaRPr lang="pt-BR"/>
          </a:p>
        </p:txBody>
      </p:sp>
    </p:spTree>
    <p:extLst>
      <p:ext uri="{BB962C8B-B14F-4D97-AF65-F5344CB8AC3E}">
        <p14:creationId xmlns:p14="http://schemas.microsoft.com/office/powerpoint/2010/main" val="162746458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6 de 34. Execução em 02/10/2026.
As conversas detalhadas com sinais usam porta 443.
21 segmentos repetidos são indícios na captura.
Pode haver retransmissão, duplicação ou reuso de conexão.
Correlacionar com atraso ou falha do serviço investigado.
O detector usa sequência e comprimento, sem remontagem completa de stream TCP. Não converter 21 segmentos repetidos em 21 perdas físicas. Para confirmar impacto, analisar a conexão relevante e os tempos de request/response, além de ACKs e contadores. A causa raiz permanece não confirmada.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69</a:t>
            </a:fld>
            <a:endParaRPr lang="pt-BR"/>
          </a:p>
        </p:txBody>
      </p:sp>
    </p:spTree>
    <p:extLst>
      <p:ext uri="{BB962C8B-B14F-4D97-AF65-F5344CB8AC3E}">
        <p14:creationId xmlns:p14="http://schemas.microsoft.com/office/powerpoint/2010/main" val="5574248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7 de 34. Execução em 02/10/2026.
.21:1502, .200:502 e .202:502: Modbus confirmado.
.34:502: TCP aberto, protocolo não confirmado.
Porta aberta demonstra aceitação de conexão TCP.
FC, UID e resposta válida sustentam confirmação Modbus.
Para .34, considerar serviço diferente, UID inadequado, resposta lenta, ACL de aplicação ou gateway. Essas hipóteses não foram confirmadas. A porta 502, isoladamente, não autoriza chamar o host de PLC. Consultar documentação e repetir apenas as sondagens autorizadas.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70</a:t>
            </a:fld>
            <a:endParaRPr lang="pt-BR"/>
          </a:p>
        </p:txBody>
      </p:sp>
    </p:spTree>
    <p:extLst>
      <p:ext uri="{BB962C8B-B14F-4D97-AF65-F5344CB8AC3E}">
        <p14:creationId xmlns:p14="http://schemas.microsoft.com/office/powerpoint/2010/main" val="283005038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7 de 34. Execução em 02/10/2026.
Servidor local: quatro áreas de 0 a 19.
Servidor .200: áreas aceitas desde 0 até o limite 120.
Range validado: a leitura retornou resposta válida.
Amostra zero pode ser dado válido, sem falha de comunicação.
As 16 faixas incluem quatro funções por quatro endpoints, com dois endereços para o mesmo servidor local. Não representam 16 dispositivos. Zeros podem ser respostas válidas sem revelar significado funcional. Comparar com o mapa de engenharia e não inferir ausência acima do máximo sondado.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71</a:t>
            </a:fld>
            <a:endParaRPr lang="pt-BR"/>
          </a:p>
        </p:txBody>
      </p:sp>
    </p:spTree>
    <p:extLst>
      <p:ext uri="{BB962C8B-B14F-4D97-AF65-F5344CB8AC3E}">
        <p14:creationId xmlns:p14="http://schemas.microsoft.com/office/powerpoint/2010/main" val="25651294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12 de 34. Execução em 02/10/2026.
Quatro endpoints confirmados, consolidados em três grupos.
TID/UID/FC/MBAP coerentes sustentam a validação.
.34:502 respondeu TCP, mas FC03/UID 1 deu timeout.
Outros IDs, funções ou timeouts exigem ensaio autorizado.
Os três grupos consolidados incluem o serviço local e dois IPs remotos. A tabela ARP mostra o mesmo MAC para .200 e .202, portanto sua identidade física exige confirmação. O timeout de .34 não distingue falta de suporte de atraso ou filtragem. Ampliar UID ou timeout somente conforme documentação e autorização.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72</a:t>
            </a:fld>
            <a:endParaRPr lang="pt-BR"/>
          </a:p>
        </p:txBody>
      </p:sp>
    </p:spTree>
    <p:extLst>
      <p:ext uri="{BB962C8B-B14F-4D97-AF65-F5344CB8AC3E}">
        <p14:creationId xmlns:p14="http://schemas.microsoft.com/office/powerpoint/2010/main" val="20541423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12 de 34. Execução em 02/10/2026.
Quatro endpoints, UID 1, quatro funções de leitura.
Máximo 120, bloco 10: 13 blocos iniciais por combinação.
208 requests iniciais, antes das tentativas adicionais.
Fallback habilitado ampliou a sondagem para 1016 requests.
Treze blocos vezes quatro funções vezes quatro endpoints geram 208 requests iniciais. O total 1016 inclui requisições adicionais do procedimento, sem indicar 808 retransmissões TCP. Máximo 120 cobre 121 endereços. O fallback nas áreas inexistentes do servidor local ajuda a explicar o custo do procedimento.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73</a:t>
            </a:fld>
            <a:endParaRPr lang="pt-BR"/>
          </a:p>
        </p:txBody>
      </p:sp>
    </p:spTree>
    <p:extLst>
      <p:ext uri="{BB962C8B-B14F-4D97-AF65-F5344CB8AC3E}">
        <p14:creationId xmlns:p14="http://schemas.microsoft.com/office/powerpoint/2010/main" val="19174683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13 de 34. Execução em 02/10/2026.
Socket abriu em 2 ms para 127.0.0.1:1502.
O resultado confirma o transporte daquela tentativa.
Ainda falta validar UID, função, range e resposta.
Recusa e timeout pedem investigações diferentes.
Recusa imediata e timeout são sintomas diferentes. Conferir listener, porta e firewall antes de analisar mapa. Se TCP abre e Modbus falha, investigar UID, FC, range, gateway e conformidade. A abertura local em 2 ms não valida o caminho até um PLC remoto.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74</a:t>
            </a:fld>
            <a:endParaRPr lang="pt-BR"/>
          </a:p>
        </p:txBody>
      </p:sp>
    </p:spTree>
    <p:extLst>
      <p:ext uri="{BB962C8B-B14F-4D97-AF65-F5344CB8AC3E}">
        <p14:creationId xmlns:p14="http://schemas.microsoft.com/office/powerpoint/2010/main" val="42020829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14 de 34. Execução em 02/10/2026.
15/15 válidas, sem erros no bloco FC03 0 a 9.
Mín. 2,7 ms, mediana 2,9 ms, máx. 4,4 ms.
Timeout, exceção e falha TCP exigem diagnósticos separados.
Só os blocos habilitados entram nessa validação.
Possibilidades que não ocorreram neste exemplo: exceção 01 por função não suportada, 02 por range inválido, 03 por parâmetro inválido e 04 por falha ao executar a operação. Confirmar a interpretação com a documentação do destino. Timeout ou falha TCP não equivalem a exceção Modbus. Resposta com TID/UID/FC incoerentes exige analisar a conformidade da transação.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75</a:t>
            </a:fld>
            <a:endParaRPr lang="pt-BR"/>
          </a:p>
        </p:txBody>
      </p:sp>
    </p:spTree>
    <p:extLst>
      <p:ext uri="{BB962C8B-B14F-4D97-AF65-F5344CB8AC3E}">
        <p14:creationId xmlns:p14="http://schemas.microsoft.com/office/powerpoint/2010/main" val="286574574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14 de 34. Execução em 02/10/2026.
Request/response FC03 completo e válido.
Valores de 1000 a 1009 no range solicitado.
Confirmação cobre aquela linha e aquele UID.
Valores plausíveis ainda precisam de contexto de engenharia.
Resposta válida comprova a transação, sem garantir interpretação de engenharia. Valores podem exigir escala, sinal, ordem de palavras ou conversão para float. Offset incorreto pode retornar dados plausíveis do ponto errado. O exemplo local usa valores simulados de 1000 a 1009 e não medições reais do processo.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76</a:t>
            </a:fld>
            <a:endParaRPr lang="pt-BR"/>
          </a:p>
        </p:txBody>
      </p:sp>
    </p:spTree>
    <p:extLst>
      <p:ext uri="{BB962C8B-B14F-4D97-AF65-F5344CB8AC3E}">
        <p14:creationId xmlns:p14="http://schemas.microsoft.com/office/powerpoint/2010/main" val="428368842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15 de 34. Execução em 02/10/2026.
Falhas observadas: zero avisos das sessões testadas.
Conclusão: 0 falhas, 2 atenções e 1 não aplicável.
Sinais TCP gerais podem coexistir com leituras locais OK.
Atenção global não equivale a falha do alvo.
Falhas observadas usa eventos das sessões testadas desde o início da execução. Conclusão agrega também as atenções das janelas gerais de captura. Por isso zero avisos do alvo e Atenção global podem coexistir. A ausência de eventos só se refere aos sintomas e ao período monitorados.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77</a:t>
            </a:fld>
            <a:endParaRPr lang="pt-BR"/>
          </a:p>
        </p:txBody>
      </p:sp>
    </p:spTree>
    <p:extLst>
      <p:ext uri="{BB962C8B-B14F-4D97-AF65-F5344CB8AC3E}">
        <p14:creationId xmlns:p14="http://schemas.microsoft.com/office/powerpoint/2010/main" val="271849150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11 de 34. Execução em 02/10/2026.
Fonte: ARP, sondagem e captura indicam como o IP apareceu.
.200 e .202 compartilham o MAC 00-04-17-91-c8-60.
Isso exige conferir a identidade física no inventário.
IPs e entradas ARP não são contagem segura de PLCs.
Mesmo MAC em dois IPs pode envolver alias de uma CPU, gateway, proxy ARP ou configuração particular. O relatório não resolve essa identidade física. Usar inventário e anúncios para correlação. A lista completa contém também Internet, multicast e endereços especiais, sem equivaler a uma relação de PLCs.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78</a:t>
            </a:fld>
            <a:endParaRPr lang="pt-BR"/>
          </a:p>
        </p:txBody>
      </p:sp>
    </p:spTree>
    <p:extLst>
      <p:ext uri="{BB962C8B-B14F-4D97-AF65-F5344CB8AC3E}">
        <p14:creationId xmlns:p14="http://schemas.microsoft.com/office/powerpoint/2010/main" val="399385308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26 de 34. Execução em 02/10/2026.
Origem/destino e detalhe localizam o par IP:porta.
Evidência informa TCP, UDP, ARP ou Modbus reconhecido.
Contagem indica volume observado daquela relação.
HTTPS e descoberta de nomes coexistem com o ensaio industrial.
As páginas 26 a 33 preservam conversas para auditoria. Contagem de quadros HTTPS não é quantidade de leituras Modbus. Tráfego nas portas 5353, 137 ou 1900 pode corresponder a descoberta normal. Volume alto precisa de capacidade e impacto correlacionados antes de caracterizar sobrecarga.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79</a:t>
            </a:fld>
            <a:endParaRPr lang="pt-BR"/>
          </a:p>
        </p:txBody>
      </p:sp>
    </p:spTree>
    <p:extLst>
      <p:ext uri="{BB962C8B-B14F-4D97-AF65-F5344CB8AC3E}">
        <p14:creationId xmlns:p14="http://schemas.microsoft.com/office/powerpoint/2010/main" val="130970200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34 de 34. Execução em 02/10/2026.
Endpoint/UID/FC identifica a área sondada.
Início e fim definem intervalo inclusivo aceito.
Modo ativo/client indica leitura, sem escrita.
Confiança e notas distinguem resposta válida de significado.
A tabela final preserva UID, função, intervalo, modo, confiança e notas. Não identifica nomes de tags, escala, endianidade, permissão de escrita ou comandos seguros. Uma faixa observada passivamente tem confiança diferente de uma leitura ativa válida. Arquivar o PDF e a configuração FFD para repetir o cenário.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80</a:t>
            </a:fld>
            <a:endParaRPr lang="pt-BR"/>
          </a:p>
        </p:txBody>
      </p:sp>
    </p:spTree>
    <p:extLst>
      <p:ext uri="{BB962C8B-B14F-4D97-AF65-F5344CB8AC3E}">
        <p14:creationId xmlns:p14="http://schemas.microsoft.com/office/powerpoint/2010/main" val="301018710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Fonte: PDF fornecido por Felipe, página 9. Esta seção permite identificar o ambiente antes das novas sondagens. O software comparou interfaces, mas a NIC com maior tráfego era Ethernet e o alvo validado era 127.0.0.1. Essa diferença explica por que respostas ativas locais e ausência de frames passivos Modbus podem coexistir nas janelas. Escolher interface adequada ou um alvo LAN para ensaio real.</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81</a:t>
            </a:fld>
            <a:endParaRPr lang="pt-BR"/>
          </a:p>
        </p:txBody>
      </p:sp>
    </p:spTree>
    <p:extLst>
      <p:ext uri="{BB962C8B-B14F-4D97-AF65-F5344CB8AC3E}">
        <p14:creationId xmlns:p14="http://schemas.microsoft.com/office/powerpoint/2010/main" val="308663542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Fonte: PDF fornecido por Felipe, página 11. As evidências de interfaces e rotas estão nas etapas 1 e 2. Verificar IP, máscara, gateway e interface usada para o destino. ARP ausente pode decorrer de falta de comunicação recente ou de um destino roteado, sem significar host inexistente. ARP presente não informa porta, função, mapa ou saúde atual. Roteamento incorreto exige confrontar a tabela de rotas com o inventário.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82</a:t>
            </a:fld>
            <a:endParaRPr lang="pt-BR"/>
          </a:p>
        </p:txBody>
      </p:sp>
    </p:spTree>
    <p:extLst>
      <p:ext uri="{BB962C8B-B14F-4D97-AF65-F5344CB8AC3E}">
        <p14:creationId xmlns:p14="http://schemas.microsoft.com/office/powerpoint/2010/main" val="357381590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Fonte: PDF fornecido por Felipe, página 11. A contagem de candidatos é a registrada pelo software e não uma contagem de PLCs. Somente portas 502, 1501 e 1502 participaram. Um host pode responder ICMP sem abrir essas portas, ou abrir TCP sem responder ICMP. Confirmar protocolo na etapa seguinte. O CIDR, timeout e limites de ritmo explicam duração e cobertura.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83</a:t>
            </a:fld>
            <a:endParaRPr lang="pt-BR"/>
          </a:p>
        </p:txBody>
      </p:sp>
    </p:spTree>
    <p:extLst>
      <p:ext uri="{BB962C8B-B14F-4D97-AF65-F5344CB8AC3E}">
        <p14:creationId xmlns:p14="http://schemas.microsoft.com/office/powerpoint/2010/main" val="105086410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Fonte: PDF fornecido por Felipe, página 15. A conclusão não executa outra requisição. Ela agrega o que as etapas coletaram. Falha de um alvo não elimina resultados independentes de outros alvos. Inconclusivo, caso presente, aponta instrumentação ou dados insuficientes. Neste caso, ampliar o ensaio dos remotos e adequar a interface oferece mais informação do que tentar corrigir os sinais HTTPS como se fossem falha do PLC.</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84</a:t>
            </a:fld>
            <a:endParaRPr lang="pt-BR"/>
          </a:p>
        </p:txBody>
      </p:sp>
    </p:spTree>
    <p:extLst>
      <p:ext uri="{BB962C8B-B14F-4D97-AF65-F5344CB8AC3E}">
        <p14:creationId xmlns:p14="http://schemas.microsoft.com/office/powerpoint/2010/main" val="402868120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Recorte do relatório fornecido. Página 2 de 34. Execução em 02/10/2026.
O bloco local passou. Os alertas TCP não comprovam falha Modbus.
A NIC Ethernet não captura o alvo loopback diretamente.
Incluir .200 e .202 como alvos permite validar seus blocos.
Investigar .34 e a identidade dos MACs conforme autorização.
Síntese: o bloco local passou nas 15 leituras e os sinais HTTPS não confirmam falha Modbus. Zero frames Modbus nas janelas Ethernet não invalida respostas obtidas pela aplicação em loopback. Próximos ensaios autorizados: captura apropriada, mapas dos remotos como alvos, mais amostras para intermitência e verificação de .34. O PDF não demonstra saturação física.</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85</a:t>
            </a:fld>
            <a:endParaRPr lang="pt-BR"/>
          </a:p>
        </p:txBody>
      </p:sp>
    </p:spTree>
    <p:extLst>
      <p:ext uri="{BB962C8B-B14F-4D97-AF65-F5344CB8AC3E}">
        <p14:creationId xmlns:p14="http://schemas.microsoft.com/office/powerpoint/2010/main" val="113096112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Demonstre os comandos Arquivo/Salvar/Abrir disponíveis na versão. Preservar o original antes de introduzir erros de laboratório. .ffd não garante restauração de conexões ativas nem representa um dump do PLC. Conferir IPs e portas antes de reutilizar em outra rede. O print mostra a estação com os cadastros que seriam persistidos, não uma janela de arquivo.</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86</a:t>
            </a:fld>
            <a:endParaRPr lang="pt-BR"/>
          </a:p>
        </p:txBody>
      </p:sp>
    </p:spTree>
    <p:extLst>
      <p:ext uri="{BB962C8B-B14F-4D97-AF65-F5344CB8AC3E}">
        <p14:creationId xmlns:p14="http://schemas.microsoft.com/office/powerpoint/2010/main" val="242162006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Mostre pesquisar Unit ID, CIDR, exceção02 e p95. O manual é integrado e não abre um PDF longo. Se o contexto não tiver associação específica, a ajuda geral continua disponível. Usar o manual para domínio/limites de cada campo. Screenshots e nomes dependem da versão atual. Registrar dúvidas não resolvidas para revisão posterior.</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87</a:t>
            </a:fld>
            <a:endParaRPr lang="pt-BR"/>
          </a:p>
        </p:txBody>
      </p:sp>
    </p:spTree>
    <p:extLst>
      <p:ext uri="{BB962C8B-B14F-4D97-AF65-F5344CB8AC3E}">
        <p14:creationId xmlns:p14="http://schemas.microsoft.com/office/powerpoint/2010/main" val="5362659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Exercício exclusivo em laboratório. Configure referência12s, monitoramento30s, quinze tentativas e intervalo1000ms como exemplo, sem descoberta ativa de rede de produção. Primeiro confirmar mapa aplicado. No erro, fim=9+2-1=10, além de HR9, podendo retornar exceção02. Modificar somente quantidade para1 permite atribuir recuperação ao ajuste. Pedir à turma que encontre evidência na Execução, Resumo e Relatório. Concluir com próximos passos e dúvidas.</a:t>
            </a:r>
          </a:p>
          <a:p>
            <a:endParaRPr lang="pt-BR"/>
          </a:p>
          <a:p>
            <a:r>
              <a:rPr lang="pt-BR"/>
              <a:t>Roteiro: docs/2026-10-03-ata-treinamento-troubleshoot-modbus.md. Operação do software: manual integrado da versão usada no treinamento.</a:t>
            </a:r>
          </a:p>
        </p:txBody>
      </p:sp>
      <p:sp>
        <p:nvSpPr>
          <p:cNvPr id="4" name="Espaço Reservado para Número de Slide 3"/>
          <p:cNvSpPr>
            <a:spLocks noGrp="1"/>
          </p:cNvSpPr>
          <p:nvPr>
            <p:ph type="sldNum" sz="quarter" idx="5"/>
          </p:nvPr>
        </p:nvSpPr>
        <p:spPr/>
        <p:txBody>
          <a:bodyPr/>
          <a:lstStyle/>
          <a:p>
            <a:fld id="{90378294-2208-4EC8-B126-4C9959F131DB}" type="slidenum">
              <a:rPr lang="pt-BR" smtClean="0"/>
              <a:t>88</a:t>
            </a:fld>
            <a:endParaRPr lang="pt-BR"/>
          </a:p>
        </p:txBody>
      </p:sp>
    </p:spTree>
    <p:extLst>
      <p:ext uri="{BB962C8B-B14F-4D97-AF65-F5344CB8AC3E}">
        <p14:creationId xmlns:p14="http://schemas.microsoft.com/office/powerpoint/2010/main" val="362049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636ACB-D013-435C-86C5-C0F2F78A9454}"/>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52469B5C-A232-42D8-A551-45C8C3630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C6007312-B99F-4FB3-81E8-8CE9B8BFD021}"/>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5" name="Espaço Reservado para Rodapé 4">
            <a:extLst>
              <a:ext uri="{FF2B5EF4-FFF2-40B4-BE49-F238E27FC236}">
                <a16:creationId xmlns:a16="http://schemas.microsoft.com/office/drawing/2014/main" id="{D7DB6341-A0E7-4BE6-A675-5A3AFBD75F7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A1FE289-D9E8-4F6C-9CC0-F1AF5C308D80}"/>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172540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22C617-AAF2-4AF4-A6F5-05E66A6DE22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F9124D3-BC5D-48AE-AA35-2C024931E928}"/>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695F368-AB5F-4CE9-9BA3-A23A0053E3B4}"/>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5" name="Espaço Reservado para Rodapé 4">
            <a:extLst>
              <a:ext uri="{FF2B5EF4-FFF2-40B4-BE49-F238E27FC236}">
                <a16:creationId xmlns:a16="http://schemas.microsoft.com/office/drawing/2014/main" id="{AB333367-CCAB-4103-AE7D-6A152E977F4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FE3B364-249F-4EF0-A59B-8F0C32BA8203}"/>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37577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EEEF3-7A4F-428D-B9DB-B732231C92E7}"/>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A35EEF03-8E2A-41CC-BC60-272AD98D60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1DC22F7F-2DD0-4917-AEB8-118891C1D979}"/>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5" name="Espaço Reservado para Rodapé 4">
            <a:extLst>
              <a:ext uri="{FF2B5EF4-FFF2-40B4-BE49-F238E27FC236}">
                <a16:creationId xmlns:a16="http://schemas.microsoft.com/office/drawing/2014/main" id="{BEB8856A-EE7D-451D-A418-775F03E612B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4B1D595-A4C5-4CDF-AEFF-2D50417D815D}"/>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3069269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1E7CAC-A363-4BAE-970D-A50068571B3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7CB3E8E-2217-419E-AAB5-A03C1BABF1C2}"/>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6B081C1-8573-4618-B36C-A44F5AA9A8CC}"/>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DB91637A-0233-4EF8-803B-91F1F7D9741D}"/>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6" name="Espaço Reservado para Rodapé 5">
            <a:extLst>
              <a:ext uri="{FF2B5EF4-FFF2-40B4-BE49-F238E27FC236}">
                <a16:creationId xmlns:a16="http://schemas.microsoft.com/office/drawing/2014/main" id="{5D2B948D-AC24-4891-8351-DD253CDE37B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CF9C2D8-4310-424E-BB28-9363B45E57E9}"/>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2437655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C52C36-BBB4-4833-BEA9-B39AD89620FB}"/>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407A67C8-A9A6-43C2-8579-22EFB05398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BB0A9058-7CB8-484A-B2F4-03B6D96C1D6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339CEF3A-25FD-4716-8815-5966ADECA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757A92B-E236-462C-B92D-BF32D26AD621}"/>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C158413-BC63-46C3-9EAB-68C6F626854B}"/>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8" name="Espaço Reservado para Rodapé 7">
            <a:extLst>
              <a:ext uri="{FF2B5EF4-FFF2-40B4-BE49-F238E27FC236}">
                <a16:creationId xmlns:a16="http://schemas.microsoft.com/office/drawing/2014/main" id="{4EF0B105-6AD9-474F-9D62-93D3104921AA}"/>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FA087ECA-86F2-4A89-A8C9-B60A23F74788}"/>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1583063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4029FB-CA20-4092-862C-0B0CAF098EEB}"/>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903789FE-1C37-474C-9BA9-2FB5B133938D}"/>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4" name="Espaço Reservado para Rodapé 3">
            <a:extLst>
              <a:ext uri="{FF2B5EF4-FFF2-40B4-BE49-F238E27FC236}">
                <a16:creationId xmlns:a16="http://schemas.microsoft.com/office/drawing/2014/main" id="{3276479D-DC40-4904-AE01-09F6750A492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835BD414-7149-4EFA-9E88-E643F262A2C8}"/>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2068121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94282B5-F0EC-484E-94DE-6FC0ED322108}"/>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3" name="Espaço Reservado para Rodapé 2">
            <a:extLst>
              <a:ext uri="{FF2B5EF4-FFF2-40B4-BE49-F238E27FC236}">
                <a16:creationId xmlns:a16="http://schemas.microsoft.com/office/drawing/2014/main" id="{1D1CACDA-11B5-42E9-B1B5-DB8341CB50E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8A5E55D-AB45-46DF-8AE2-0C1205EFA99D}"/>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1831038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C7A7AD-431B-4467-BAFD-582259EB51E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F5D9931-EB9D-4E78-84F2-2F0BE22DAF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5DB0AC81-208A-4369-8C3A-9EA47CC65F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47C2B8B-9B34-421F-9A9F-8CDD7E4D1EB5}"/>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6" name="Espaço Reservado para Rodapé 5">
            <a:extLst>
              <a:ext uri="{FF2B5EF4-FFF2-40B4-BE49-F238E27FC236}">
                <a16:creationId xmlns:a16="http://schemas.microsoft.com/office/drawing/2014/main" id="{B1A54EF0-ABBF-4465-B2F5-38BA8ACA7A0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1FBCA731-4491-4B3A-99AB-699EB3D788C2}"/>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4129724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56F31-B22A-4250-8136-5167E2B1403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EDB585C9-BE2B-48B8-B89D-73C91D1A74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9AF16D7A-DB30-43A3-A522-BDFC23385F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4A0BFE0-8E11-4FD2-9B46-6D9AB71D3961}"/>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6" name="Espaço Reservado para Rodapé 5">
            <a:extLst>
              <a:ext uri="{FF2B5EF4-FFF2-40B4-BE49-F238E27FC236}">
                <a16:creationId xmlns:a16="http://schemas.microsoft.com/office/drawing/2014/main" id="{FB9FC571-236E-4664-A3BD-C0D16D5B0B0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C4A77EC-1F32-4A7C-80F9-7FAB306A1C02}"/>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1855917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0B6074-34A8-4EC0-A138-F1B4137DA21B}"/>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F40A88D-6694-4724-B03F-EFA494736977}"/>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55ACC32-2CFF-4FFD-A3E1-D92B39DD2286}"/>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5" name="Espaço Reservado para Rodapé 4">
            <a:extLst>
              <a:ext uri="{FF2B5EF4-FFF2-40B4-BE49-F238E27FC236}">
                <a16:creationId xmlns:a16="http://schemas.microsoft.com/office/drawing/2014/main" id="{E5793D25-EA8A-4651-82EF-B908D9ED8D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7B27A2D-10A5-4475-B19D-C26F7E24B9D4}"/>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715312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96FE67-607C-4F29-B8C8-0DA09A24AADD}"/>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F911120-6615-4C0C-B164-130CD4B1A6A5}"/>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4AA881D-436D-4B2E-81B1-4B51FDCDAB17}"/>
              </a:ext>
            </a:extLst>
          </p:cNvPr>
          <p:cNvSpPr>
            <a:spLocks noGrp="1"/>
          </p:cNvSpPr>
          <p:nvPr>
            <p:ph type="dt" sz="half" idx="10"/>
          </p:nvPr>
        </p:nvSpPr>
        <p:spPr/>
        <p:txBody>
          <a:bodyPr/>
          <a:lstStyle/>
          <a:p>
            <a:fld id="{8064E0B5-E38C-4B1B-8E5D-E567D46C486C}" type="datetimeFigureOut">
              <a:rPr lang="pt-BR" smtClean="0"/>
              <a:t>02/10/2026</a:t>
            </a:fld>
            <a:endParaRPr lang="pt-BR"/>
          </a:p>
        </p:txBody>
      </p:sp>
      <p:sp>
        <p:nvSpPr>
          <p:cNvPr id="5" name="Espaço Reservado para Rodapé 4">
            <a:extLst>
              <a:ext uri="{FF2B5EF4-FFF2-40B4-BE49-F238E27FC236}">
                <a16:creationId xmlns:a16="http://schemas.microsoft.com/office/drawing/2014/main" id="{C0F7374D-5B27-4607-8F11-6274A253B12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91DE068-1501-4F20-9F50-4141F5CE2865}"/>
              </a:ext>
            </a:extLst>
          </p:cNvPr>
          <p:cNvSpPr>
            <a:spLocks noGrp="1"/>
          </p:cNvSpPr>
          <p:nvPr>
            <p:ph type="sldNum" sz="quarter" idx="12"/>
          </p:nvPr>
        </p:nvSpPr>
        <p:spPr/>
        <p:txBody>
          <a:bodyPr/>
          <a:lstStyle/>
          <a:p>
            <a:fld id="{9CC959F2-1506-4E1C-95CB-ADBFB09354B7}" type="slidenum">
              <a:rPr lang="pt-BR" smtClean="0"/>
              <a:t>‹nº›</a:t>
            </a:fld>
            <a:endParaRPr lang="pt-BR"/>
          </a:p>
        </p:txBody>
      </p:sp>
    </p:spTree>
    <p:extLst>
      <p:ext uri="{BB962C8B-B14F-4D97-AF65-F5344CB8AC3E}">
        <p14:creationId xmlns:p14="http://schemas.microsoft.com/office/powerpoint/2010/main" val="676635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3573046-E4DE-4489-9EF3-6FFBE5387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EAE7AB6-8F46-496F-953E-9361CA9292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32836B2-7D84-40A6-BB72-C31D6ED826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64E0B5-E38C-4B1B-8E5D-E567D46C486C}" type="datetimeFigureOut">
              <a:rPr lang="pt-BR" smtClean="0"/>
              <a:t>02/10/2026</a:t>
            </a:fld>
            <a:endParaRPr lang="pt-BR"/>
          </a:p>
        </p:txBody>
      </p:sp>
      <p:sp>
        <p:nvSpPr>
          <p:cNvPr id="5" name="Espaço Reservado para Rodapé 4">
            <a:extLst>
              <a:ext uri="{FF2B5EF4-FFF2-40B4-BE49-F238E27FC236}">
                <a16:creationId xmlns:a16="http://schemas.microsoft.com/office/drawing/2014/main" id="{39507F0D-69EA-4A35-9B7E-E59C2724E6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877F97A4-5789-4E00-AF57-170A4792CF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C959F2-1506-4E1C-95CB-ADBFB09354B7}" type="slidenum">
              <a:rPr lang="pt-BR" smtClean="0"/>
              <a:t>‹nº›</a:t>
            </a:fld>
            <a:endParaRPr lang="pt-BR"/>
          </a:p>
        </p:txBody>
      </p:sp>
    </p:spTree>
    <p:extLst>
      <p:ext uri="{BB962C8B-B14F-4D97-AF65-F5344CB8AC3E}">
        <p14:creationId xmlns:p14="http://schemas.microsoft.com/office/powerpoint/2010/main" val="1396161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A0EE551A-E486-4DED-BF4A-D4C36580E2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4" name="CaixaDeTexto 3">
            <a:extLst>
              <a:ext uri="{FF2B5EF4-FFF2-40B4-BE49-F238E27FC236}">
                <a16:creationId xmlns:a16="http://schemas.microsoft.com/office/drawing/2014/main" id="{A0D9FB51-F1DA-4CDD-B30C-DBF39DC793E5}"/>
              </a:ext>
            </a:extLst>
          </p:cNvPr>
          <p:cNvSpPr txBox="1"/>
          <p:nvPr/>
        </p:nvSpPr>
        <p:spPr>
          <a:xfrm>
            <a:off x="685800" y="1841499"/>
            <a:ext cx="5842000" cy="1905000"/>
          </a:xfrm>
          <a:prstGeom prst="rect">
            <a:avLst/>
          </a:prstGeom>
          <a:noFill/>
        </p:spPr>
        <p:txBody>
          <a:bodyPr vert="horz" wrap="square" lIns="0" tIns="0" rIns="0" bIns="0" rtlCol="0">
            <a:noAutofit/>
          </a:bodyPr>
          <a:lstStyle/>
          <a:p>
            <a:pPr>
              <a:spcAft>
                <a:spcPts val="400"/>
              </a:spcAft>
            </a:pPr>
            <a:r>
              <a:rPr lang="pt-BR" sz="4400" b="1">
                <a:solidFill>
                  <a:srgbClr val="FFFFFF"/>
                </a:solidFill>
                <a:latin typeface="Segoe UI" panose="020B0502040204020203" pitchFamily="34" charset="0"/>
              </a:rPr>
              <a:t>Modbus TCP
na prática</a:t>
            </a:r>
          </a:p>
        </p:txBody>
      </p:sp>
      <p:sp>
        <p:nvSpPr>
          <p:cNvPr id="5" name="CaixaDeTexto 4">
            <a:extLst>
              <a:ext uri="{FF2B5EF4-FFF2-40B4-BE49-F238E27FC236}">
                <a16:creationId xmlns:a16="http://schemas.microsoft.com/office/drawing/2014/main" id="{10C8D083-1B44-457D-B953-4EB46010E7BC}"/>
              </a:ext>
            </a:extLst>
          </p:cNvPr>
          <p:cNvSpPr txBox="1"/>
          <p:nvPr/>
        </p:nvSpPr>
        <p:spPr>
          <a:xfrm>
            <a:off x="711200" y="4152899"/>
            <a:ext cx="5524500" cy="1104900"/>
          </a:xfrm>
          <a:prstGeom prst="rect">
            <a:avLst/>
          </a:prstGeom>
          <a:noFill/>
        </p:spPr>
        <p:txBody>
          <a:bodyPr vert="horz" wrap="square" lIns="0" tIns="0" rIns="0" bIns="0" rtlCol="0">
            <a:noAutofit/>
          </a:bodyPr>
          <a:lstStyle/>
          <a:p>
            <a:pPr>
              <a:spcAft>
                <a:spcPts val="400"/>
              </a:spcAft>
            </a:pPr>
            <a:r>
              <a:rPr lang="pt-BR" sz="2000">
                <a:solidFill>
                  <a:srgbClr val="FFFFFF"/>
                </a:solidFill>
                <a:latin typeface="Segoe UI" panose="020B0502040204020203" pitchFamily="34" charset="0"/>
              </a:rPr>
              <a:t>Guia de operação do software
Telas, configurações e interpretação dos testes</a:t>
            </a:r>
          </a:p>
        </p:txBody>
      </p:sp>
      <p:sp>
        <p:nvSpPr>
          <p:cNvPr id="6" name="CaixaDeTexto 5">
            <a:extLst>
              <a:ext uri="{FF2B5EF4-FFF2-40B4-BE49-F238E27FC236}">
                <a16:creationId xmlns:a16="http://schemas.microsoft.com/office/drawing/2014/main" id="{BF56123B-547A-4EC7-A034-854103841256}"/>
              </a:ext>
            </a:extLst>
          </p:cNvPr>
          <p:cNvSpPr txBox="1"/>
          <p:nvPr/>
        </p:nvSpPr>
        <p:spPr>
          <a:xfrm>
            <a:off x="711200" y="5905499"/>
            <a:ext cx="5334000" cy="317500"/>
          </a:xfrm>
          <a:prstGeom prst="rect">
            <a:avLst/>
          </a:prstGeom>
          <a:noFill/>
        </p:spPr>
        <p:txBody>
          <a:bodyPr vert="horz" wrap="square" lIns="0" tIns="0" rIns="0" bIns="0" rtlCol="0">
            <a:noAutofit/>
          </a:bodyPr>
          <a:lstStyle/>
          <a:p>
            <a:pPr>
              <a:spcAft>
                <a:spcPts val="400"/>
              </a:spcAft>
            </a:pPr>
            <a:r>
              <a:rPr lang="pt-BR" sz="1300" b="1">
                <a:solidFill>
                  <a:srgbClr val="70D0D8"/>
                </a:solidFill>
                <a:latin typeface="Segoe UI" panose="020B0502040204020203" pitchFamily="34" charset="0"/>
              </a:rPr>
              <a:t>03 OUTUBRO 2026</a:t>
            </a:r>
          </a:p>
        </p:txBody>
      </p:sp>
    </p:spTree>
    <p:extLst>
      <p:ext uri="{BB962C8B-B14F-4D97-AF65-F5344CB8AC3E}">
        <p14:creationId xmlns:p14="http://schemas.microsoft.com/office/powerpoint/2010/main" val="996380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12580EE-6327-4C98-A1CA-16B663CA5B5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01 · Navegação</a:t>
            </a:r>
          </a:p>
        </p:txBody>
      </p:sp>
      <p:sp>
        <p:nvSpPr>
          <p:cNvPr id="3" name="CaixaDeTexto 2">
            <a:extLst>
              <a:ext uri="{FF2B5EF4-FFF2-40B4-BE49-F238E27FC236}">
                <a16:creationId xmlns:a16="http://schemas.microsoft.com/office/drawing/2014/main" id="{F4AD6A2E-AE9A-4335-85E6-0DBC8B7027D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Visão geral: onde cada atividade acontece</a:t>
            </a:r>
          </a:p>
        </p:txBody>
      </p:sp>
      <p:sp>
        <p:nvSpPr>
          <p:cNvPr id="4" name="CaixaDeTexto 3">
            <a:extLst>
              <a:ext uri="{FF2B5EF4-FFF2-40B4-BE49-F238E27FC236}">
                <a16:creationId xmlns:a16="http://schemas.microsoft.com/office/drawing/2014/main" id="{A8857635-CDA3-48ED-AB82-9BC32E64431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EF11668-69DC-4CFD-96F7-9844513E1FE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02</a:t>
            </a:r>
          </a:p>
        </p:txBody>
      </p:sp>
      <p:pic>
        <p:nvPicPr>
          <p:cNvPr id="7" name="Imagem 6">
            <a:extLst>
              <a:ext uri="{FF2B5EF4-FFF2-40B4-BE49-F238E27FC236}">
                <a16:creationId xmlns:a16="http://schemas.microsoft.com/office/drawing/2014/main" id="{5AE5FE18-6917-4D56-84CA-2B057AAFE2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3F816016-5D9E-4876-8723-DDCD4A00B47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Painel lateral: seleciona a estação, um alvo ou o servidor local.</a:t>
            </a:r>
          </a:p>
        </p:txBody>
      </p:sp>
      <p:sp>
        <p:nvSpPr>
          <p:cNvPr id="9" name="CaixaDeTexto 8">
            <a:extLst>
              <a:ext uri="{FF2B5EF4-FFF2-40B4-BE49-F238E27FC236}">
                <a16:creationId xmlns:a16="http://schemas.microsoft.com/office/drawing/2014/main" id="{FBC7C295-D53E-41B4-9217-C77BE0846413}"/>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Dispositivo: configuração e mapa do item selecionado.</a:t>
            </a:r>
          </a:p>
        </p:txBody>
      </p:sp>
      <p:sp>
        <p:nvSpPr>
          <p:cNvPr id="10" name="CaixaDeTexto 9">
            <a:extLst>
              <a:ext uri="{FF2B5EF4-FFF2-40B4-BE49-F238E27FC236}">
                <a16:creationId xmlns:a16="http://schemas.microsoft.com/office/drawing/2014/main" id="{80557445-F1C7-4B16-9F4E-E9BA3F0E4B4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Linha do tempo e Avisos: acompanham comunicação e eventos.</a:t>
            </a:r>
          </a:p>
        </p:txBody>
      </p:sp>
      <p:sp>
        <p:nvSpPr>
          <p:cNvPr id="11" name="CaixaDeTexto 10">
            <a:extLst>
              <a:ext uri="{FF2B5EF4-FFF2-40B4-BE49-F238E27FC236}">
                <a16:creationId xmlns:a16="http://schemas.microsoft.com/office/drawing/2014/main" id="{3C33D372-AB66-4F6C-9E6C-F4209BCE2A0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Teste completo: ambiente próprio, com papel e alvos independentes.</a:t>
            </a:r>
          </a:p>
        </p:txBody>
      </p:sp>
      <p:sp>
        <p:nvSpPr>
          <p:cNvPr id="12" name="CaixaDeTexto 11">
            <a:extLst>
              <a:ext uri="{FF2B5EF4-FFF2-40B4-BE49-F238E27FC236}">
                <a16:creationId xmlns:a16="http://schemas.microsoft.com/office/drawing/2014/main" id="{AAABEE53-4D03-4A54-A564-EDCB0ABC039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05952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DD85786-7810-4597-B95E-CA377E2450A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F657DFF7-0944-4DE2-8964-560E29842E2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Estação cliente: lista de servidores-alvo</a:t>
            </a:r>
          </a:p>
        </p:txBody>
      </p:sp>
      <p:sp>
        <p:nvSpPr>
          <p:cNvPr id="4" name="CaixaDeTexto 3">
            <a:extLst>
              <a:ext uri="{FF2B5EF4-FFF2-40B4-BE49-F238E27FC236}">
                <a16:creationId xmlns:a16="http://schemas.microsoft.com/office/drawing/2014/main" id="{34A09AFA-7499-4428-B29E-BB0E20DBCF3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3976269-66F6-45DB-8D78-D271DD16B97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03</a:t>
            </a:r>
          </a:p>
        </p:txBody>
      </p:sp>
      <p:pic>
        <p:nvPicPr>
          <p:cNvPr id="7" name="Imagem 6">
            <a:extLst>
              <a:ext uri="{FF2B5EF4-FFF2-40B4-BE49-F238E27FC236}">
                <a16:creationId xmlns:a16="http://schemas.microsoft.com/office/drawing/2014/main" id="{CC02BC24-2514-4C2A-924F-F3A7DC8132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2FAF3D3E-B520-430D-9C6F-4E568FC65D8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Cada alvo tem nome, IP:porta, Unit ID, mapa e política TCP próprios.</a:t>
            </a:r>
          </a:p>
        </p:txBody>
      </p:sp>
      <p:sp>
        <p:nvSpPr>
          <p:cNvPr id="9" name="CaixaDeTexto 8">
            <a:extLst>
              <a:ext uri="{FF2B5EF4-FFF2-40B4-BE49-F238E27FC236}">
                <a16:creationId xmlns:a16="http://schemas.microsoft.com/office/drawing/2014/main" id="{AE406079-C397-4E7B-913C-60C565AD795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Adicionar e excluir: alteram o cadastro da estação.</a:t>
            </a:r>
          </a:p>
        </p:txBody>
      </p:sp>
      <p:sp>
        <p:nvSpPr>
          <p:cNvPr id="10" name="CaixaDeTexto 9">
            <a:extLst>
              <a:ext uri="{FF2B5EF4-FFF2-40B4-BE49-F238E27FC236}">
                <a16:creationId xmlns:a16="http://schemas.microsoft.com/office/drawing/2014/main" id="{4535628D-12A1-4C57-AC75-DBCDFD1753E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Selecionar um alvo: abre suas configurações e seu mapa.</a:t>
            </a:r>
          </a:p>
        </p:txBody>
      </p:sp>
      <p:sp>
        <p:nvSpPr>
          <p:cNvPr id="11" name="CaixaDeTexto 10">
            <a:extLst>
              <a:ext uri="{FF2B5EF4-FFF2-40B4-BE49-F238E27FC236}">
                <a16:creationId xmlns:a16="http://schemas.microsoft.com/office/drawing/2014/main" id="{77191781-B775-4753-8A9F-026CC5D20DE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Estado: indica a operação daquela sessão, não de todos os alvos.</a:t>
            </a:r>
          </a:p>
        </p:txBody>
      </p:sp>
      <p:sp>
        <p:nvSpPr>
          <p:cNvPr id="12" name="CaixaDeTexto 11">
            <a:extLst>
              <a:ext uri="{FF2B5EF4-FFF2-40B4-BE49-F238E27FC236}">
                <a16:creationId xmlns:a16="http://schemas.microsoft.com/office/drawing/2014/main" id="{31E60B7A-91EF-4D6D-B344-6AA700839DB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566251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AF7ACA6-6430-48AB-8FAA-CEBD33CC226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2E2D1F46-95BD-4099-B9AB-FFAC51306D2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cliente: destino da comunicação</a:t>
            </a:r>
          </a:p>
        </p:txBody>
      </p:sp>
      <p:sp>
        <p:nvSpPr>
          <p:cNvPr id="4" name="CaixaDeTexto 3">
            <a:extLst>
              <a:ext uri="{FF2B5EF4-FFF2-40B4-BE49-F238E27FC236}">
                <a16:creationId xmlns:a16="http://schemas.microsoft.com/office/drawing/2014/main" id="{27F1B4AA-C310-413E-BA2C-4A57F382B7A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6824413-6223-4D66-B4A3-F1AA4CBCC49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04</a:t>
            </a:r>
          </a:p>
        </p:txBody>
      </p:sp>
      <p:pic>
        <p:nvPicPr>
          <p:cNvPr id="7" name="Imagem 6">
            <a:extLst>
              <a:ext uri="{FF2B5EF4-FFF2-40B4-BE49-F238E27FC236}">
                <a16:creationId xmlns:a16="http://schemas.microsoft.com/office/drawing/2014/main" id="{69939567-B13E-4971-9F0E-88A0530C2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153" y="1841500"/>
            <a:ext cx="5431295" cy="4216400"/>
          </a:xfrm>
          <a:prstGeom prst="rect">
            <a:avLst/>
          </a:prstGeom>
        </p:spPr>
      </p:pic>
      <p:sp>
        <p:nvSpPr>
          <p:cNvPr id="8" name="CaixaDeTexto 7">
            <a:extLst>
              <a:ext uri="{FF2B5EF4-FFF2-40B4-BE49-F238E27FC236}">
                <a16:creationId xmlns:a16="http://schemas.microsoft.com/office/drawing/2014/main" id="{DF2632CF-EA2E-493D-85C0-310FFEA41F3B}"/>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IP: servidor remoto. 127.0.0.1 consulta o próprio notebook.</a:t>
            </a:r>
          </a:p>
        </p:txBody>
      </p:sp>
      <p:sp>
        <p:nvSpPr>
          <p:cNvPr id="9" name="CaixaDeTexto 8">
            <a:extLst>
              <a:ext uri="{FF2B5EF4-FFF2-40B4-BE49-F238E27FC236}">
                <a16:creationId xmlns:a16="http://schemas.microsoft.com/office/drawing/2014/main" id="{DE2B5148-C53E-4A6E-943E-73BE677BCA73}"/>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de serviço: porta real do listener. Exemplo: 1502.</a:t>
            </a:r>
          </a:p>
        </p:txBody>
      </p:sp>
      <p:sp>
        <p:nvSpPr>
          <p:cNvPr id="10" name="CaixaDeTexto 9">
            <a:extLst>
              <a:ext uri="{FF2B5EF4-FFF2-40B4-BE49-F238E27FC236}">
                <a16:creationId xmlns:a16="http://schemas.microsoft.com/office/drawing/2014/main" id="{3C62D761-3B4D-4945-BBC2-18734B25598E}"/>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Unit ID: destino lógico no MBAP, conforme a documentação.</a:t>
            </a:r>
          </a:p>
        </p:txBody>
      </p:sp>
      <p:sp>
        <p:nvSpPr>
          <p:cNvPr id="11" name="CaixaDeTexto 10">
            <a:extLst>
              <a:ext uri="{FF2B5EF4-FFF2-40B4-BE49-F238E27FC236}">
                <a16:creationId xmlns:a16="http://schemas.microsoft.com/office/drawing/2014/main" id="{A1872E5A-A31A-417B-B520-D194A88624D8}"/>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confirma os campos. Cancelar mantém a configuração anterior.</a:t>
            </a:r>
          </a:p>
        </p:txBody>
      </p:sp>
      <p:sp>
        <p:nvSpPr>
          <p:cNvPr id="12" name="CaixaDeTexto 11">
            <a:extLst>
              <a:ext uri="{FF2B5EF4-FFF2-40B4-BE49-F238E27FC236}">
                <a16:creationId xmlns:a16="http://schemas.microsoft.com/office/drawing/2014/main" id="{F0AE81BA-F9A0-4E19-8973-46BC61A50658}"/>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540787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1FDFDD4-72E2-4592-B6F6-3E5D8EBFA46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7C18FC80-B928-4D79-9CF9-8A5A6FD1EB1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cliente: ciclo e conexão TCP</a:t>
            </a:r>
          </a:p>
        </p:txBody>
      </p:sp>
      <p:sp>
        <p:nvSpPr>
          <p:cNvPr id="4" name="CaixaDeTexto 3">
            <a:extLst>
              <a:ext uri="{FF2B5EF4-FFF2-40B4-BE49-F238E27FC236}">
                <a16:creationId xmlns:a16="http://schemas.microsoft.com/office/drawing/2014/main" id="{9C4115B2-2E20-4C04-84C2-1BD750B03058}"/>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CE52F4B-1E8E-4AA7-83ED-1FE3544AC11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05</a:t>
            </a:r>
          </a:p>
        </p:txBody>
      </p:sp>
      <p:pic>
        <p:nvPicPr>
          <p:cNvPr id="7" name="Imagem 6">
            <a:extLst>
              <a:ext uri="{FF2B5EF4-FFF2-40B4-BE49-F238E27FC236}">
                <a16:creationId xmlns:a16="http://schemas.microsoft.com/office/drawing/2014/main" id="{65068093-9958-4B0A-B007-F8E0AB8EA1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153" y="1841500"/>
            <a:ext cx="5431295" cy="4216400"/>
          </a:xfrm>
          <a:prstGeom prst="rect">
            <a:avLst/>
          </a:prstGeom>
        </p:spPr>
      </p:pic>
      <p:sp>
        <p:nvSpPr>
          <p:cNvPr id="8" name="CaixaDeTexto 7">
            <a:extLst>
              <a:ext uri="{FF2B5EF4-FFF2-40B4-BE49-F238E27FC236}">
                <a16:creationId xmlns:a16="http://schemas.microsoft.com/office/drawing/2014/main" id="{F86E0024-181D-4446-9072-605B9DECA5BC}"/>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Intervalo de leitura: pausa em ms entre os ciclos de blocos.</a:t>
            </a:r>
          </a:p>
        </p:txBody>
      </p:sp>
      <p:sp>
        <p:nvSpPr>
          <p:cNvPr id="9" name="CaixaDeTexto 8">
            <a:extLst>
              <a:ext uri="{FF2B5EF4-FFF2-40B4-BE49-F238E27FC236}">
                <a16:creationId xmlns:a16="http://schemas.microsoft.com/office/drawing/2014/main" id="{D1AE24FD-D4E4-4294-92E3-B8F8040FEE73}"/>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Marcado: mantém um socket TCP entre as requisições.</a:t>
            </a:r>
          </a:p>
        </p:txBody>
      </p:sp>
      <p:sp>
        <p:nvSpPr>
          <p:cNvPr id="10" name="CaixaDeTexto 9">
            <a:extLst>
              <a:ext uri="{FF2B5EF4-FFF2-40B4-BE49-F238E27FC236}">
                <a16:creationId xmlns:a16="http://schemas.microsoft.com/office/drawing/2014/main" id="{F7C0BCEE-21A5-4956-A39F-0AEE4A8CCD82}"/>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Desmarcado: conecta e desconecta a cada requisição.</a:t>
            </a:r>
          </a:p>
        </p:txBody>
      </p:sp>
      <p:sp>
        <p:nvSpPr>
          <p:cNvPr id="11" name="CaixaDeTexto 10">
            <a:extLst>
              <a:ext uri="{FF2B5EF4-FFF2-40B4-BE49-F238E27FC236}">
                <a16:creationId xmlns:a16="http://schemas.microsoft.com/office/drawing/2014/main" id="{01EA0AE3-0378-4102-813B-15757E260EE8}"/>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Conectar inicia leitura cíclica. Leitura única executa uma rodada.</a:t>
            </a:r>
          </a:p>
        </p:txBody>
      </p:sp>
      <p:sp>
        <p:nvSpPr>
          <p:cNvPr id="12" name="CaixaDeTexto 11">
            <a:extLst>
              <a:ext uri="{FF2B5EF4-FFF2-40B4-BE49-F238E27FC236}">
                <a16:creationId xmlns:a16="http://schemas.microsoft.com/office/drawing/2014/main" id="{92D33352-EB0A-4B05-A92A-772C1C9933BB}"/>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4224104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CB5C76C-2ECD-40EE-8952-67E6FBEFFD6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02 · Conexões</a:t>
            </a:r>
          </a:p>
        </p:txBody>
      </p:sp>
      <p:sp>
        <p:nvSpPr>
          <p:cNvPr id="3" name="CaixaDeTexto 2">
            <a:extLst>
              <a:ext uri="{FF2B5EF4-FFF2-40B4-BE49-F238E27FC236}">
                <a16:creationId xmlns:a16="http://schemas.microsoft.com/office/drawing/2014/main" id="{46358398-9423-4E20-B317-4DC2BFA8FC5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Configurar servidor: serviço local de simulação</a:t>
            </a:r>
          </a:p>
        </p:txBody>
      </p:sp>
      <p:sp>
        <p:nvSpPr>
          <p:cNvPr id="4" name="CaixaDeTexto 3">
            <a:extLst>
              <a:ext uri="{FF2B5EF4-FFF2-40B4-BE49-F238E27FC236}">
                <a16:creationId xmlns:a16="http://schemas.microsoft.com/office/drawing/2014/main" id="{224940C2-1F36-4C85-BDBE-92F815E56CE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EEE9C745-0AAC-42E3-A04A-C91482BC2E2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06</a:t>
            </a:r>
          </a:p>
        </p:txBody>
      </p:sp>
      <p:pic>
        <p:nvPicPr>
          <p:cNvPr id="7" name="Imagem 6">
            <a:extLst>
              <a:ext uri="{FF2B5EF4-FFF2-40B4-BE49-F238E27FC236}">
                <a16:creationId xmlns:a16="http://schemas.microsoft.com/office/drawing/2014/main" id="{95E746CC-6A64-4B2F-8CD5-355B7F2B7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69502"/>
            <a:ext cx="6350000" cy="3960395"/>
          </a:xfrm>
          <a:prstGeom prst="rect">
            <a:avLst/>
          </a:prstGeom>
        </p:spPr>
      </p:pic>
      <p:sp>
        <p:nvSpPr>
          <p:cNvPr id="8" name="CaixaDeTexto 7">
            <a:extLst>
              <a:ext uri="{FF2B5EF4-FFF2-40B4-BE49-F238E27FC236}">
                <a16:creationId xmlns:a16="http://schemas.microsoft.com/office/drawing/2014/main" id="{A26EAB8E-DCE9-4EF9-BB7B-B1961DC7D805}"/>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de escuta: IP local onde o serviço aceitará conexões.</a:t>
            </a:r>
          </a:p>
        </p:txBody>
      </p:sp>
      <p:sp>
        <p:nvSpPr>
          <p:cNvPr id="9" name="CaixaDeTexto 8">
            <a:extLst>
              <a:ext uri="{FF2B5EF4-FFF2-40B4-BE49-F238E27FC236}">
                <a16:creationId xmlns:a16="http://schemas.microsoft.com/office/drawing/2014/main" id="{DEE71014-C110-439A-9839-E1EB822CC8CD}"/>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0.0.0.0: escuta nas interfaces locais disponíveis.</a:t>
            </a:r>
          </a:p>
        </p:txBody>
      </p:sp>
      <p:sp>
        <p:nvSpPr>
          <p:cNvPr id="10" name="CaixaDeTexto 9">
            <a:extLst>
              <a:ext uri="{FF2B5EF4-FFF2-40B4-BE49-F238E27FC236}">
                <a16:creationId xmlns:a16="http://schemas.microsoft.com/office/drawing/2014/main" id="{8C8B8560-B78F-40D5-AA32-F1FDAB91B29C}"/>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e Unit ID: parâmetros que os clientes deverão utilizar.</a:t>
            </a:r>
          </a:p>
        </p:txBody>
      </p:sp>
      <p:sp>
        <p:nvSpPr>
          <p:cNvPr id="11" name="CaixaDeTexto 10">
            <a:extLst>
              <a:ext uri="{FF2B5EF4-FFF2-40B4-BE49-F238E27FC236}">
                <a16:creationId xmlns:a16="http://schemas.microsoft.com/office/drawing/2014/main" id="{0EE012EC-A139-48AD-B963-4027205277BB}"/>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Iniciar servidor abre o listener. Parar servidor encerra o serviço.</a:t>
            </a:r>
          </a:p>
        </p:txBody>
      </p:sp>
      <p:sp>
        <p:nvSpPr>
          <p:cNvPr id="12" name="CaixaDeTexto 11">
            <a:extLst>
              <a:ext uri="{FF2B5EF4-FFF2-40B4-BE49-F238E27FC236}">
                <a16:creationId xmlns:a16="http://schemas.microsoft.com/office/drawing/2014/main" id="{73EE78D0-737B-4B05-9052-C1526CE01D61}"/>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3906093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97768F2-18BE-41B1-AD88-A906536E2EB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4CC2A675-5F0F-4126-A856-C55730B7AB2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 editar o cadastro selecionado</a:t>
            </a:r>
          </a:p>
        </p:txBody>
      </p:sp>
      <p:sp>
        <p:nvSpPr>
          <p:cNvPr id="4" name="CaixaDeTexto 3">
            <a:extLst>
              <a:ext uri="{FF2B5EF4-FFF2-40B4-BE49-F238E27FC236}">
                <a16:creationId xmlns:a16="http://schemas.microsoft.com/office/drawing/2014/main" id="{2B4EFF6F-D141-4748-8034-219064A97B6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9CCEFB4-13F9-4DC6-9FF3-320ED0221EC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07</a:t>
            </a:r>
          </a:p>
        </p:txBody>
      </p:sp>
      <p:pic>
        <p:nvPicPr>
          <p:cNvPr id="7" name="Imagem 6">
            <a:extLst>
              <a:ext uri="{FF2B5EF4-FFF2-40B4-BE49-F238E27FC236}">
                <a16:creationId xmlns:a16="http://schemas.microsoft.com/office/drawing/2014/main" id="{8ED6632F-4752-4EBB-A594-FB29CCD362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333" y="1765300"/>
            <a:ext cx="6477335" cy="3073400"/>
          </a:xfrm>
          <a:prstGeom prst="rect">
            <a:avLst/>
          </a:prstGeom>
        </p:spPr>
      </p:pic>
      <p:sp>
        <p:nvSpPr>
          <p:cNvPr id="8" name="CaixaDeTexto 7">
            <a:extLst>
              <a:ext uri="{FF2B5EF4-FFF2-40B4-BE49-F238E27FC236}">
                <a16:creationId xmlns:a16="http://schemas.microsoft.com/office/drawing/2014/main" id="{FC64B3A3-E375-44FF-91B3-4338607BB62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identificação local para facilitar a operação.</a:t>
            </a:r>
          </a:p>
        </p:txBody>
      </p:sp>
      <p:sp>
        <p:nvSpPr>
          <p:cNvPr id="9" name="CaixaDeTexto 8">
            <a:extLst>
              <a:ext uri="{FF2B5EF4-FFF2-40B4-BE49-F238E27FC236}">
                <a16:creationId xmlns:a16="http://schemas.microsoft.com/office/drawing/2014/main" id="{646119C1-1ABE-4E2A-9822-899505F5D8E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porta e ID: endpoint e unidade deste alvo.</a:t>
            </a:r>
          </a:p>
        </p:txBody>
      </p:sp>
      <p:sp>
        <p:nvSpPr>
          <p:cNvPr id="10" name="CaixaDeTexto 9">
            <a:extLst>
              <a:ext uri="{FF2B5EF4-FFF2-40B4-BE49-F238E27FC236}">
                <a16:creationId xmlns:a16="http://schemas.microsoft.com/office/drawing/2014/main" id="{DD93AC21-B16E-446C-98AE-6290F7747C5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configuração: valida e salva os campos editados.</a:t>
            </a:r>
          </a:p>
        </p:txBody>
      </p:sp>
      <p:sp>
        <p:nvSpPr>
          <p:cNvPr id="11" name="CaixaDeTexto 10">
            <a:extLst>
              <a:ext uri="{FF2B5EF4-FFF2-40B4-BE49-F238E27FC236}">
                <a16:creationId xmlns:a16="http://schemas.microsoft.com/office/drawing/2014/main" id="{A10CE924-54B6-4D66-B780-71CA197FA84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Descartar alterações: restaura os valores antes da edição.</a:t>
            </a:r>
          </a:p>
        </p:txBody>
      </p:sp>
      <p:sp>
        <p:nvSpPr>
          <p:cNvPr id="12" name="CaixaDeTexto 11">
            <a:extLst>
              <a:ext uri="{FF2B5EF4-FFF2-40B4-BE49-F238E27FC236}">
                <a16:creationId xmlns:a16="http://schemas.microsoft.com/office/drawing/2014/main" id="{41A587DB-220F-4418-85CE-43A85F53857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220890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B00A6DC-CB11-4EF9-9E25-5BF3B34E996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9C11B529-EAA8-4222-8971-ADB8D2A8099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Blocos do cliente: o que será lido</a:t>
            </a:r>
          </a:p>
        </p:txBody>
      </p:sp>
      <p:sp>
        <p:nvSpPr>
          <p:cNvPr id="4" name="CaixaDeTexto 3">
            <a:extLst>
              <a:ext uri="{FF2B5EF4-FFF2-40B4-BE49-F238E27FC236}">
                <a16:creationId xmlns:a16="http://schemas.microsoft.com/office/drawing/2014/main" id="{EFFA029F-0E86-4284-92C8-E5D5C8A8F8C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D768707-D2F3-4431-B777-C1BCA43DA40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08</a:t>
            </a:r>
          </a:p>
        </p:txBody>
      </p:sp>
      <p:pic>
        <p:nvPicPr>
          <p:cNvPr id="7" name="Imagem 6">
            <a:extLst>
              <a:ext uri="{FF2B5EF4-FFF2-40B4-BE49-F238E27FC236}">
                <a16:creationId xmlns:a16="http://schemas.microsoft.com/office/drawing/2014/main" id="{75C88134-8FA1-4727-92F0-FE54BE5FB4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94252"/>
            <a:ext cx="10820400" cy="2615495"/>
          </a:xfrm>
          <a:prstGeom prst="rect">
            <a:avLst/>
          </a:prstGeom>
        </p:spPr>
      </p:pic>
      <p:sp>
        <p:nvSpPr>
          <p:cNvPr id="8" name="CaixaDeTexto 7">
            <a:extLst>
              <a:ext uri="{FF2B5EF4-FFF2-40B4-BE49-F238E27FC236}">
                <a16:creationId xmlns:a16="http://schemas.microsoft.com/office/drawing/2014/main" id="{217A599F-FB7B-44A9-8B3C-95C621DBA54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Ativo: inclui o bloco no ciclo de leitura.</a:t>
            </a:r>
          </a:p>
        </p:txBody>
      </p:sp>
      <p:sp>
        <p:nvSpPr>
          <p:cNvPr id="9" name="CaixaDeTexto 8">
            <a:extLst>
              <a:ext uri="{FF2B5EF4-FFF2-40B4-BE49-F238E27FC236}">
                <a16:creationId xmlns:a16="http://schemas.microsoft.com/office/drawing/2014/main" id="{76A6710D-94B4-4BB2-9578-A6910CB68D3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rótulo local. FC: define COIL, DI, HR ou IR.</a:t>
            </a:r>
          </a:p>
        </p:txBody>
      </p:sp>
      <p:sp>
        <p:nvSpPr>
          <p:cNvPr id="10" name="CaixaDeTexto 9">
            <a:extLst>
              <a:ext uri="{FF2B5EF4-FFF2-40B4-BE49-F238E27FC236}">
                <a16:creationId xmlns:a16="http://schemas.microsoft.com/office/drawing/2014/main" id="{6A483654-A726-428C-B137-4D0A0952360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offset base zero. Qtd: pontos na requisição.</a:t>
            </a:r>
          </a:p>
        </p:txBody>
      </p:sp>
      <p:sp>
        <p:nvSpPr>
          <p:cNvPr id="11" name="CaixaDeTexto 10">
            <a:extLst>
              <a:ext uri="{FF2B5EF4-FFF2-40B4-BE49-F238E27FC236}">
                <a16:creationId xmlns:a16="http://schemas.microsoft.com/office/drawing/2014/main" id="{12519464-8704-4AE9-AEA8-3B664A88957A}"/>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Adicionar e remover linha: modificam o mapa de leitura.</a:t>
            </a:r>
          </a:p>
        </p:txBody>
      </p:sp>
      <p:sp>
        <p:nvSpPr>
          <p:cNvPr id="12" name="CaixaDeTexto 11">
            <a:extLst>
              <a:ext uri="{FF2B5EF4-FFF2-40B4-BE49-F238E27FC236}">
                <a16:creationId xmlns:a16="http://schemas.microsoft.com/office/drawing/2014/main" id="{31514A73-CC85-4316-955E-06ABF95CDD9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113494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A8CED4B-43D1-448A-9F00-9FCB60E5C68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32876F14-DAC2-441E-BDDB-D68DD7CD8B5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Blocos do cliente: retorno e atualidade</a:t>
            </a:r>
          </a:p>
        </p:txBody>
      </p:sp>
      <p:sp>
        <p:nvSpPr>
          <p:cNvPr id="4" name="CaixaDeTexto 3">
            <a:extLst>
              <a:ext uri="{FF2B5EF4-FFF2-40B4-BE49-F238E27FC236}">
                <a16:creationId xmlns:a16="http://schemas.microsoft.com/office/drawing/2014/main" id="{AFB16DB5-E863-429B-8E7C-DE9906A2BF8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E164623-C81E-4065-B69D-5FF372FE444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09</a:t>
            </a:r>
          </a:p>
        </p:txBody>
      </p:sp>
      <p:pic>
        <p:nvPicPr>
          <p:cNvPr id="7" name="Imagem 6">
            <a:extLst>
              <a:ext uri="{FF2B5EF4-FFF2-40B4-BE49-F238E27FC236}">
                <a16:creationId xmlns:a16="http://schemas.microsoft.com/office/drawing/2014/main" id="{530F5A34-9D7C-4B09-9394-ED7C1F30ED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94252"/>
            <a:ext cx="10820400" cy="2615495"/>
          </a:xfrm>
          <a:prstGeom prst="rect">
            <a:avLst/>
          </a:prstGeom>
        </p:spPr>
      </p:pic>
      <p:sp>
        <p:nvSpPr>
          <p:cNvPr id="8" name="CaixaDeTexto 7">
            <a:extLst>
              <a:ext uri="{FF2B5EF4-FFF2-40B4-BE49-F238E27FC236}">
                <a16:creationId xmlns:a16="http://schemas.microsoft.com/office/drawing/2014/main" id="{264B2BAE-5839-4ED0-84E2-DBE917A2363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Último valor: sequência de amostras do bloco, na ordem dos offsets.</a:t>
            </a:r>
          </a:p>
        </p:txBody>
      </p:sp>
      <p:sp>
        <p:nvSpPr>
          <p:cNvPr id="9" name="CaixaDeTexto 8">
            <a:extLst>
              <a:ext uri="{FF2B5EF4-FFF2-40B4-BE49-F238E27FC236}">
                <a16:creationId xmlns:a16="http://schemas.microsoft.com/office/drawing/2014/main" id="{D0BAABF0-7F71-42AA-975A-4B6DD61CAAA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Status: resultado da leitura, inclusive exceção ou falha.</a:t>
            </a:r>
          </a:p>
        </p:txBody>
      </p:sp>
      <p:sp>
        <p:nvSpPr>
          <p:cNvPr id="10" name="CaixaDeTexto 9">
            <a:extLst>
              <a:ext uri="{FF2B5EF4-FFF2-40B4-BE49-F238E27FC236}">
                <a16:creationId xmlns:a16="http://schemas.microsoft.com/office/drawing/2014/main" id="{33CA4245-0F58-45D9-9DD5-9E518118812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Hora: instante do resultado mais recente.</a:t>
            </a:r>
          </a:p>
        </p:txBody>
      </p:sp>
      <p:sp>
        <p:nvSpPr>
          <p:cNvPr id="11" name="CaixaDeTexto 10">
            <a:extLst>
              <a:ext uri="{FF2B5EF4-FFF2-40B4-BE49-F238E27FC236}">
                <a16:creationId xmlns:a16="http://schemas.microsoft.com/office/drawing/2014/main" id="{36BC3D17-7C72-4B04-978B-7BA9B8CD064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Alterar função ou faixa reconstrói o mapa e invalida dados antigos.</a:t>
            </a:r>
          </a:p>
        </p:txBody>
      </p:sp>
      <p:sp>
        <p:nvSpPr>
          <p:cNvPr id="12" name="CaixaDeTexto 11">
            <a:extLst>
              <a:ext uri="{FF2B5EF4-FFF2-40B4-BE49-F238E27FC236}">
                <a16:creationId xmlns:a16="http://schemas.microsoft.com/office/drawing/2014/main" id="{C9EFC4C5-F50F-442F-AAD5-B53BCC479A4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002758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AF23187-463E-49B5-9919-7D97662EC9E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2172DC04-C547-47C5-8848-4760CF8C778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 comunicação: pontos por área</a:t>
            </a:r>
          </a:p>
        </p:txBody>
      </p:sp>
      <p:sp>
        <p:nvSpPr>
          <p:cNvPr id="4" name="CaixaDeTexto 3">
            <a:extLst>
              <a:ext uri="{FF2B5EF4-FFF2-40B4-BE49-F238E27FC236}">
                <a16:creationId xmlns:a16="http://schemas.microsoft.com/office/drawing/2014/main" id="{4DD0B21D-1003-4B75-A6F3-74A5AD2BBB3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FF11B39-F099-41F1-BB71-3D370E05316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10</a:t>
            </a:r>
          </a:p>
        </p:txBody>
      </p:sp>
      <p:pic>
        <p:nvPicPr>
          <p:cNvPr id="7" name="Imagem 6">
            <a:extLst>
              <a:ext uri="{FF2B5EF4-FFF2-40B4-BE49-F238E27FC236}">
                <a16:creationId xmlns:a16="http://schemas.microsoft.com/office/drawing/2014/main" id="{8690430A-F0D1-492B-A9E4-28E3B76D75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504" y="1765300"/>
            <a:ext cx="10402993" cy="3073400"/>
          </a:xfrm>
          <a:prstGeom prst="rect">
            <a:avLst/>
          </a:prstGeom>
        </p:spPr>
      </p:pic>
      <p:sp>
        <p:nvSpPr>
          <p:cNvPr id="8" name="CaixaDeTexto 7">
            <a:extLst>
              <a:ext uri="{FF2B5EF4-FFF2-40B4-BE49-F238E27FC236}">
                <a16:creationId xmlns:a16="http://schemas.microsoft.com/office/drawing/2014/main" id="{3FD886C8-E935-4BA1-B6E6-249C886284B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HR, IR, COIL e DISCRETE: separam as áreas de dados.</a:t>
            </a:r>
          </a:p>
        </p:txBody>
      </p:sp>
      <p:sp>
        <p:nvSpPr>
          <p:cNvPr id="9" name="CaixaDeTexto 8">
            <a:extLst>
              <a:ext uri="{FF2B5EF4-FFF2-40B4-BE49-F238E27FC236}">
                <a16:creationId xmlns:a16="http://schemas.microsoft.com/office/drawing/2014/main" id="{2A69FD95-ECDB-4C5E-B38E-05E02801CED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Linha e endereço: mostram qual bloco originou o ponto.</a:t>
            </a:r>
          </a:p>
        </p:txBody>
      </p:sp>
      <p:sp>
        <p:nvSpPr>
          <p:cNvPr id="10" name="CaixaDeTexto 9">
            <a:extLst>
              <a:ext uri="{FF2B5EF4-FFF2-40B4-BE49-F238E27FC236}">
                <a16:creationId xmlns:a16="http://schemas.microsoft.com/office/drawing/2014/main" id="{E10D1BE5-C1A8-4664-9F7F-62C40B3F66A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qualidade e hora: precisam ser avaliados em conjunto.</a:t>
            </a:r>
          </a:p>
        </p:txBody>
      </p:sp>
      <p:sp>
        <p:nvSpPr>
          <p:cNvPr id="11" name="CaixaDeTexto 10">
            <a:extLst>
              <a:ext uri="{FF2B5EF4-FFF2-40B4-BE49-F238E27FC236}">
                <a16:creationId xmlns:a16="http://schemas.microsoft.com/office/drawing/2014/main" id="{BEF4D1B6-FD4C-452A-A301-03306273CD8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Duplo clique: abre escrita manual apenas quando permitida.</a:t>
            </a:r>
          </a:p>
        </p:txBody>
      </p:sp>
      <p:sp>
        <p:nvSpPr>
          <p:cNvPr id="12" name="CaixaDeTexto 11">
            <a:extLst>
              <a:ext uri="{FF2B5EF4-FFF2-40B4-BE49-F238E27FC236}">
                <a16:creationId xmlns:a16="http://schemas.microsoft.com/office/drawing/2014/main" id="{1603F2E5-368A-44F8-A9AD-6F438BA6847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432645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501B7D9-186E-432F-8781-92940611F7B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6469DD05-A47F-4563-9C80-89D58ABD685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 endereços: visão visual e paginação</a:t>
            </a:r>
          </a:p>
        </p:txBody>
      </p:sp>
      <p:sp>
        <p:nvSpPr>
          <p:cNvPr id="4" name="CaixaDeTexto 3">
            <a:extLst>
              <a:ext uri="{FF2B5EF4-FFF2-40B4-BE49-F238E27FC236}">
                <a16:creationId xmlns:a16="http://schemas.microsoft.com/office/drawing/2014/main" id="{D7A59DE2-BF6B-4B8B-8CCC-0E7FBDF69D1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8E972A5-8722-4C7A-9F5A-917DDC316E7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11</a:t>
            </a:r>
          </a:p>
        </p:txBody>
      </p:sp>
      <p:pic>
        <p:nvPicPr>
          <p:cNvPr id="7" name="Imagem 6">
            <a:extLst>
              <a:ext uri="{FF2B5EF4-FFF2-40B4-BE49-F238E27FC236}">
                <a16:creationId xmlns:a16="http://schemas.microsoft.com/office/drawing/2014/main" id="{52ED2CDD-71C6-4B4D-8480-2E13ABFEE8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9110" y="1765300"/>
            <a:ext cx="8173781" cy="3073400"/>
          </a:xfrm>
          <a:prstGeom prst="rect">
            <a:avLst/>
          </a:prstGeom>
        </p:spPr>
      </p:pic>
      <p:sp>
        <p:nvSpPr>
          <p:cNvPr id="8" name="CaixaDeTexto 7">
            <a:extLst>
              <a:ext uri="{FF2B5EF4-FFF2-40B4-BE49-F238E27FC236}">
                <a16:creationId xmlns:a16="http://schemas.microsoft.com/office/drawing/2014/main" id="{A68488E8-3273-4B42-896C-08129C364D4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Área: escolhe o tipo de dado que será apresentado.</a:t>
            </a:r>
          </a:p>
        </p:txBody>
      </p:sp>
      <p:sp>
        <p:nvSpPr>
          <p:cNvPr id="9" name="CaixaDeTexto 8">
            <a:extLst>
              <a:ext uri="{FF2B5EF4-FFF2-40B4-BE49-F238E27FC236}">
                <a16:creationId xmlns:a16="http://schemas.microsoft.com/office/drawing/2014/main" id="{19195D0F-FC66-43B0-A72B-908ED882AC9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Cada posição mostra endereço, valor e estado da amostra.</a:t>
            </a:r>
          </a:p>
        </p:txBody>
      </p:sp>
      <p:sp>
        <p:nvSpPr>
          <p:cNvPr id="10" name="CaixaDeTexto 9">
            <a:extLst>
              <a:ext uri="{FF2B5EF4-FFF2-40B4-BE49-F238E27FC236}">
                <a16:creationId xmlns:a16="http://schemas.microsoft.com/office/drawing/2014/main" id="{F9057287-8A23-440B-9C82-EC3A1B03BA1D}"/>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Localização e páginas: ajudam a navegar em mapas grandes.</a:t>
            </a:r>
          </a:p>
        </p:txBody>
      </p:sp>
      <p:sp>
        <p:nvSpPr>
          <p:cNvPr id="11" name="CaixaDeTexto 10">
            <a:extLst>
              <a:ext uri="{FF2B5EF4-FFF2-40B4-BE49-F238E27FC236}">
                <a16:creationId xmlns:a16="http://schemas.microsoft.com/office/drawing/2014/main" id="{32B55953-C26A-439B-87E4-439ED9C2458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Ativar um ponto: usa a mesma regra de escrita do mapa em tabela.</a:t>
            </a:r>
          </a:p>
        </p:txBody>
      </p:sp>
      <p:sp>
        <p:nvSpPr>
          <p:cNvPr id="12" name="CaixaDeTexto 11">
            <a:extLst>
              <a:ext uri="{FF2B5EF4-FFF2-40B4-BE49-F238E27FC236}">
                <a16:creationId xmlns:a16="http://schemas.microsoft.com/office/drawing/2014/main" id="{A75AFD8B-CC50-4170-AF28-C70F87E6208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051624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9192486-8C45-4FCA-BAA9-66421ACD3F2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E2871119-E73D-44FF-B91C-CD7F3139090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Faixas do servidor: regiões disponibilizadas</a:t>
            </a:r>
          </a:p>
        </p:txBody>
      </p:sp>
      <p:sp>
        <p:nvSpPr>
          <p:cNvPr id="4" name="CaixaDeTexto 3">
            <a:extLst>
              <a:ext uri="{FF2B5EF4-FFF2-40B4-BE49-F238E27FC236}">
                <a16:creationId xmlns:a16="http://schemas.microsoft.com/office/drawing/2014/main" id="{AA0C3D6F-6EBE-4D16-A897-739D2242B63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912BC7A-A385-48E7-8A7A-F18623A6FE0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12</a:t>
            </a:r>
          </a:p>
        </p:txBody>
      </p:sp>
      <p:pic>
        <p:nvPicPr>
          <p:cNvPr id="7" name="Imagem 6">
            <a:extLst>
              <a:ext uri="{FF2B5EF4-FFF2-40B4-BE49-F238E27FC236}">
                <a16:creationId xmlns:a16="http://schemas.microsoft.com/office/drawing/2014/main" id="{90D09C34-1684-45AB-9AB7-760E95114D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00512"/>
            <a:ext cx="10820400" cy="3002976"/>
          </a:xfrm>
          <a:prstGeom prst="rect">
            <a:avLst/>
          </a:prstGeom>
        </p:spPr>
      </p:pic>
      <p:sp>
        <p:nvSpPr>
          <p:cNvPr id="8" name="CaixaDeTexto 7">
            <a:extLst>
              <a:ext uri="{FF2B5EF4-FFF2-40B4-BE49-F238E27FC236}">
                <a16:creationId xmlns:a16="http://schemas.microsoft.com/office/drawing/2014/main" id="{B2EE7F61-B99B-457D-BF59-2656FA34AE1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Ativo e Tipo: escolhem as regiões presentes no mapa local.</a:t>
            </a:r>
          </a:p>
        </p:txBody>
      </p:sp>
      <p:sp>
        <p:nvSpPr>
          <p:cNvPr id="9" name="CaixaDeTexto 8">
            <a:extLst>
              <a:ext uri="{FF2B5EF4-FFF2-40B4-BE49-F238E27FC236}">
                <a16:creationId xmlns:a16="http://schemas.microsoft.com/office/drawing/2014/main" id="{F793C13D-F372-4BBA-91C1-BAC1233B6BD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Prefixo: identifica os pontos. Início e Qtd: definem o range.</a:t>
            </a:r>
          </a:p>
        </p:txBody>
      </p:sp>
      <p:sp>
        <p:nvSpPr>
          <p:cNvPr id="10" name="CaixaDeTexto 9">
            <a:extLst>
              <a:ext uri="{FF2B5EF4-FFF2-40B4-BE49-F238E27FC236}">
                <a16:creationId xmlns:a16="http://schemas.microsoft.com/office/drawing/2014/main" id="{4FD73432-8B26-48B4-A4A3-284FE101FF2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inicial: conteúdo de partida. Inc: incrementa por posição.</a:t>
            </a:r>
          </a:p>
        </p:txBody>
      </p:sp>
      <p:sp>
        <p:nvSpPr>
          <p:cNvPr id="11" name="CaixaDeTexto 10">
            <a:extLst>
              <a:ext uri="{FF2B5EF4-FFF2-40B4-BE49-F238E27FC236}">
                <a16:creationId xmlns:a16="http://schemas.microsoft.com/office/drawing/2014/main" id="{857EDEEA-0B84-434D-B8EB-CED470E3195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R/W: permite escrita remota em COIL e HR.</a:t>
            </a:r>
          </a:p>
        </p:txBody>
      </p:sp>
      <p:sp>
        <p:nvSpPr>
          <p:cNvPr id="12" name="CaixaDeTexto 11">
            <a:extLst>
              <a:ext uri="{FF2B5EF4-FFF2-40B4-BE49-F238E27FC236}">
                <a16:creationId xmlns:a16="http://schemas.microsoft.com/office/drawing/2014/main" id="{7819EED8-CB71-46AB-8897-56A1086E76A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036502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FB7F496-C04E-4259-9EA1-E8671C02D87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B5F431BD-9F3C-4D7D-B950-D6AE0A7A837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Servidor: aplicar mapa e editar valores</a:t>
            </a:r>
          </a:p>
        </p:txBody>
      </p:sp>
      <p:sp>
        <p:nvSpPr>
          <p:cNvPr id="4" name="CaixaDeTexto 3">
            <a:extLst>
              <a:ext uri="{FF2B5EF4-FFF2-40B4-BE49-F238E27FC236}">
                <a16:creationId xmlns:a16="http://schemas.microsoft.com/office/drawing/2014/main" id="{250C0E9B-F4E6-46D6-90F1-353E38965254}"/>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2409ED0-1BDF-4A68-8389-5AC828C826B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13</a:t>
            </a:r>
          </a:p>
        </p:txBody>
      </p:sp>
      <p:pic>
        <p:nvPicPr>
          <p:cNvPr id="7" name="Imagem 6">
            <a:extLst>
              <a:ext uri="{FF2B5EF4-FFF2-40B4-BE49-F238E27FC236}">
                <a16:creationId xmlns:a16="http://schemas.microsoft.com/office/drawing/2014/main" id="{ECCB3923-47E4-4D61-A327-1E6B67ED25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6827" y="1765300"/>
            <a:ext cx="9278346" cy="3073400"/>
          </a:xfrm>
          <a:prstGeom prst="rect">
            <a:avLst/>
          </a:prstGeom>
        </p:spPr>
      </p:pic>
      <p:sp>
        <p:nvSpPr>
          <p:cNvPr id="8" name="CaixaDeTexto 7">
            <a:extLst>
              <a:ext uri="{FF2B5EF4-FFF2-40B4-BE49-F238E27FC236}">
                <a16:creationId xmlns:a16="http://schemas.microsoft.com/office/drawing/2014/main" id="{214543C7-59A7-47CD-B81C-FE7EA79D681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mapa recompõe a memória a partir das faixas habilitadas.</a:t>
            </a:r>
          </a:p>
        </p:txBody>
      </p:sp>
      <p:sp>
        <p:nvSpPr>
          <p:cNvPr id="9" name="CaixaDeTexto 8">
            <a:extLst>
              <a:ext uri="{FF2B5EF4-FFF2-40B4-BE49-F238E27FC236}">
                <a16:creationId xmlns:a16="http://schemas.microsoft.com/office/drawing/2014/main" id="{B8F5EDC7-D4C8-4C0B-9F27-ECF40A6A71D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Tipo, endereço e nome: identificam o ponto efetivo.</a:t>
            </a:r>
          </a:p>
        </p:txBody>
      </p:sp>
      <p:sp>
        <p:nvSpPr>
          <p:cNvPr id="10" name="CaixaDeTexto 9">
            <a:extLst>
              <a:ext uri="{FF2B5EF4-FFF2-40B4-BE49-F238E27FC236}">
                <a16:creationId xmlns:a16="http://schemas.microsoft.com/office/drawing/2014/main" id="{381C09DF-AB3C-4FCA-8CC7-5E84A56CE92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conteúdo que o simulador retorna aos clientes.</a:t>
            </a:r>
          </a:p>
        </p:txBody>
      </p:sp>
      <p:sp>
        <p:nvSpPr>
          <p:cNvPr id="11" name="CaixaDeTexto 10">
            <a:extLst>
              <a:ext uri="{FF2B5EF4-FFF2-40B4-BE49-F238E27FC236}">
                <a16:creationId xmlns:a16="http://schemas.microsoft.com/office/drawing/2014/main" id="{5CE4A729-5309-40CE-A97D-A30BD45140B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Acesso e atualizado: permissão remota e horário da alteração.</a:t>
            </a:r>
          </a:p>
        </p:txBody>
      </p:sp>
      <p:sp>
        <p:nvSpPr>
          <p:cNvPr id="12" name="CaixaDeTexto 11">
            <a:extLst>
              <a:ext uri="{FF2B5EF4-FFF2-40B4-BE49-F238E27FC236}">
                <a16:creationId xmlns:a16="http://schemas.microsoft.com/office/drawing/2014/main" id="{AE805667-B81F-436B-8D60-7D67CDA4B7D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5753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BFCAB04-4204-4693-9557-E1E5189AAE6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03 · Dispositivo e mapa</a:t>
            </a:r>
          </a:p>
        </p:txBody>
      </p:sp>
      <p:sp>
        <p:nvSpPr>
          <p:cNvPr id="3" name="CaixaDeTexto 2">
            <a:extLst>
              <a:ext uri="{FF2B5EF4-FFF2-40B4-BE49-F238E27FC236}">
                <a16:creationId xmlns:a16="http://schemas.microsoft.com/office/drawing/2014/main" id="{4A8A3028-DFFA-4E54-8D4E-18DE86F2C87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Popup de escrita: operação manual controlada</a:t>
            </a:r>
          </a:p>
        </p:txBody>
      </p:sp>
      <p:sp>
        <p:nvSpPr>
          <p:cNvPr id="4" name="CaixaDeTexto 3">
            <a:extLst>
              <a:ext uri="{FF2B5EF4-FFF2-40B4-BE49-F238E27FC236}">
                <a16:creationId xmlns:a16="http://schemas.microsoft.com/office/drawing/2014/main" id="{657C1BB4-04F8-4E50-89F1-91C2D121663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0F69942-2800-4FBD-86F4-698B53D7B09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14</a:t>
            </a:r>
          </a:p>
        </p:txBody>
      </p:sp>
      <p:pic>
        <p:nvPicPr>
          <p:cNvPr id="7" name="Imagem 6">
            <a:extLst>
              <a:ext uri="{FF2B5EF4-FFF2-40B4-BE49-F238E27FC236}">
                <a16:creationId xmlns:a16="http://schemas.microsoft.com/office/drawing/2014/main" id="{7480B117-A7BF-4B6E-A1A1-4AF0C2C6A4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0574" y="1841499"/>
            <a:ext cx="4760452" cy="4216401"/>
          </a:xfrm>
          <a:prstGeom prst="rect">
            <a:avLst/>
          </a:prstGeom>
        </p:spPr>
      </p:pic>
      <p:sp>
        <p:nvSpPr>
          <p:cNvPr id="8" name="CaixaDeTexto 7">
            <a:extLst>
              <a:ext uri="{FF2B5EF4-FFF2-40B4-BE49-F238E27FC236}">
                <a16:creationId xmlns:a16="http://schemas.microsoft.com/office/drawing/2014/main" id="{21ED5837-93D3-43B0-8739-EF1633A254BF}"/>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e região: conferem onde a alteração ocorrerá.</a:t>
            </a:r>
          </a:p>
        </p:txBody>
      </p:sp>
      <p:sp>
        <p:nvSpPr>
          <p:cNvPr id="9" name="CaixaDeTexto 8">
            <a:extLst>
              <a:ext uri="{FF2B5EF4-FFF2-40B4-BE49-F238E27FC236}">
                <a16:creationId xmlns:a16="http://schemas.microsoft.com/office/drawing/2014/main" id="{01015C81-98DB-4D20-AAA6-6385273A79D7}"/>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inicial e final: delimitam o intervalo inclusivo.</a:t>
            </a:r>
          </a:p>
        </p:txBody>
      </p:sp>
      <p:sp>
        <p:nvSpPr>
          <p:cNvPr id="10" name="CaixaDeTexto 9">
            <a:extLst>
              <a:ext uri="{FF2B5EF4-FFF2-40B4-BE49-F238E27FC236}">
                <a16:creationId xmlns:a16="http://schemas.microsoft.com/office/drawing/2014/main" id="{34ED5C27-4757-465E-8A1C-C4E71E240ADD}"/>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 novo dado que a operação enviará.</a:t>
            </a:r>
          </a:p>
        </p:txBody>
      </p:sp>
      <p:sp>
        <p:nvSpPr>
          <p:cNvPr id="11" name="CaixaDeTexto 10">
            <a:extLst>
              <a:ext uri="{FF2B5EF4-FFF2-40B4-BE49-F238E27FC236}">
                <a16:creationId xmlns:a16="http://schemas.microsoft.com/office/drawing/2014/main" id="{28267C14-CC8C-4678-BCD0-748224AB72FE}"/>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executa a escrita. Cancelar fecha sem enviar.</a:t>
            </a:r>
          </a:p>
        </p:txBody>
      </p:sp>
      <p:sp>
        <p:nvSpPr>
          <p:cNvPr id="12" name="CaixaDeTexto 11">
            <a:extLst>
              <a:ext uri="{FF2B5EF4-FFF2-40B4-BE49-F238E27FC236}">
                <a16:creationId xmlns:a16="http://schemas.microsoft.com/office/drawing/2014/main" id="{60CF8DF4-3E66-4F3F-A75D-04A4BD280311}"/>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3088273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8ADCE49-FE5D-49A3-A6B0-728F2277EBC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481A685D-2EDF-4E51-91A2-ED02A55CEDF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Linha do tempo Modbus: cada operação do software</a:t>
            </a:r>
          </a:p>
        </p:txBody>
      </p:sp>
      <p:sp>
        <p:nvSpPr>
          <p:cNvPr id="4" name="CaixaDeTexto 3">
            <a:extLst>
              <a:ext uri="{FF2B5EF4-FFF2-40B4-BE49-F238E27FC236}">
                <a16:creationId xmlns:a16="http://schemas.microsoft.com/office/drawing/2014/main" id="{9B73606F-4751-4DC2-BE34-26F2334E81B8}"/>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27BD08A-2A09-45EB-81A1-C8D55F43F4A7}"/>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15</a:t>
            </a:r>
          </a:p>
        </p:txBody>
      </p:sp>
      <p:pic>
        <p:nvPicPr>
          <p:cNvPr id="7" name="Imagem 6">
            <a:extLst>
              <a:ext uri="{FF2B5EF4-FFF2-40B4-BE49-F238E27FC236}">
                <a16:creationId xmlns:a16="http://schemas.microsoft.com/office/drawing/2014/main" id="{707928CC-CFBA-4FA1-8AAC-F6B5F6FA9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C3BDE838-3B0C-4C70-B59D-8CDE875ED96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Hora, sessão, tipo e endpoint: identificam o evento.</a:t>
            </a:r>
          </a:p>
        </p:txBody>
      </p:sp>
      <p:sp>
        <p:nvSpPr>
          <p:cNvPr id="9" name="CaixaDeTexto 8">
            <a:extLst>
              <a:ext uri="{FF2B5EF4-FFF2-40B4-BE49-F238E27FC236}">
                <a16:creationId xmlns:a16="http://schemas.microsoft.com/office/drawing/2014/main" id="{F6A69C73-BD9A-489B-B780-19F704BE5AD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TID e UID: associam transação e destino lógico.</a:t>
            </a:r>
          </a:p>
        </p:txBody>
      </p:sp>
      <p:sp>
        <p:nvSpPr>
          <p:cNvPr id="10" name="CaixaDeTexto 9">
            <a:extLst>
              <a:ext uri="{FF2B5EF4-FFF2-40B4-BE49-F238E27FC236}">
                <a16:creationId xmlns:a16="http://schemas.microsoft.com/office/drawing/2014/main" id="{4F27FBCA-3D0B-4D91-B0BE-219FBF5CBED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FC, endereço e quantidade: descrevem a operação solicitada.</a:t>
            </a:r>
          </a:p>
        </p:txBody>
      </p:sp>
      <p:sp>
        <p:nvSpPr>
          <p:cNvPr id="11" name="CaixaDeTexto 10">
            <a:extLst>
              <a:ext uri="{FF2B5EF4-FFF2-40B4-BE49-F238E27FC236}">
                <a16:creationId xmlns:a16="http://schemas.microsoft.com/office/drawing/2014/main" id="{E1AEC7FF-9EE2-4415-9E10-69A4822EF43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Resumo: descreve dados, exceções e falhas de comunicação.</a:t>
            </a:r>
          </a:p>
        </p:txBody>
      </p:sp>
      <p:sp>
        <p:nvSpPr>
          <p:cNvPr id="12" name="CaixaDeTexto 11">
            <a:extLst>
              <a:ext uri="{FF2B5EF4-FFF2-40B4-BE49-F238E27FC236}">
                <a16:creationId xmlns:a16="http://schemas.microsoft.com/office/drawing/2014/main" id="{CA2895C9-BA63-4B25-BD44-87CC1ACC03D2}"/>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877702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B1A6BF6-FB87-46C1-84AE-67691BAE11D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09BD6EDE-CEA4-47A5-9F04-BCD511DCFB9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Linha do tempo Modbus: localizar uma operação</a:t>
            </a:r>
          </a:p>
        </p:txBody>
      </p:sp>
      <p:sp>
        <p:nvSpPr>
          <p:cNvPr id="4" name="CaixaDeTexto 3">
            <a:extLst>
              <a:ext uri="{FF2B5EF4-FFF2-40B4-BE49-F238E27FC236}">
                <a16:creationId xmlns:a16="http://schemas.microsoft.com/office/drawing/2014/main" id="{BB036766-0956-4AEA-91D4-D81C2F31DC7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15402AE-2BEE-4EB5-A198-00A8745404B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16</a:t>
            </a:r>
          </a:p>
        </p:txBody>
      </p:sp>
      <p:pic>
        <p:nvPicPr>
          <p:cNvPr id="7" name="Imagem 6">
            <a:extLst>
              <a:ext uri="{FF2B5EF4-FFF2-40B4-BE49-F238E27FC236}">
                <a16:creationId xmlns:a16="http://schemas.microsoft.com/office/drawing/2014/main" id="{5E5B45EB-E122-4E8D-95CD-F8531A7CD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5327A08B-1201-4034-9BDF-2122132464D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Sessão/alvo: limita a lista ao participante pesquisado.</a:t>
            </a:r>
          </a:p>
        </p:txBody>
      </p:sp>
      <p:sp>
        <p:nvSpPr>
          <p:cNvPr id="9" name="CaixaDeTexto 8">
            <a:extLst>
              <a:ext uri="{FF2B5EF4-FFF2-40B4-BE49-F238E27FC236}">
                <a16:creationId xmlns:a16="http://schemas.microsoft.com/office/drawing/2014/main" id="{25AFBFF7-18D6-4805-A446-11E4717AD84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Unit ID e Função: restringem o destino lógico e a operação.</a:t>
            </a:r>
          </a:p>
        </p:txBody>
      </p:sp>
      <p:sp>
        <p:nvSpPr>
          <p:cNvPr id="10" name="CaixaDeTexto 9">
            <a:extLst>
              <a:ext uri="{FF2B5EF4-FFF2-40B4-BE49-F238E27FC236}">
                <a16:creationId xmlns:a16="http://schemas.microsoft.com/office/drawing/2014/main" id="{2A8FDE39-BE92-455B-B2F8-EDFA73B4391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Somente erros: mostra exceções e mensagens de falha/timeout.</a:t>
            </a:r>
          </a:p>
        </p:txBody>
      </p:sp>
      <p:sp>
        <p:nvSpPr>
          <p:cNvPr id="11" name="CaixaDeTexto 10">
            <a:extLst>
              <a:ext uri="{FF2B5EF4-FFF2-40B4-BE49-F238E27FC236}">
                <a16:creationId xmlns:a16="http://schemas.microsoft.com/office/drawing/2014/main" id="{77CCA540-AC04-4253-B028-8C558C8B93C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Limpar filtros: volta a apresentar as mensagens retidas.</a:t>
            </a:r>
          </a:p>
        </p:txBody>
      </p:sp>
      <p:sp>
        <p:nvSpPr>
          <p:cNvPr id="12" name="CaixaDeTexto 11">
            <a:extLst>
              <a:ext uri="{FF2B5EF4-FFF2-40B4-BE49-F238E27FC236}">
                <a16:creationId xmlns:a16="http://schemas.microsoft.com/office/drawing/2014/main" id="{8DA8635F-83AC-4CD4-AEFA-187FA1AE61A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00570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B984BFB-312A-4E16-9EDA-AEAC10638E7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0C9DBA87-2DA1-4BCD-A9D7-3BBA812A19A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TCP: configuração da captura</a:t>
            </a:r>
          </a:p>
        </p:txBody>
      </p:sp>
      <p:sp>
        <p:nvSpPr>
          <p:cNvPr id="4" name="CaixaDeTexto 3">
            <a:extLst>
              <a:ext uri="{FF2B5EF4-FFF2-40B4-BE49-F238E27FC236}">
                <a16:creationId xmlns:a16="http://schemas.microsoft.com/office/drawing/2014/main" id="{039D4449-2A71-44D1-947B-5AF9A13F866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94EA850-3DD3-4E01-BF2B-27C70937C98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17</a:t>
            </a:r>
          </a:p>
        </p:txBody>
      </p:sp>
      <p:pic>
        <p:nvPicPr>
          <p:cNvPr id="7" name="Imagem 6">
            <a:extLst>
              <a:ext uri="{FF2B5EF4-FFF2-40B4-BE49-F238E27FC236}">
                <a16:creationId xmlns:a16="http://schemas.microsoft.com/office/drawing/2014/main" id="{6ED0792E-E667-4D02-88BB-5EAFABBEB0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5597" y="1765300"/>
            <a:ext cx="7940807" cy="3073400"/>
          </a:xfrm>
          <a:prstGeom prst="rect">
            <a:avLst/>
          </a:prstGeom>
        </p:spPr>
      </p:pic>
      <p:sp>
        <p:nvSpPr>
          <p:cNvPr id="8" name="CaixaDeTexto 7">
            <a:extLst>
              <a:ext uri="{FF2B5EF4-FFF2-40B4-BE49-F238E27FC236}">
                <a16:creationId xmlns:a16="http://schemas.microsoft.com/office/drawing/2014/main" id="{7A65F3AB-B974-45D7-A5E6-F0C3AAD2D17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Interface: placa da rede industrial ou loopback para 127.0.0.1.</a:t>
            </a:r>
          </a:p>
        </p:txBody>
      </p:sp>
      <p:sp>
        <p:nvSpPr>
          <p:cNvPr id="9" name="CaixaDeTexto 8">
            <a:extLst>
              <a:ext uri="{FF2B5EF4-FFF2-40B4-BE49-F238E27FC236}">
                <a16:creationId xmlns:a16="http://schemas.microsoft.com/office/drawing/2014/main" id="{EC0FAD72-7EBD-4B84-8C60-8B0B4F90286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 define quais quadros poderão chegar à análise.</a:t>
            </a:r>
          </a:p>
        </p:txBody>
      </p:sp>
      <p:sp>
        <p:nvSpPr>
          <p:cNvPr id="10" name="CaixaDeTexto 9">
            <a:extLst>
              <a:ext uri="{FF2B5EF4-FFF2-40B4-BE49-F238E27FC236}">
                <a16:creationId xmlns:a16="http://schemas.microsoft.com/office/drawing/2014/main" id="{BC075D91-51EC-4291-AE6F-5EC251F4045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e direção: restringem o host e o sentido observado.</a:t>
            </a:r>
          </a:p>
        </p:txBody>
      </p:sp>
      <p:sp>
        <p:nvSpPr>
          <p:cNvPr id="11" name="CaixaDeTexto 10">
            <a:extLst>
              <a:ext uri="{FF2B5EF4-FFF2-40B4-BE49-F238E27FC236}">
                <a16:creationId xmlns:a16="http://schemas.microsoft.com/office/drawing/2014/main" id="{A3F77376-9485-41F3-B797-533DC647706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e direção: restringem o serviço, preservando ambos os sentidos.</a:t>
            </a:r>
          </a:p>
        </p:txBody>
      </p:sp>
      <p:sp>
        <p:nvSpPr>
          <p:cNvPr id="12" name="CaixaDeTexto 11">
            <a:extLst>
              <a:ext uri="{FF2B5EF4-FFF2-40B4-BE49-F238E27FC236}">
                <a16:creationId xmlns:a16="http://schemas.microsoft.com/office/drawing/2014/main" id="{ABD718C3-317E-410F-9A94-9C870942929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444272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798C9AB-433F-4B90-AD51-5B45AD1477A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2B6A820C-05A3-438D-A29C-B79EA9C775C6}"/>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TCP: captura e filtro de apresentação</a:t>
            </a:r>
          </a:p>
        </p:txBody>
      </p:sp>
      <p:sp>
        <p:nvSpPr>
          <p:cNvPr id="4" name="CaixaDeTexto 3">
            <a:extLst>
              <a:ext uri="{FF2B5EF4-FFF2-40B4-BE49-F238E27FC236}">
                <a16:creationId xmlns:a16="http://schemas.microsoft.com/office/drawing/2014/main" id="{70F62339-9B7C-4492-B44A-3B0F3DF68B6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FA749CD-FAC2-4C5F-B0E7-3742A84E174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18</a:t>
            </a:r>
          </a:p>
        </p:txBody>
      </p:sp>
      <p:pic>
        <p:nvPicPr>
          <p:cNvPr id="7" name="Imagem 6">
            <a:extLst>
              <a:ext uri="{FF2B5EF4-FFF2-40B4-BE49-F238E27FC236}">
                <a16:creationId xmlns:a16="http://schemas.microsoft.com/office/drawing/2014/main" id="{5D0C49C1-454B-4896-B1FC-BB77AC973D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5597" y="1765300"/>
            <a:ext cx="7940807" cy="3073400"/>
          </a:xfrm>
          <a:prstGeom prst="rect">
            <a:avLst/>
          </a:prstGeom>
        </p:spPr>
      </p:pic>
      <p:sp>
        <p:nvSpPr>
          <p:cNvPr id="8" name="CaixaDeTexto 7">
            <a:extLst>
              <a:ext uri="{FF2B5EF4-FFF2-40B4-BE49-F238E27FC236}">
                <a16:creationId xmlns:a16="http://schemas.microsoft.com/office/drawing/2014/main" id="{0193E007-3E06-4A5C-AF50-5E6ADE432F0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BPF: filtro do driver, antes de o pacote entrar na aplicação.</a:t>
            </a:r>
          </a:p>
        </p:txBody>
      </p:sp>
      <p:sp>
        <p:nvSpPr>
          <p:cNvPr id="9" name="CaixaDeTexto 8">
            <a:extLst>
              <a:ext uri="{FF2B5EF4-FFF2-40B4-BE49-F238E27FC236}">
                <a16:creationId xmlns:a16="http://schemas.microsoft.com/office/drawing/2014/main" id="{351073D1-D87B-4A1B-AF6E-19BC3F166B8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Aplicar filtro: atualiza os critérios da captura ativa.</a:t>
            </a:r>
          </a:p>
        </p:txBody>
      </p:sp>
      <p:sp>
        <p:nvSpPr>
          <p:cNvPr id="10" name="CaixaDeTexto 9">
            <a:extLst>
              <a:ext uri="{FF2B5EF4-FFF2-40B4-BE49-F238E27FC236}">
                <a16:creationId xmlns:a16="http://schemas.microsoft.com/office/drawing/2014/main" id="{7C6A9C20-B585-4BDE-9BAD-296FA6FB6F8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Filtros da lista: refinam a visualização dos pacotes já capturados.</a:t>
            </a:r>
          </a:p>
        </p:txBody>
      </p:sp>
      <p:sp>
        <p:nvSpPr>
          <p:cNvPr id="11" name="CaixaDeTexto 10">
            <a:extLst>
              <a:ext uri="{FF2B5EF4-FFF2-40B4-BE49-F238E27FC236}">
                <a16:creationId xmlns:a16="http://schemas.microsoft.com/office/drawing/2014/main" id="{80602EE1-B571-4B3E-82D1-784B143D9F30}"/>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Iniciar e parar captura: controlam a coleta, não o polling dos alvos.</a:t>
            </a:r>
          </a:p>
        </p:txBody>
      </p:sp>
      <p:sp>
        <p:nvSpPr>
          <p:cNvPr id="12" name="CaixaDeTexto 11">
            <a:extLst>
              <a:ext uri="{FF2B5EF4-FFF2-40B4-BE49-F238E27FC236}">
                <a16:creationId xmlns:a16="http://schemas.microsoft.com/office/drawing/2014/main" id="{7B4CAB9F-4E44-4CE1-A9BB-110C3404AFE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614277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B5EA72A-86AA-4FE6-BFE9-9C4D28EC0479}"/>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7239324C-3B16-4E87-BFDA-ACE2845E632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taxas e gráficos após parar a captura</a:t>
            </a:r>
          </a:p>
        </p:txBody>
      </p:sp>
      <p:sp>
        <p:nvSpPr>
          <p:cNvPr id="4" name="CaixaDeTexto 3">
            <a:extLst>
              <a:ext uri="{FF2B5EF4-FFF2-40B4-BE49-F238E27FC236}">
                <a16:creationId xmlns:a16="http://schemas.microsoft.com/office/drawing/2014/main" id="{EE94F1F2-4010-465A-B975-1A20083C16F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772DF7C-3FBC-4745-A0D9-1229A3C62BB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19</a:t>
            </a:r>
          </a:p>
        </p:txBody>
      </p:sp>
      <p:pic>
        <p:nvPicPr>
          <p:cNvPr id="7" name="Imagem 6">
            <a:extLst>
              <a:ext uri="{FF2B5EF4-FFF2-40B4-BE49-F238E27FC236}">
                <a16:creationId xmlns:a16="http://schemas.microsoft.com/office/drawing/2014/main" id="{EDAEDE42-B05B-43A3-8B1F-3B70CF2A8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8886" y="1765300"/>
            <a:ext cx="8034229" cy="3073400"/>
          </a:xfrm>
          <a:prstGeom prst="rect">
            <a:avLst/>
          </a:prstGeom>
        </p:spPr>
      </p:pic>
      <p:sp>
        <p:nvSpPr>
          <p:cNvPr id="8" name="CaixaDeTexto 7">
            <a:extLst>
              <a:ext uri="{FF2B5EF4-FFF2-40B4-BE49-F238E27FC236}">
                <a16:creationId xmlns:a16="http://schemas.microsoft.com/office/drawing/2014/main" id="{1F83503C-298F-496D-BA93-14953862D613}"/>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Período: escolhe a janela dentro da amostra retida.</a:t>
            </a:r>
          </a:p>
        </p:txBody>
      </p:sp>
      <p:sp>
        <p:nvSpPr>
          <p:cNvPr id="9" name="CaixaDeTexto 8">
            <a:extLst>
              <a:ext uri="{FF2B5EF4-FFF2-40B4-BE49-F238E27FC236}">
                <a16:creationId xmlns:a16="http://schemas.microsoft.com/office/drawing/2014/main" id="{63F18BAE-80DA-499B-B09A-4DEEC961E20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Pacotes e volume: contagens dos quadros observados.</a:t>
            </a:r>
          </a:p>
        </p:txBody>
      </p:sp>
      <p:sp>
        <p:nvSpPr>
          <p:cNvPr id="10" name="CaixaDeTexto 9">
            <a:extLst>
              <a:ext uri="{FF2B5EF4-FFF2-40B4-BE49-F238E27FC236}">
                <a16:creationId xmlns:a16="http://schemas.microsoft.com/office/drawing/2014/main" id="{4B27C296-FD2A-4ED2-B6A3-54C896607A5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Médias e picos: taxas no período, incluindo o pico em 1 segundo.</a:t>
            </a:r>
          </a:p>
        </p:txBody>
      </p:sp>
      <p:sp>
        <p:nvSpPr>
          <p:cNvPr id="11" name="CaixaDeTexto 10">
            <a:extLst>
              <a:ext uri="{FF2B5EF4-FFF2-40B4-BE49-F238E27FC236}">
                <a16:creationId xmlns:a16="http://schemas.microsoft.com/office/drawing/2014/main" id="{BE13EE5D-37F3-4439-AF6F-792AC092F8A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Qualidade da captura: mostra limites, fila e descartes disponíveis.</a:t>
            </a:r>
          </a:p>
        </p:txBody>
      </p:sp>
      <p:sp>
        <p:nvSpPr>
          <p:cNvPr id="12" name="CaixaDeTexto 11">
            <a:extLst>
              <a:ext uri="{FF2B5EF4-FFF2-40B4-BE49-F238E27FC236}">
                <a16:creationId xmlns:a16="http://schemas.microsoft.com/office/drawing/2014/main" id="{57154875-46A5-4CA0-94B7-9598FAB562E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29682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AECFEF7-407E-4B89-895D-012C30AAECE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EC8F946D-CC0E-456B-94BA-F1C4A1E374E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qualidade e limites da amostra</a:t>
            </a:r>
          </a:p>
        </p:txBody>
      </p:sp>
      <p:sp>
        <p:nvSpPr>
          <p:cNvPr id="4" name="CaixaDeTexto 3">
            <a:extLst>
              <a:ext uri="{FF2B5EF4-FFF2-40B4-BE49-F238E27FC236}">
                <a16:creationId xmlns:a16="http://schemas.microsoft.com/office/drawing/2014/main" id="{28B801EE-2E20-41A2-B3A7-916B632C81E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2A41829-07B9-447A-B17B-984F952A394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20</a:t>
            </a:r>
          </a:p>
        </p:txBody>
      </p:sp>
      <p:pic>
        <p:nvPicPr>
          <p:cNvPr id="7" name="Imagem 6">
            <a:extLst>
              <a:ext uri="{FF2B5EF4-FFF2-40B4-BE49-F238E27FC236}">
                <a16:creationId xmlns:a16="http://schemas.microsoft.com/office/drawing/2014/main" id="{D5121039-04AD-4DA4-8489-ECACD506F7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79741"/>
            <a:ext cx="10820400" cy="1044518"/>
          </a:xfrm>
          <a:prstGeom prst="rect">
            <a:avLst/>
          </a:prstGeom>
        </p:spPr>
      </p:pic>
      <p:sp>
        <p:nvSpPr>
          <p:cNvPr id="8" name="CaixaDeTexto 7">
            <a:extLst>
              <a:ext uri="{FF2B5EF4-FFF2-40B4-BE49-F238E27FC236}">
                <a16:creationId xmlns:a16="http://schemas.microsoft.com/office/drawing/2014/main" id="{5435B4D6-8F42-4870-85AA-151FD4CF053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Driver: estatísticas podem estar indisponíveis para a interface.</a:t>
            </a:r>
          </a:p>
        </p:txBody>
      </p:sp>
      <p:sp>
        <p:nvSpPr>
          <p:cNvPr id="9" name="CaixaDeTexto 8">
            <a:extLst>
              <a:ext uri="{FF2B5EF4-FFF2-40B4-BE49-F238E27FC236}">
                <a16:creationId xmlns:a16="http://schemas.microsoft.com/office/drawing/2014/main" id="{C66FF00C-1929-489F-A9B8-18C3D453527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Fila pendente: pacotes aguardando exibição na aplicação.</a:t>
            </a:r>
          </a:p>
        </p:txBody>
      </p:sp>
      <p:sp>
        <p:nvSpPr>
          <p:cNvPr id="10" name="CaixaDeTexto 9">
            <a:extLst>
              <a:ext uri="{FF2B5EF4-FFF2-40B4-BE49-F238E27FC236}">
                <a16:creationId xmlns:a16="http://schemas.microsoft.com/office/drawing/2014/main" id="{4977E33A-0788-4179-AA34-927514E4EC0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Descartes e retenção: podem limitar o volume usado na análise.</a:t>
            </a:r>
          </a:p>
        </p:txBody>
      </p:sp>
      <p:sp>
        <p:nvSpPr>
          <p:cNvPr id="11" name="CaixaDeTexto 10">
            <a:extLst>
              <a:ext uri="{FF2B5EF4-FFF2-40B4-BE49-F238E27FC236}">
                <a16:creationId xmlns:a16="http://schemas.microsoft.com/office/drawing/2014/main" id="{01E1FCB4-8533-4A5A-B3FB-B6E9FF20F45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Saturação: exige comparar taxas com velocidade e contadores de porta.</a:t>
            </a:r>
          </a:p>
        </p:txBody>
      </p:sp>
      <p:sp>
        <p:nvSpPr>
          <p:cNvPr id="12" name="CaixaDeTexto 11">
            <a:extLst>
              <a:ext uri="{FF2B5EF4-FFF2-40B4-BE49-F238E27FC236}">
                <a16:creationId xmlns:a16="http://schemas.microsoft.com/office/drawing/2014/main" id="{DB0A82B4-C23C-4850-916B-31B7042F267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604481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DA4F854-C3DF-4D2E-9DA2-CC7ECB8D097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910ED350-7F4C-48CB-BE92-D81B9E50CE7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dispositivos com mais tráfego</a:t>
            </a:r>
          </a:p>
        </p:txBody>
      </p:sp>
      <p:sp>
        <p:nvSpPr>
          <p:cNvPr id="4" name="CaixaDeTexto 3">
            <a:extLst>
              <a:ext uri="{FF2B5EF4-FFF2-40B4-BE49-F238E27FC236}">
                <a16:creationId xmlns:a16="http://schemas.microsoft.com/office/drawing/2014/main" id="{D2E12BFC-0400-49CD-807B-A0477E98CC08}"/>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9D41BA6-24BD-432E-8D6B-732B51D5E65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21</a:t>
            </a:r>
          </a:p>
        </p:txBody>
      </p:sp>
      <p:pic>
        <p:nvPicPr>
          <p:cNvPr id="7" name="Imagem 6">
            <a:extLst>
              <a:ext uri="{FF2B5EF4-FFF2-40B4-BE49-F238E27FC236}">
                <a16:creationId xmlns:a16="http://schemas.microsoft.com/office/drawing/2014/main" id="{0168BBFC-43A1-42FA-B45A-8B00F2CF5F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3CE5489F-668A-4C8A-ABD2-08C81E317143}"/>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Enviados e recebidos: contribuição do IP em cada direção.</a:t>
            </a:r>
          </a:p>
        </p:txBody>
      </p:sp>
      <p:sp>
        <p:nvSpPr>
          <p:cNvPr id="9" name="CaixaDeTexto 8">
            <a:extLst>
              <a:ext uri="{FF2B5EF4-FFF2-40B4-BE49-F238E27FC236}">
                <a16:creationId xmlns:a16="http://schemas.microsoft.com/office/drawing/2014/main" id="{4E29DF06-F5F8-4315-84DF-12C4E0C0C15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Dados enviados e recebidos: volume dos quadros visíveis.</a:t>
            </a:r>
          </a:p>
        </p:txBody>
      </p:sp>
      <p:sp>
        <p:nvSpPr>
          <p:cNvPr id="10" name="CaixaDeTexto 9">
            <a:extLst>
              <a:ext uri="{FF2B5EF4-FFF2-40B4-BE49-F238E27FC236}">
                <a16:creationId xmlns:a16="http://schemas.microsoft.com/office/drawing/2014/main" id="{3B0BEE59-DE39-43EE-9676-118CC7CF2A1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Participação: percentual dos pacotes que envolvem aquele IP.</a:t>
            </a:r>
          </a:p>
        </p:txBody>
      </p:sp>
      <p:sp>
        <p:nvSpPr>
          <p:cNvPr id="11" name="CaixaDeTexto 10">
            <a:extLst>
              <a:ext uri="{FF2B5EF4-FFF2-40B4-BE49-F238E27FC236}">
                <a16:creationId xmlns:a16="http://schemas.microsoft.com/office/drawing/2014/main" id="{D14738F1-D10E-40D7-AB6E-0FA291459CF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observado: maior atividade do participante em 1 segundo.</a:t>
            </a:r>
          </a:p>
        </p:txBody>
      </p:sp>
      <p:sp>
        <p:nvSpPr>
          <p:cNvPr id="12" name="CaixaDeTexto 11">
            <a:extLst>
              <a:ext uri="{FF2B5EF4-FFF2-40B4-BE49-F238E27FC236}">
                <a16:creationId xmlns:a16="http://schemas.microsoft.com/office/drawing/2014/main" id="{6EACF8F5-A7A7-4882-A281-B868349B4DE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74921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04F6F52-3C17-4A2B-AC2D-D33667C1120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77307D52-3E57-46CA-B4C1-11E5C1F1750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Dados: conversas entre endpoints</a:t>
            </a:r>
          </a:p>
        </p:txBody>
      </p:sp>
      <p:sp>
        <p:nvSpPr>
          <p:cNvPr id="4" name="CaixaDeTexto 3">
            <a:extLst>
              <a:ext uri="{FF2B5EF4-FFF2-40B4-BE49-F238E27FC236}">
                <a16:creationId xmlns:a16="http://schemas.microsoft.com/office/drawing/2014/main" id="{A08F1D8D-1F28-4D2B-B9EC-32862418C76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7F3FF43-314D-4058-AD7F-86393E0F0B5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22</a:t>
            </a:r>
          </a:p>
        </p:txBody>
      </p:sp>
      <p:pic>
        <p:nvPicPr>
          <p:cNvPr id="7" name="Imagem 6">
            <a:extLst>
              <a:ext uri="{FF2B5EF4-FFF2-40B4-BE49-F238E27FC236}">
                <a16:creationId xmlns:a16="http://schemas.microsoft.com/office/drawing/2014/main" id="{9D9A44E0-2C54-4AE1-BB33-3DC80EC9E3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607" y="1765300"/>
            <a:ext cx="10042786" cy="3073400"/>
          </a:xfrm>
          <a:prstGeom prst="rect">
            <a:avLst/>
          </a:prstGeom>
        </p:spPr>
      </p:pic>
      <p:sp>
        <p:nvSpPr>
          <p:cNvPr id="8" name="CaixaDeTexto 7">
            <a:extLst>
              <a:ext uri="{FF2B5EF4-FFF2-40B4-BE49-F238E27FC236}">
                <a16:creationId xmlns:a16="http://schemas.microsoft.com/office/drawing/2014/main" id="{A2321E51-8206-4309-9EE5-BA690047802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A e B: par IP:porta, agrupado nos dois sentidos.</a:t>
            </a:r>
          </a:p>
        </p:txBody>
      </p:sp>
      <p:sp>
        <p:nvSpPr>
          <p:cNvPr id="9" name="CaixaDeTexto 8">
            <a:extLst>
              <a:ext uri="{FF2B5EF4-FFF2-40B4-BE49-F238E27FC236}">
                <a16:creationId xmlns:a16="http://schemas.microsoft.com/office/drawing/2014/main" id="{985EE2A8-7EF7-4FF5-B462-61F940851BE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Protocolos e pacotes: tipo de tráfego e volume da conversa.</a:t>
            </a:r>
          </a:p>
        </p:txBody>
      </p:sp>
      <p:sp>
        <p:nvSpPr>
          <p:cNvPr id="10" name="CaixaDeTexto 9">
            <a:extLst>
              <a:ext uri="{FF2B5EF4-FFF2-40B4-BE49-F238E27FC236}">
                <a16:creationId xmlns:a16="http://schemas.microsoft.com/office/drawing/2014/main" id="{0DA1EA96-2442-488E-B9EF-28E7095C8A2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Dados e participação: peso daquela conversa na amostra.</a:t>
            </a:r>
          </a:p>
        </p:txBody>
      </p:sp>
      <p:sp>
        <p:nvSpPr>
          <p:cNvPr id="11" name="CaixaDeTexto 10">
            <a:extLst>
              <a:ext uri="{FF2B5EF4-FFF2-40B4-BE49-F238E27FC236}">
                <a16:creationId xmlns:a16="http://schemas.microsoft.com/office/drawing/2014/main" id="{E4F0424A-7034-40F6-B3EB-C2C6500A85E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em 1 s: momento de maior atividade do par.</a:t>
            </a:r>
          </a:p>
        </p:txBody>
      </p:sp>
      <p:sp>
        <p:nvSpPr>
          <p:cNvPr id="12" name="CaixaDeTexto 11">
            <a:extLst>
              <a:ext uri="{FF2B5EF4-FFF2-40B4-BE49-F238E27FC236}">
                <a16:creationId xmlns:a16="http://schemas.microsoft.com/office/drawing/2014/main" id="{51BE2E62-5850-4B73-B67E-15CEF3DA8F3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361615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B7980A8-193A-4132-9917-897A6A696B2C}"/>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04 · Captura e acompanhamento</a:t>
            </a:r>
          </a:p>
        </p:txBody>
      </p:sp>
      <p:sp>
        <p:nvSpPr>
          <p:cNvPr id="3" name="CaixaDeTexto 2">
            <a:extLst>
              <a:ext uri="{FF2B5EF4-FFF2-40B4-BE49-F238E27FC236}">
                <a16:creationId xmlns:a16="http://schemas.microsoft.com/office/drawing/2014/main" id="{F2C32ECF-CEC0-4B6E-BC70-314696BF33A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Avisos: eventos, recorrência e checklist</a:t>
            </a:r>
          </a:p>
        </p:txBody>
      </p:sp>
      <p:sp>
        <p:nvSpPr>
          <p:cNvPr id="4" name="CaixaDeTexto 3">
            <a:extLst>
              <a:ext uri="{FF2B5EF4-FFF2-40B4-BE49-F238E27FC236}">
                <a16:creationId xmlns:a16="http://schemas.microsoft.com/office/drawing/2014/main" id="{2ABE9FB6-DF16-4516-9B16-4A5514C124B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57E94E0-53D2-47E8-8F73-5091887E89D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23</a:t>
            </a:r>
          </a:p>
        </p:txBody>
      </p:sp>
      <p:pic>
        <p:nvPicPr>
          <p:cNvPr id="7" name="Imagem 6">
            <a:extLst>
              <a:ext uri="{FF2B5EF4-FFF2-40B4-BE49-F238E27FC236}">
                <a16:creationId xmlns:a16="http://schemas.microsoft.com/office/drawing/2014/main" id="{54510AED-913C-4056-9091-24187A38D9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482" y="1765300"/>
            <a:ext cx="9949035" cy="3073400"/>
          </a:xfrm>
          <a:prstGeom prst="rect">
            <a:avLst/>
          </a:prstGeom>
        </p:spPr>
      </p:pic>
      <p:sp>
        <p:nvSpPr>
          <p:cNvPr id="8" name="CaixaDeTexto 7">
            <a:extLst>
              <a:ext uri="{FF2B5EF4-FFF2-40B4-BE49-F238E27FC236}">
                <a16:creationId xmlns:a16="http://schemas.microsoft.com/office/drawing/2014/main" id="{FCAD0350-A939-4DA8-AEE0-B5486CEE661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Todos: eventos com hora, nível, mensagem e recomendação.</a:t>
            </a:r>
          </a:p>
        </p:txBody>
      </p:sp>
      <p:sp>
        <p:nvSpPr>
          <p:cNvPr id="9" name="CaixaDeTexto 8">
            <a:extLst>
              <a:ext uri="{FF2B5EF4-FFF2-40B4-BE49-F238E27FC236}">
                <a16:creationId xmlns:a16="http://schemas.microsoft.com/office/drawing/2014/main" id="{37D751BD-2D05-41A9-B6CB-D79D73EBD17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Avisos importantes: agrupa recorrências do mesmo achado.</a:t>
            </a:r>
          </a:p>
        </p:txBody>
      </p:sp>
      <p:sp>
        <p:nvSpPr>
          <p:cNvPr id="10" name="CaixaDeTexto 9">
            <a:extLst>
              <a:ext uri="{FF2B5EF4-FFF2-40B4-BE49-F238E27FC236}">
                <a16:creationId xmlns:a16="http://schemas.microsoft.com/office/drawing/2014/main" id="{A2F2D2ED-E15F-4E1D-A299-4F26BEEA185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Checklist: apresenta verificações e seu estado mais recente.</a:t>
            </a:r>
          </a:p>
        </p:txBody>
      </p:sp>
      <p:sp>
        <p:nvSpPr>
          <p:cNvPr id="11" name="CaixaDeTexto 10">
            <a:extLst>
              <a:ext uri="{FF2B5EF4-FFF2-40B4-BE49-F238E27FC236}">
                <a16:creationId xmlns:a16="http://schemas.microsoft.com/office/drawing/2014/main" id="{6F047727-1D69-41FB-A58B-40DF364750E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Contexto: confirme sessão, endpoint e horário antes de usar um aviso.</a:t>
            </a:r>
          </a:p>
        </p:txBody>
      </p:sp>
      <p:sp>
        <p:nvSpPr>
          <p:cNvPr id="12" name="CaixaDeTexto 11">
            <a:extLst>
              <a:ext uri="{FF2B5EF4-FFF2-40B4-BE49-F238E27FC236}">
                <a16:creationId xmlns:a16="http://schemas.microsoft.com/office/drawing/2014/main" id="{E1A5B991-1C75-431F-AA24-A2B41096A58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557827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A0F815A-8DA0-4370-B6BF-05168216F84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55C13C50-876C-4630-B4F3-E227E5B0D9E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Teste completo: um ambiente independente</a:t>
            </a:r>
          </a:p>
        </p:txBody>
      </p:sp>
      <p:sp>
        <p:nvSpPr>
          <p:cNvPr id="4" name="CaixaDeTexto 3">
            <a:extLst>
              <a:ext uri="{FF2B5EF4-FFF2-40B4-BE49-F238E27FC236}">
                <a16:creationId xmlns:a16="http://schemas.microsoft.com/office/drawing/2014/main" id="{1D37F63C-BE24-4888-97A0-DD7EBFC2305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EB0C87D4-8648-44F6-9E57-17FE94BD791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24</a:t>
            </a:r>
          </a:p>
        </p:txBody>
      </p:sp>
      <p:pic>
        <p:nvPicPr>
          <p:cNvPr id="7" name="Imagem 6">
            <a:extLst>
              <a:ext uri="{FF2B5EF4-FFF2-40B4-BE49-F238E27FC236}">
                <a16:creationId xmlns:a16="http://schemas.microsoft.com/office/drawing/2014/main" id="{406DB0AA-A072-4C12-843F-C4EB8543AD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4603" y="1765300"/>
            <a:ext cx="4642795" cy="3073400"/>
          </a:xfrm>
          <a:prstGeom prst="rect">
            <a:avLst/>
          </a:prstGeom>
        </p:spPr>
      </p:pic>
      <p:sp>
        <p:nvSpPr>
          <p:cNvPr id="8" name="CaixaDeTexto 7">
            <a:extLst>
              <a:ext uri="{FF2B5EF4-FFF2-40B4-BE49-F238E27FC236}">
                <a16:creationId xmlns:a16="http://schemas.microsoft.com/office/drawing/2014/main" id="{EF2329ED-A594-425D-8242-8FF1B119678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Execução: configura o papel e acompanha as etapas.</a:t>
            </a:r>
          </a:p>
        </p:txBody>
      </p:sp>
      <p:sp>
        <p:nvSpPr>
          <p:cNvPr id="9" name="CaixaDeTexto 8">
            <a:extLst>
              <a:ext uri="{FF2B5EF4-FFF2-40B4-BE49-F238E27FC236}">
                <a16:creationId xmlns:a16="http://schemas.microsoft.com/office/drawing/2014/main" id="{085E2EB1-812B-4E81-9CCB-9FF740B7CE9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Resumo e Dispositivos/rede: apresentam achados e inventário.</a:t>
            </a:r>
          </a:p>
        </p:txBody>
      </p:sp>
      <p:sp>
        <p:nvSpPr>
          <p:cNvPr id="10" name="CaixaDeTexto 9">
            <a:extLst>
              <a:ext uri="{FF2B5EF4-FFF2-40B4-BE49-F238E27FC236}">
                <a16:creationId xmlns:a16="http://schemas.microsoft.com/office/drawing/2014/main" id="{8CECF2FB-FFD8-40FF-BC6B-B4FD7A863E8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Topologia e Mapa descoberto: reúnem as evidências específicas.</a:t>
            </a:r>
          </a:p>
        </p:txBody>
      </p:sp>
      <p:sp>
        <p:nvSpPr>
          <p:cNvPr id="11" name="CaixaDeTexto 10">
            <a:extLst>
              <a:ext uri="{FF2B5EF4-FFF2-40B4-BE49-F238E27FC236}">
                <a16:creationId xmlns:a16="http://schemas.microsoft.com/office/drawing/2014/main" id="{DEE9925E-F9AD-461E-AD30-1DD44CBC763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Relatório: consulta e exporta os resultados da execução.</a:t>
            </a:r>
          </a:p>
        </p:txBody>
      </p:sp>
      <p:sp>
        <p:nvSpPr>
          <p:cNvPr id="12" name="CaixaDeTexto 11">
            <a:extLst>
              <a:ext uri="{FF2B5EF4-FFF2-40B4-BE49-F238E27FC236}">
                <a16:creationId xmlns:a16="http://schemas.microsoft.com/office/drawing/2014/main" id="{9F12D61E-68CA-43E4-8766-BBE46020B4D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19227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7665FE8-7CB8-4C96-9CEF-E3A5532843A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9E9F3B8B-B444-4E2A-8645-9C1E502561C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Execução: papel do ensaio e ações</a:t>
            </a:r>
          </a:p>
        </p:txBody>
      </p:sp>
      <p:sp>
        <p:nvSpPr>
          <p:cNvPr id="4" name="CaixaDeTexto 3">
            <a:extLst>
              <a:ext uri="{FF2B5EF4-FFF2-40B4-BE49-F238E27FC236}">
                <a16:creationId xmlns:a16="http://schemas.microsoft.com/office/drawing/2014/main" id="{A8A78D02-E865-4EC2-B128-41E448F244A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89B786F-D7CF-4573-B6B8-4A2C4E62CF8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25</a:t>
            </a:r>
          </a:p>
        </p:txBody>
      </p:sp>
      <p:pic>
        <p:nvPicPr>
          <p:cNvPr id="7" name="Imagem 6">
            <a:extLst>
              <a:ext uri="{FF2B5EF4-FFF2-40B4-BE49-F238E27FC236}">
                <a16:creationId xmlns:a16="http://schemas.microsoft.com/office/drawing/2014/main" id="{99D58BE3-E917-4EC5-B8EE-B050F30A6C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2E01A1EE-9928-4321-BB2F-7139BF2C746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Cliente/Mestre: consulta servidores-alvo ou descobre no escopo.</a:t>
            </a:r>
          </a:p>
        </p:txBody>
      </p:sp>
      <p:sp>
        <p:nvSpPr>
          <p:cNvPr id="9" name="CaixaDeTexto 8">
            <a:extLst>
              <a:ext uri="{FF2B5EF4-FFF2-40B4-BE49-F238E27FC236}">
                <a16:creationId xmlns:a16="http://schemas.microsoft.com/office/drawing/2014/main" id="{459F3518-D074-4820-983A-9B0F858C33D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Servidor/Escravo: analisa o serviço local e os requests recebidos.</a:t>
            </a:r>
          </a:p>
        </p:txBody>
      </p:sp>
      <p:sp>
        <p:nvSpPr>
          <p:cNvPr id="10" name="CaixaDeTexto 9">
            <a:extLst>
              <a:ext uri="{FF2B5EF4-FFF2-40B4-BE49-F238E27FC236}">
                <a16:creationId xmlns:a16="http://schemas.microsoft.com/office/drawing/2014/main" id="{A89D062C-91EE-4228-96D6-FA630BBEBC0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Revisar e executar: abre a confirmação antes de iniciar o plano.</a:t>
            </a:r>
          </a:p>
        </p:txBody>
      </p:sp>
      <p:sp>
        <p:nvSpPr>
          <p:cNvPr id="11" name="CaixaDeTexto 10">
            <a:extLst>
              <a:ext uri="{FF2B5EF4-FFF2-40B4-BE49-F238E27FC236}">
                <a16:creationId xmlns:a16="http://schemas.microsoft.com/office/drawing/2014/main" id="{5E961CB5-9106-48D1-8FE8-50B4E53589C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Cancelar: interrompe o ensaio e preserva a evidência coletada.</a:t>
            </a:r>
          </a:p>
        </p:txBody>
      </p:sp>
      <p:sp>
        <p:nvSpPr>
          <p:cNvPr id="12" name="CaixaDeTexto 11">
            <a:extLst>
              <a:ext uri="{FF2B5EF4-FFF2-40B4-BE49-F238E27FC236}">
                <a16:creationId xmlns:a16="http://schemas.microsoft.com/office/drawing/2014/main" id="{05B491DD-CD50-45DF-991D-B83ADD8DA7A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543598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30028E3-E4B0-4785-8AAF-EB842734AC5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Teste completo</a:t>
            </a:r>
          </a:p>
        </p:txBody>
      </p:sp>
      <p:sp>
        <p:nvSpPr>
          <p:cNvPr id="3" name="CaixaDeTexto 2">
            <a:extLst>
              <a:ext uri="{FF2B5EF4-FFF2-40B4-BE49-F238E27FC236}">
                <a16:creationId xmlns:a16="http://schemas.microsoft.com/office/drawing/2014/main" id="{D358A408-0174-4C7B-801C-CFBD3C7C240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Revisão: confirmação antes do início</a:t>
            </a:r>
          </a:p>
        </p:txBody>
      </p:sp>
      <p:sp>
        <p:nvSpPr>
          <p:cNvPr id="4" name="CaixaDeTexto 3">
            <a:extLst>
              <a:ext uri="{FF2B5EF4-FFF2-40B4-BE49-F238E27FC236}">
                <a16:creationId xmlns:a16="http://schemas.microsoft.com/office/drawing/2014/main" id="{B2900627-7717-4F4C-9451-F1D9EAB637E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C0673CB-E8CA-4AEC-A9D7-FBC54CAF6F3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26</a:t>
            </a:r>
          </a:p>
        </p:txBody>
      </p:sp>
      <p:pic>
        <p:nvPicPr>
          <p:cNvPr id="7" name="Imagem 6">
            <a:extLst>
              <a:ext uri="{FF2B5EF4-FFF2-40B4-BE49-F238E27FC236}">
                <a16:creationId xmlns:a16="http://schemas.microsoft.com/office/drawing/2014/main" id="{AD8A36E4-1A90-4AC8-BA17-4F42BD0C2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3874" y="1841501"/>
            <a:ext cx="4853851" cy="4216399"/>
          </a:xfrm>
          <a:prstGeom prst="rect">
            <a:avLst/>
          </a:prstGeom>
        </p:spPr>
      </p:pic>
      <p:sp>
        <p:nvSpPr>
          <p:cNvPr id="8" name="CaixaDeTexto 7">
            <a:extLst>
              <a:ext uri="{FF2B5EF4-FFF2-40B4-BE49-F238E27FC236}">
                <a16:creationId xmlns:a16="http://schemas.microsoft.com/office/drawing/2014/main" id="{7AF6843B-FD10-4B86-87D9-4B965C211C09}"/>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Papel e alvos: conferem quais serviços receberão validação.</a:t>
            </a:r>
          </a:p>
        </p:txBody>
      </p:sp>
      <p:sp>
        <p:nvSpPr>
          <p:cNvPr id="9" name="CaixaDeTexto 8">
            <a:extLst>
              <a:ext uri="{FF2B5EF4-FFF2-40B4-BE49-F238E27FC236}">
                <a16:creationId xmlns:a16="http://schemas.microsoft.com/office/drawing/2014/main" id="{F40CD7F9-D365-41DC-A152-7B04FC589829}"/>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Captura e descoberta: mostram a cobertura e as sondagens previstas.</a:t>
            </a:r>
          </a:p>
        </p:txBody>
      </p:sp>
      <p:sp>
        <p:nvSpPr>
          <p:cNvPr id="10" name="CaixaDeTexto 9">
            <a:extLst>
              <a:ext uri="{FF2B5EF4-FFF2-40B4-BE49-F238E27FC236}">
                <a16:creationId xmlns:a16="http://schemas.microsoft.com/office/drawing/2014/main" id="{64535A2F-00A5-46D8-860B-3A8FD0A37E46}"/>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Estimativa mínima: explica parte da duração, sem prometer término.</a:t>
            </a:r>
          </a:p>
        </p:txBody>
      </p:sp>
      <p:sp>
        <p:nvSpPr>
          <p:cNvPr id="11" name="CaixaDeTexto 10">
            <a:extLst>
              <a:ext uri="{FF2B5EF4-FFF2-40B4-BE49-F238E27FC236}">
                <a16:creationId xmlns:a16="http://schemas.microsoft.com/office/drawing/2014/main" id="{D295E93A-A953-48A2-AC90-575E0E47C8A9}"/>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Voltar ajusta a configuração. Confirmar e executar inicia o teste.</a:t>
            </a:r>
          </a:p>
        </p:txBody>
      </p:sp>
      <p:sp>
        <p:nvSpPr>
          <p:cNvPr id="12" name="CaixaDeTexto 11">
            <a:extLst>
              <a:ext uri="{FF2B5EF4-FFF2-40B4-BE49-F238E27FC236}">
                <a16:creationId xmlns:a16="http://schemas.microsoft.com/office/drawing/2014/main" id="{B4164716-DEC6-4CDA-BB7D-FE39DFD30E56}"/>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045071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F63F1FB-7AA6-4E6F-8F01-F6490ACE211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B83EA1C8-3C92-4783-8425-0F2058183F1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Selecionar alvos: significado de cada coluna</a:t>
            </a:r>
          </a:p>
        </p:txBody>
      </p:sp>
      <p:sp>
        <p:nvSpPr>
          <p:cNvPr id="4" name="CaixaDeTexto 3">
            <a:extLst>
              <a:ext uri="{FF2B5EF4-FFF2-40B4-BE49-F238E27FC236}">
                <a16:creationId xmlns:a16="http://schemas.microsoft.com/office/drawing/2014/main" id="{DBE10621-9DCD-4228-B152-CA49FBD2F70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773C20A-D5B4-4B0D-9540-1FFDE9F9AD9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27</a:t>
            </a:r>
          </a:p>
        </p:txBody>
      </p:sp>
      <p:pic>
        <p:nvPicPr>
          <p:cNvPr id="7" name="Imagem 6">
            <a:extLst>
              <a:ext uri="{FF2B5EF4-FFF2-40B4-BE49-F238E27FC236}">
                <a16:creationId xmlns:a16="http://schemas.microsoft.com/office/drawing/2014/main" id="{EABD3C8B-BBF4-4DA5-9BA8-A22375A3E1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8933" y="1765300"/>
            <a:ext cx="5554133" cy="3073400"/>
          </a:xfrm>
          <a:prstGeom prst="rect">
            <a:avLst/>
          </a:prstGeom>
        </p:spPr>
      </p:pic>
      <p:sp>
        <p:nvSpPr>
          <p:cNvPr id="8" name="CaixaDeTexto 7">
            <a:extLst>
              <a:ext uri="{FF2B5EF4-FFF2-40B4-BE49-F238E27FC236}">
                <a16:creationId xmlns:a16="http://schemas.microsoft.com/office/drawing/2014/main" id="{B02E4D14-501E-46ED-8578-3421F5E0B5B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Incluir: marca quais cadastros receberão validação repetida.</a:t>
            </a:r>
          </a:p>
        </p:txBody>
      </p:sp>
      <p:sp>
        <p:nvSpPr>
          <p:cNvPr id="9" name="CaixaDeTexto 8">
            <a:extLst>
              <a:ext uri="{FF2B5EF4-FFF2-40B4-BE49-F238E27FC236}">
                <a16:creationId xmlns:a16="http://schemas.microsoft.com/office/drawing/2014/main" id="{6314B03C-0B34-49C5-964E-06DDA9807AE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 identificação local do servidor-alvo.</a:t>
            </a:r>
          </a:p>
        </p:txBody>
      </p:sp>
      <p:sp>
        <p:nvSpPr>
          <p:cNvPr id="10" name="CaixaDeTexto 9">
            <a:extLst>
              <a:ext uri="{FF2B5EF4-FFF2-40B4-BE49-F238E27FC236}">
                <a16:creationId xmlns:a16="http://schemas.microsoft.com/office/drawing/2014/main" id="{E61804C5-767F-43DD-90E8-393D44A61D1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e ID: IP:porta e Unit ID cadastrados.</a:t>
            </a:r>
          </a:p>
        </p:txBody>
      </p:sp>
      <p:sp>
        <p:nvSpPr>
          <p:cNvPr id="11" name="CaixaDeTexto 10">
            <a:extLst>
              <a:ext uri="{FF2B5EF4-FFF2-40B4-BE49-F238E27FC236}">
                <a16:creationId xmlns:a16="http://schemas.microsoft.com/office/drawing/2014/main" id="{2CC5DF49-47F3-4FDE-8D2C-839FC6CF10B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Estado: situação da sessão, independente da inclusão no teste.</a:t>
            </a:r>
          </a:p>
        </p:txBody>
      </p:sp>
      <p:sp>
        <p:nvSpPr>
          <p:cNvPr id="12" name="CaixaDeTexto 11">
            <a:extLst>
              <a:ext uri="{FF2B5EF4-FFF2-40B4-BE49-F238E27FC236}">
                <a16:creationId xmlns:a16="http://schemas.microsoft.com/office/drawing/2014/main" id="{D141DF16-AB0D-4DEE-AA25-A57C63B48F4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61300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4E6FBB9-AB09-4EBE-8466-AB28E6BEE05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2C36EA87-8266-462A-823E-A4287034AF6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Selecionar alvos: ações e teste sem cadastro</a:t>
            </a:r>
          </a:p>
        </p:txBody>
      </p:sp>
      <p:sp>
        <p:nvSpPr>
          <p:cNvPr id="4" name="CaixaDeTexto 3">
            <a:extLst>
              <a:ext uri="{FF2B5EF4-FFF2-40B4-BE49-F238E27FC236}">
                <a16:creationId xmlns:a16="http://schemas.microsoft.com/office/drawing/2014/main" id="{C39CA32D-7651-4357-A474-BB9E0E1C5674}"/>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4EB6726-89E7-42E4-9C76-F492E855DE2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28</a:t>
            </a:r>
          </a:p>
        </p:txBody>
      </p:sp>
      <p:pic>
        <p:nvPicPr>
          <p:cNvPr id="7" name="Imagem 6">
            <a:extLst>
              <a:ext uri="{FF2B5EF4-FFF2-40B4-BE49-F238E27FC236}">
                <a16:creationId xmlns:a16="http://schemas.microsoft.com/office/drawing/2014/main" id="{B422CEA5-4157-4BC2-8B9A-6FAB8B463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8933" y="1765300"/>
            <a:ext cx="5554133" cy="3073400"/>
          </a:xfrm>
          <a:prstGeom prst="rect">
            <a:avLst/>
          </a:prstGeom>
        </p:spPr>
      </p:pic>
      <p:sp>
        <p:nvSpPr>
          <p:cNvPr id="8" name="CaixaDeTexto 7">
            <a:extLst>
              <a:ext uri="{FF2B5EF4-FFF2-40B4-BE49-F238E27FC236}">
                <a16:creationId xmlns:a16="http://schemas.microsoft.com/office/drawing/2014/main" id="{3EA1F528-9B6E-499F-AD63-63E1E1F6BCD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Selecionar todos: marca todos os alvos cadastrados.</a:t>
            </a:r>
          </a:p>
        </p:txBody>
      </p:sp>
      <p:sp>
        <p:nvSpPr>
          <p:cNvPr id="9" name="CaixaDeTexto 8">
            <a:extLst>
              <a:ext uri="{FF2B5EF4-FFF2-40B4-BE49-F238E27FC236}">
                <a16:creationId xmlns:a16="http://schemas.microsoft.com/office/drawing/2014/main" id="{6AF0639E-45B0-45FA-968F-D9A4E7CD9450}"/>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Limpar seleção: remove a inclusão de todos os alvos.</a:t>
            </a:r>
          </a:p>
        </p:txBody>
      </p:sp>
      <p:sp>
        <p:nvSpPr>
          <p:cNvPr id="10" name="CaixaDeTexto 9">
            <a:extLst>
              <a:ext uri="{FF2B5EF4-FFF2-40B4-BE49-F238E27FC236}">
                <a16:creationId xmlns:a16="http://schemas.microsoft.com/office/drawing/2014/main" id="{978BE9CC-D4CD-4AE3-8C05-D0E7F71D10D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confirma. Cancelar descarta a alteração da seleção.</a:t>
            </a:r>
          </a:p>
        </p:txBody>
      </p:sp>
      <p:sp>
        <p:nvSpPr>
          <p:cNvPr id="11" name="CaixaDeTexto 10">
            <a:extLst>
              <a:ext uri="{FF2B5EF4-FFF2-40B4-BE49-F238E27FC236}">
                <a16:creationId xmlns:a16="http://schemas.microsoft.com/office/drawing/2014/main" id="{B4D51262-8A21-4015-AD41-29B3EABA254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Sem alvos: a descoberta depende do escopo autorizado.</a:t>
            </a:r>
          </a:p>
        </p:txBody>
      </p:sp>
      <p:sp>
        <p:nvSpPr>
          <p:cNvPr id="12" name="CaixaDeTexto 11">
            <a:extLst>
              <a:ext uri="{FF2B5EF4-FFF2-40B4-BE49-F238E27FC236}">
                <a16:creationId xmlns:a16="http://schemas.microsoft.com/office/drawing/2014/main" id="{7135A07E-3D2B-48BF-8206-1FAC987AA5D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919074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0BB5883-4CCF-4B34-9D47-B6A1D6777F1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DA65A551-7A07-42FB-A5F5-2D89315E744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referência passiva inicial</a:t>
            </a:r>
          </a:p>
        </p:txBody>
      </p:sp>
      <p:sp>
        <p:nvSpPr>
          <p:cNvPr id="4" name="CaixaDeTexto 3">
            <a:extLst>
              <a:ext uri="{FF2B5EF4-FFF2-40B4-BE49-F238E27FC236}">
                <a16:creationId xmlns:a16="http://schemas.microsoft.com/office/drawing/2014/main" id="{EACD50AA-3A73-42C0-8CDB-13AEFF26979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9767B9B-6648-41EE-AA72-EA45BFDDD06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29</a:t>
            </a:r>
          </a:p>
        </p:txBody>
      </p:sp>
      <p:pic>
        <p:nvPicPr>
          <p:cNvPr id="7" name="Imagem 6">
            <a:extLst>
              <a:ext uri="{FF2B5EF4-FFF2-40B4-BE49-F238E27FC236}">
                <a16:creationId xmlns:a16="http://schemas.microsoft.com/office/drawing/2014/main" id="{85D4B5BB-AC47-49E5-AAEB-396D4183D6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299" y="1765300"/>
            <a:ext cx="9251401" cy="3073400"/>
          </a:xfrm>
          <a:prstGeom prst="rect">
            <a:avLst/>
          </a:prstGeom>
        </p:spPr>
      </p:pic>
      <p:sp>
        <p:nvSpPr>
          <p:cNvPr id="8" name="CaixaDeTexto 7">
            <a:extLst>
              <a:ext uri="{FF2B5EF4-FFF2-40B4-BE49-F238E27FC236}">
                <a16:creationId xmlns:a16="http://schemas.microsoft.com/office/drawing/2014/main" id="{280FF527-72A6-4170-8368-CDEE64D9330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inicial: janela de observação anterior às novas sondagens.</a:t>
            </a:r>
          </a:p>
        </p:txBody>
      </p:sp>
      <p:sp>
        <p:nvSpPr>
          <p:cNvPr id="9" name="CaixaDeTexto 8">
            <a:extLst>
              <a:ext uri="{FF2B5EF4-FFF2-40B4-BE49-F238E27FC236}">
                <a16:creationId xmlns:a16="http://schemas.microsoft.com/office/drawing/2014/main" id="{FCD77FF4-AA80-4B65-AB0F-37AA5D3BFB6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Unidade: segundos. Faixa aceita: 1 a 3600 s.</a:t>
            </a:r>
          </a:p>
        </p:txBody>
      </p:sp>
      <p:sp>
        <p:nvSpPr>
          <p:cNvPr id="10" name="CaixaDeTexto 9">
            <a:extLst>
              <a:ext uri="{FF2B5EF4-FFF2-40B4-BE49-F238E27FC236}">
                <a16:creationId xmlns:a16="http://schemas.microsoft.com/office/drawing/2014/main" id="{205EAE9B-0388-4523-84BE-0F96EB2F807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Polling e serviços já ativos continuam durante a referência.</a:t>
            </a:r>
          </a:p>
        </p:txBody>
      </p:sp>
      <p:sp>
        <p:nvSpPr>
          <p:cNvPr id="11" name="CaixaDeTexto 10">
            <a:extLst>
              <a:ext uri="{FF2B5EF4-FFF2-40B4-BE49-F238E27FC236}">
                <a16:creationId xmlns:a16="http://schemas.microsoft.com/office/drawing/2014/main" id="{27844ACF-7CAD-4605-BEAE-3C01FF0CAE8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Exemplo: 10 s permite comparar com a janela operacional.</a:t>
            </a:r>
          </a:p>
        </p:txBody>
      </p:sp>
      <p:sp>
        <p:nvSpPr>
          <p:cNvPr id="12" name="CaixaDeTexto 11">
            <a:extLst>
              <a:ext uri="{FF2B5EF4-FFF2-40B4-BE49-F238E27FC236}">
                <a16:creationId xmlns:a16="http://schemas.microsoft.com/office/drawing/2014/main" id="{2AACA0E2-4B32-4294-B893-E1F01CBCCA0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5237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4E586F6-E149-4E45-AB64-3B1ED6D2C6A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7EDF9495-E1CC-4E23-AB0B-3FB2DC7C2A8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monitoramento e limiar de pico</a:t>
            </a:r>
          </a:p>
        </p:txBody>
      </p:sp>
      <p:sp>
        <p:nvSpPr>
          <p:cNvPr id="4" name="CaixaDeTexto 3">
            <a:extLst>
              <a:ext uri="{FF2B5EF4-FFF2-40B4-BE49-F238E27FC236}">
                <a16:creationId xmlns:a16="http://schemas.microsoft.com/office/drawing/2014/main" id="{5667D71F-8B5E-4739-A32B-3E87DDB1A97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AFB6FE7-FE24-4053-9A38-93A6C8C5337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30</a:t>
            </a:r>
          </a:p>
        </p:txBody>
      </p:sp>
      <p:pic>
        <p:nvPicPr>
          <p:cNvPr id="7" name="Imagem 6">
            <a:extLst>
              <a:ext uri="{FF2B5EF4-FFF2-40B4-BE49-F238E27FC236}">
                <a16:creationId xmlns:a16="http://schemas.microsoft.com/office/drawing/2014/main" id="{D4B52594-068F-46BE-B421-ECB3015578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299" y="1765300"/>
            <a:ext cx="9251401" cy="3073400"/>
          </a:xfrm>
          <a:prstGeom prst="rect">
            <a:avLst/>
          </a:prstGeom>
        </p:spPr>
      </p:pic>
      <p:sp>
        <p:nvSpPr>
          <p:cNvPr id="8" name="CaixaDeTexto 7">
            <a:extLst>
              <a:ext uri="{FF2B5EF4-FFF2-40B4-BE49-F238E27FC236}">
                <a16:creationId xmlns:a16="http://schemas.microsoft.com/office/drawing/2014/main" id="{485363DF-7778-48FA-8072-FAE0B7EB6DC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Monitorar TCP: duração final, de 1 a 86400 segundos.</a:t>
            </a:r>
          </a:p>
        </p:txBody>
      </p:sp>
      <p:sp>
        <p:nvSpPr>
          <p:cNvPr id="9" name="CaixaDeTexto 8">
            <a:extLst>
              <a:ext uri="{FF2B5EF4-FFF2-40B4-BE49-F238E27FC236}">
                <a16:creationId xmlns:a16="http://schemas.microsoft.com/office/drawing/2014/main" id="{549AC0E0-248D-48D0-B535-7B4E99E5F1B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número de quadros no intervalo de 1 segundo.</a:t>
            </a:r>
          </a:p>
        </p:txBody>
      </p:sp>
      <p:sp>
        <p:nvSpPr>
          <p:cNvPr id="10" name="CaixaDeTexto 9">
            <a:extLst>
              <a:ext uri="{FF2B5EF4-FFF2-40B4-BE49-F238E27FC236}">
                <a16:creationId xmlns:a16="http://schemas.microsoft.com/office/drawing/2014/main" id="{6C9D17AE-7D50-464D-878F-71CAACAA8F0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Limiar pkt/s: dispara atenção ao ultrapassar o valor configurado.</a:t>
            </a:r>
          </a:p>
        </p:txBody>
      </p:sp>
      <p:sp>
        <p:nvSpPr>
          <p:cNvPr id="11" name="CaixaDeTexto 10">
            <a:extLst>
              <a:ext uri="{FF2B5EF4-FFF2-40B4-BE49-F238E27FC236}">
                <a16:creationId xmlns:a16="http://schemas.microsoft.com/office/drawing/2014/main" id="{5468D1F5-DD07-4B3A-B209-24CC2B56FEF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limiar precisa refletir a referência da sua rede.</a:t>
            </a:r>
          </a:p>
        </p:txBody>
      </p:sp>
      <p:sp>
        <p:nvSpPr>
          <p:cNvPr id="12" name="CaixaDeTexto 11">
            <a:extLst>
              <a:ext uri="{FF2B5EF4-FFF2-40B4-BE49-F238E27FC236}">
                <a16:creationId xmlns:a16="http://schemas.microsoft.com/office/drawing/2014/main" id="{83226AEE-4292-4F24-B8DC-94E3637D504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5303665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7B02D5A-36C2-4914-A70E-1919B33361B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BD787D05-B1BB-402E-A42E-5B4B2343390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tentativas por bloco</a:t>
            </a:r>
          </a:p>
        </p:txBody>
      </p:sp>
      <p:sp>
        <p:nvSpPr>
          <p:cNvPr id="4" name="CaixaDeTexto 3">
            <a:extLst>
              <a:ext uri="{FF2B5EF4-FFF2-40B4-BE49-F238E27FC236}">
                <a16:creationId xmlns:a16="http://schemas.microsoft.com/office/drawing/2014/main" id="{9A0EBDE5-9C32-420F-82B0-03865477813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E1C2CDAE-3D55-4775-8A00-33401903C5E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31</a:t>
            </a:r>
          </a:p>
        </p:txBody>
      </p:sp>
      <p:pic>
        <p:nvPicPr>
          <p:cNvPr id="7" name="Imagem 6">
            <a:extLst>
              <a:ext uri="{FF2B5EF4-FFF2-40B4-BE49-F238E27FC236}">
                <a16:creationId xmlns:a16="http://schemas.microsoft.com/office/drawing/2014/main" id="{AC278268-6782-483B-84C4-6753138C9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51730"/>
            <a:ext cx="10820400" cy="2700539"/>
          </a:xfrm>
          <a:prstGeom prst="rect">
            <a:avLst/>
          </a:prstGeom>
        </p:spPr>
      </p:pic>
      <p:sp>
        <p:nvSpPr>
          <p:cNvPr id="8" name="CaixaDeTexto 7">
            <a:extLst>
              <a:ext uri="{FF2B5EF4-FFF2-40B4-BE49-F238E27FC236}">
                <a16:creationId xmlns:a16="http://schemas.microsoft.com/office/drawing/2014/main" id="{C435C7A0-F785-4695-9130-716F605EE7F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Tentativas: leituras planejadas para cada bloco habilitado.</a:t>
            </a:r>
          </a:p>
        </p:txBody>
      </p:sp>
      <p:sp>
        <p:nvSpPr>
          <p:cNvPr id="9" name="CaixaDeTexto 8">
            <a:extLst>
              <a:ext uri="{FF2B5EF4-FFF2-40B4-BE49-F238E27FC236}">
                <a16:creationId xmlns:a16="http://schemas.microsoft.com/office/drawing/2014/main" id="{0E96C6C7-6A70-4130-98E8-DDCF079C538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Faixa aceita: 1 a 1000 tentativas por bloco.</a:t>
            </a:r>
          </a:p>
        </p:txBody>
      </p:sp>
      <p:sp>
        <p:nvSpPr>
          <p:cNvPr id="10" name="CaixaDeTexto 9">
            <a:extLst>
              <a:ext uri="{FF2B5EF4-FFF2-40B4-BE49-F238E27FC236}">
                <a16:creationId xmlns:a16="http://schemas.microsoft.com/office/drawing/2014/main" id="{104409FB-B17F-41D2-A5C8-2D16C972B63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15/15 válidas: todas as tentativas executadas responderam.</a:t>
            </a:r>
          </a:p>
        </p:txBody>
      </p:sp>
      <p:sp>
        <p:nvSpPr>
          <p:cNvPr id="11" name="CaixaDeTexto 10">
            <a:extLst>
              <a:ext uri="{FF2B5EF4-FFF2-40B4-BE49-F238E27FC236}">
                <a16:creationId xmlns:a16="http://schemas.microsoft.com/office/drawing/2014/main" id="{283F85A6-7456-49EB-9915-D0104446EA3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Mais amostras ajudam a investigar falhas raras e latência.</a:t>
            </a:r>
          </a:p>
        </p:txBody>
      </p:sp>
      <p:sp>
        <p:nvSpPr>
          <p:cNvPr id="12" name="CaixaDeTexto 11">
            <a:extLst>
              <a:ext uri="{FF2B5EF4-FFF2-40B4-BE49-F238E27FC236}">
                <a16:creationId xmlns:a16="http://schemas.microsoft.com/office/drawing/2014/main" id="{1E7D7835-9C29-4D1B-B34A-683BB5F52A3D}"/>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806349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F2D5AA4-8317-483B-BACE-970B26AE25F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8ED2B2B8-E81C-440F-B335-01014916991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intervalo adicional entre ciclos</a:t>
            </a:r>
          </a:p>
        </p:txBody>
      </p:sp>
      <p:sp>
        <p:nvSpPr>
          <p:cNvPr id="4" name="CaixaDeTexto 3">
            <a:extLst>
              <a:ext uri="{FF2B5EF4-FFF2-40B4-BE49-F238E27FC236}">
                <a16:creationId xmlns:a16="http://schemas.microsoft.com/office/drawing/2014/main" id="{55C27205-E726-4285-A727-CEDB0398157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3AFF694-E6BA-45B7-BEA3-22C46E299C0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32</a:t>
            </a:r>
          </a:p>
        </p:txBody>
      </p:sp>
      <p:pic>
        <p:nvPicPr>
          <p:cNvPr id="7" name="Imagem 6">
            <a:extLst>
              <a:ext uri="{FF2B5EF4-FFF2-40B4-BE49-F238E27FC236}">
                <a16:creationId xmlns:a16="http://schemas.microsoft.com/office/drawing/2014/main" id="{467AE534-FDD2-4B11-AC52-E9FF7D2EF6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51730"/>
            <a:ext cx="10820400" cy="2700539"/>
          </a:xfrm>
          <a:prstGeom prst="rect">
            <a:avLst/>
          </a:prstGeom>
        </p:spPr>
      </p:pic>
      <p:sp>
        <p:nvSpPr>
          <p:cNvPr id="8" name="CaixaDeTexto 7">
            <a:extLst>
              <a:ext uri="{FF2B5EF4-FFF2-40B4-BE49-F238E27FC236}">
                <a16:creationId xmlns:a16="http://schemas.microsoft.com/office/drawing/2014/main" id="{B30F7E9B-777D-4E2F-9D26-FC32E13598C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Intervalo: pausa adicional entre ciclos.</a:t>
            </a:r>
          </a:p>
        </p:txBody>
      </p:sp>
      <p:sp>
        <p:nvSpPr>
          <p:cNvPr id="9" name="CaixaDeTexto 8">
            <a:extLst>
              <a:ext uri="{FF2B5EF4-FFF2-40B4-BE49-F238E27FC236}">
                <a16:creationId xmlns:a16="http://schemas.microsoft.com/office/drawing/2014/main" id="{E5582A33-751B-440A-9742-AF54BE5D3C80}"/>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Unidade: ms. Faixa aceita: 100 a 60000 ms.</a:t>
            </a:r>
          </a:p>
        </p:txBody>
      </p:sp>
      <p:sp>
        <p:nvSpPr>
          <p:cNvPr id="10" name="CaixaDeTexto 9">
            <a:extLst>
              <a:ext uri="{FF2B5EF4-FFF2-40B4-BE49-F238E27FC236}">
                <a16:creationId xmlns:a16="http://schemas.microsoft.com/office/drawing/2014/main" id="{FEF3516E-FA58-4942-8997-625DFF668A7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duração inclui transações, timeouts e a pausa.</a:t>
            </a:r>
          </a:p>
        </p:txBody>
      </p:sp>
      <p:sp>
        <p:nvSpPr>
          <p:cNvPr id="11" name="CaixaDeTexto 10">
            <a:extLst>
              <a:ext uri="{FF2B5EF4-FFF2-40B4-BE49-F238E27FC236}">
                <a16:creationId xmlns:a16="http://schemas.microsoft.com/office/drawing/2014/main" id="{097C6C18-A3E5-4BC6-95CC-5846204DCA5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15 ciclos a 1000 ms somam cerca de 14 s de pausas.</a:t>
            </a:r>
          </a:p>
        </p:txBody>
      </p:sp>
      <p:sp>
        <p:nvSpPr>
          <p:cNvPr id="12" name="CaixaDeTexto 11">
            <a:extLst>
              <a:ext uri="{FF2B5EF4-FFF2-40B4-BE49-F238E27FC236}">
                <a16:creationId xmlns:a16="http://schemas.microsoft.com/office/drawing/2014/main" id="{9A2EA34D-6D4C-43DF-92C7-111D250FE78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081831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EF5AC19-45D0-43F9-925D-6803562C63F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742A5AE8-A8BF-409D-BCD4-C75B0208BDC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autorização e CIDR</a:t>
            </a:r>
          </a:p>
        </p:txBody>
      </p:sp>
      <p:sp>
        <p:nvSpPr>
          <p:cNvPr id="4" name="CaixaDeTexto 3">
            <a:extLst>
              <a:ext uri="{FF2B5EF4-FFF2-40B4-BE49-F238E27FC236}">
                <a16:creationId xmlns:a16="http://schemas.microsoft.com/office/drawing/2014/main" id="{A3FEDF39-A630-45D1-AEB0-675799D12E8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AFC9922-8A2A-4A89-8A2B-28511CE9D85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33</a:t>
            </a:r>
          </a:p>
        </p:txBody>
      </p:sp>
      <p:pic>
        <p:nvPicPr>
          <p:cNvPr id="7" name="Imagem 6">
            <a:extLst>
              <a:ext uri="{FF2B5EF4-FFF2-40B4-BE49-F238E27FC236}">
                <a16:creationId xmlns:a16="http://schemas.microsoft.com/office/drawing/2014/main" id="{C6ADE3AC-5A57-40D5-864E-72B4AC4CDB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8142" y="1765300"/>
            <a:ext cx="7855717" cy="3073400"/>
          </a:xfrm>
          <a:prstGeom prst="rect">
            <a:avLst/>
          </a:prstGeom>
        </p:spPr>
      </p:pic>
      <p:sp>
        <p:nvSpPr>
          <p:cNvPr id="8" name="CaixaDeTexto 7">
            <a:extLst>
              <a:ext uri="{FF2B5EF4-FFF2-40B4-BE49-F238E27FC236}">
                <a16:creationId xmlns:a16="http://schemas.microsoft.com/office/drawing/2014/main" id="{71512A4E-8CA6-4024-8D3E-E2B7F13813C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Autorizar sondagem: habilita requisições ativas na rede.</a:t>
            </a:r>
          </a:p>
        </p:txBody>
      </p:sp>
      <p:sp>
        <p:nvSpPr>
          <p:cNvPr id="9" name="CaixaDeTexto 8">
            <a:extLst>
              <a:ext uri="{FF2B5EF4-FFF2-40B4-BE49-F238E27FC236}">
                <a16:creationId xmlns:a16="http://schemas.microsoft.com/office/drawing/2014/main" id="{6EFF2040-FA65-45ED-BA3C-81EA624C2BB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CIDR: delimita a sub-rede quando o escopo é manual.</a:t>
            </a:r>
          </a:p>
        </p:txBody>
      </p:sp>
      <p:sp>
        <p:nvSpPr>
          <p:cNvPr id="10" name="CaixaDeTexto 9">
            <a:extLst>
              <a:ext uri="{FF2B5EF4-FFF2-40B4-BE49-F238E27FC236}">
                <a16:creationId xmlns:a16="http://schemas.microsoft.com/office/drawing/2014/main" id="{20788AA9-324E-4191-9C08-49F1F4DD37F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Exemplo: 192.168.1.0/24 representa aquela sub-rede IPv4.</a:t>
            </a:r>
          </a:p>
        </p:txBody>
      </p:sp>
      <p:sp>
        <p:nvSpPr>
          <p:cNvPr id="11" name="CaixaDeTexto 10">
            <a:extLst>
              <a:ext uri="{FF2B5EF4-FFF2-40B4-BE49-F238E27FC236}">
                <a16:creationId xmlns:a16="http://schemas.microsoft.com/office/drawing/2014/main" id="{B0CCBBCA-38E3-4EA2-A5C5-3F19739A8C43}"/>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Automático: usa a sub-rede da interface escolhida.</a:t>
            </a:r>
          </a:p>
        </p:txBody>
      </p:sp>
      <p:sp>
        <p:nvSpPr>
          <p:cNvPr id="12" name="CaixaDeTexto 11">
            <a:extLst>
              <a:ext uri="{FF2B5EF4-FFF2-40B4-BE49-F238E27FC236}">
                <a16:creationId xmlns:a16="http://schemas.microsoft.com/office/drawing/2014/main" id="{EEDB775E-9C92-4BF3-A5EA-CB0DAC2306A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784230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36F85A4-1A1B-4A50-9175-BAD94A59772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B532A7F3-FE43-4D08-8D85-4FFFEC35E42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timeout TCP de sondagem</a:t>
            </a:r>
          </a:p>
        </p:txBody>
      </p:sp>
      <p:sp>
        <p:nvSpPr>
          <p:cNvPr id="4" name="CaixaDeTexto 3">
            <a:extLst>
              <a:ext uri="{FF2B5EF4-FFF2-40B4-BE49-F238E27FC236}">
                <a16:creationId xmlns:a16="http://schemas.microsoft.com/office/drawing/2014/main" id="{A76A29D2-C1CB-492F-BA83-56C16E2BE17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14AC6D1-B14A-49F5-8026-2AB69CF1DDA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34</a:t>
            </a:r>
          </a:p>
        </p:txBody>
      </p:sp>
      <p:pic>
        <p:nvPicPr>
          <p:cNvPr id="7" name="Imagem 6">
            <a:extLst>
              <a:ext uri="{FF2B5EF4-FFF2-40B4-BE49-F238E27FC236}">
                <a16:creationId xmlns:a16="http://schemas.microsoft.com/office/drawing/2014/main" id="{C98B6A90-665C-4DC7-A074-708231C702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8142" y="1765300"/>
            <a:ext cx="7855717" cy="3073400"/>
          </a:xfrm>
          <a:prstGeom prst="rect">
            <a:avLst/>
          </a:prstGeom>
        </p:spPr>
      </p:pic>
      <p:sp>
        <p:nvSpPr>
          <p:cNvPr id="8" name="CaixaDeTexto 7">
            <a:extLst>
              <a:ext uri="{FF2B5EF4-FFF2-40B4-BE49-F238E27FC236}">
                <a16:creationId xmlns:a16="http://schemas.microsoft.com/office/drawing/2014/main" id="{99CB2638-7D1D-4316-BDA4-CFD7E6DA78C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Timeout: tempo máximo de espera na sondagem TCP.</a:t>
            </a:r>
          </a:p>
        </p:txBody>
      </p:sp>
      <p:sp>
        <p:nvSpPr>
          <p:cNvPr id="9" name="CaixaDeTexto 8">
            <a:extLst>
              <a:ext uri="{FF2B5EF4-FFF2-40B4-BE49-F238E27FC236}">
                <a16:creationId xmlns:a16="http://schemas.microsoft.com/office/drawing/2014/main" id="{0C3AD719-CBA7-40EC-9DB6-2DDFEFC0E4C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Faixa aceita: 200 a 3000 ms.</a:t>
            </a:r>
          </a:p>
        </p:txBody>
      </p:sp>
      <p:sp>
        <p:nvSpPr>
          <p:cNvPr id="10" name="CaixaDeTexto 9">
            <a:extLst>
              <a:ext uri="{FF2B5EF4-FFF2-40B4-BE49-F238E27FC236}">
                <a16:creationId xmlns:a16="http://schemas.microsoft.com/office/drawing/2014/main" id="{FB21657A-6097-4DA3-B959-209946EEF6D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Curto demais: pode omitir serviços lentos ou distantes.</a:t>
            </a:r>
          </a:p>
        </p:txBody>
      </p:sp>
      <p:sp>
        <p:nvSpPr>
          <p:cNvPr id="11" name="CaixaDeTexto 10">
            <a:extLst>
              <a:ext uri="{FF2B5EF4-FFF2-40B4-BE49-F238E27FC236}">
                <a16:creationId xmlns:a16="http://schemas.microsoft.com/office/drawing/2014/main" id="{515115A5-CF5D-46C4-9A77-4EE5816BD8C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Longo demais: amplia a duração dos candidatos silenciosos.</a:t>
            </a:r>
          </a:p>
        </p:txBody>
      </p:sp>
      <p:sp>
        <p:nvSpPr>
          <p:cNvPr id="12" name="CaixaDeTexto 11">
            <a:extLst>
              <a:ext uri="{FF2B5EF4-FFF2-40B4-BE49-F238E27FC236}">
                <a16:creationId xmlns:a16="http://schemas.microsoft.com/office/drawing/2014/main" id="{D685D5BC-68E3-44EC-B68B-A97C7344039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861064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2C9A8E2-345A-4DD7-92A9-340164D33AE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F3C2AE30-746F-488A-A19F-A302E200BBC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concorrência e taxa de sondagens</a:t>
            </a:r>
          </a:p>
        </p:txBody>
      </p:sp>
      <p:sp>
        <p:nvSpPr>
          <p:cNvPr id="4" name="CaixaDeTexto 3">
            <a:extLst>
              <a:ext uri="{FF2B5EF4-FFF2-40B4-BE49-F238E27FC236}">
                <a16:creationId xmlns:a16="http://schemas.microsoft.com/office/drawing/2014/main" id="{040A346E-DEA7-4694-ADCF-9DDF1AAF6D3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0F4F85C-AD01-47F0-B787-6A001FECB0F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35</a:t>
            </a:r>
          </a:p>
        </p:txBody>
      </p:sp>
      <p:pic>
        <p:nvPicPr>
          <p:cNvPr id="7" name="Imagem 6">
            <a:extLst>
              <a:ext uri="{FF2B5EF4-FFF2-40B4-BE49-F238E27FC236}">
                <a16:creationId xmlns:a16="http://schemas.microsoft.com/office/drawing/2014/main" id="{5052481B-6FED-4095-BB6D-D93A94298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8142" y="1765300"/>
            <a:ext cx="7855717" cy="3073400"/>
          </a:xfrm>
          <a:prstGeom prst="rect">
            <a:avLst/>
          </a:prstGeom>
        </p:spPr>
      </p:pic>
      <p:sp>
        <p:nvSpPr>
          <p:cNvPr id="8" name="CaixaDeTexto 7">
            <a:extLst>
              <a:ext uri="{FF2B5EF4-FFF2-40B4-BE49-F238E27FC236}">
                <a16:creationId xmlns:a16="http://schemas.microsoft.com/office/drawing/2014/main" id="{F9FE3A47-EF37-48F9-BC3A-3DE215A92BE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Concorrência: até 1 a 16 sondagens simultâneas.</a:t>
            </a:r>
          </a:p>
        </p:txBody>
      </p:sp>
      <p:sp>
        <p:nvSpPr>
          <p:cNvPr id="9" name="CaixaDeTexto 8">
            <a:extLst>
              <a:ext uri="{FF2B5EF4-FFF2-40B4-BE49-F238E27FC236}">
                <a16:creationId xmlns:a16="http://schemas.microsoft.com/office/drawing/2014/main" id="{37354C33-4B6C-498E-9D2C-B8895BAD855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Taxa máxima: de 1 a 100 tentativas por segundo.</a:t>
            </a:r>
          </a:p>
        </p:txBody>
      </p:sp>
      <p:sp>
        <p:nvSpPr>
          <p:cNvPr id="10" name="CaixaDeTexto 9">
            <a:extLst>
              <a:ext uri="{FF2B5EF4-FFF2-40B4-BE49-F238E27FC236}">
                <a16:creationId xmlns:a16="http://schemas.microsoft.com/office/drawing/2014/main" id="{58B24E29-134B-4624-9118-F6289C36FE3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Concorrência controla simultaneidade. Taxa controla ritmo.</a:t>
            </a:r>
          </a:p>
        </p:txBody>
      </p:sp>
      <p:sp>
        <p:nvSpPr>
          <p:cNvPr id="11" name="CaixaDeTexto 10">
            <a:extLst>
              <a:ext uri="{FF2B5EF4-FFF2-40B4-BE49-F238E27FC236}">
                <a16:creationId xmlns:a16="http://schemas.microsoft.com/office/drawing/2014/main" id="{3B89150B-CC18-4183-93B5-F7179D5BE4B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Valores baixos reduzem impacto e aumentam o tempo do teste.</a:t>
            </a:r>
          </a:p>
        </p:txBody>
      </p:sp>
      <p:sp>
        <p:nvSpPr>
          <p:cNvPr id="12" name="CaixaDeTexto 11">
            <a:extLst>
              <a:ext uri="{FF2B5EF4-FFF2-40B4-BE49-F238E27FC236}">
                <a16:creationId xmlns:a16="http://schemas.microsoft.com/office/drawing/2014/main" id="{D6E28F95-9F82-48E4-9F4C-222DAA1B23D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825041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26DB6FC-DF02-4554-865E-A1F98130421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5818E5CC-29B3-46E9-B4D5-A5D17B68863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sub-rede automática e portas</a:t>
            </a:r>
          </a:p>
        </p:txBody>
      </p:sp>
      <p:sp>
        <p:nvSpPr>
          <p:cNvPr id="4" name="CaixaDeTexto 3">
            <a:extLst>
              <a:ext uri="{FF2B5EF4-FFF2-40B4-BE49-F238E27FC236}">
                <a16:creationId xmlns:a16="http://schemas.microsoft.com/office/drawing/2014/main" id="{B5225C7E-A1A0-404A-B0C8-D543AB333C9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99866DF-3816-4ADF-A325-509C58E3CE57}"/>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36</a:t>
            </a:r>
          </a:p>
        </p:txBody>
      </p:sp>
      <p:pic>
        <p:nvPicPr>
          <p:cNvPr id="7" name="Imagem 6">
            <a:extLst>
              <a:ext uri="{FF2B5EF4-FFF2-40B4-BE49-F238E27FC236}">
                <a16:creationId xmlns:a16="http://schemas.microsoft.com/office/drawing/2014/main" id="{80379DDA-7C97-4AB7-B254-E077738F6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061" y="1765300"/>
            <a:ext cx="10013879" cy="3073400"/>
          </a:xfrm>
          <a:prstGeom prst="rect">
            <a:avLst/>
          </a:prstGeom>
        </p:spPr>
      </p:pic>
      <p:sp>
        <p:nvSpPr>
          <p:cNvPr id="8" name="CaixaDeTexto 7">
            <a:extLst>
              <a:ext uri="{FF2B5EF4-FFF2-40B4-BE49-F238E27FC236}">
                <a16:creationId xmlns:a16="http://schemas.microsoft.com/office/drawing/2014/main" id="{D03A2D3E-90FB-4D6C-BEE0-F97FC8910C1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Automático: identifica a sub-rede da interface selecionada.</a:t>
            </a:r>
          </a:p>
        </p:txBody>
      </p:sp>
      <p:sp>
        <p:nvSpPr>
          <p:cNvPr id="9" name="CaixaDeTexto 8">
            <a:extLst>
              <a:ext uri="{FF2B5EF4-FFF2-40B4-BE49-F238E27FC236}">
                <a16:creationId xmlns:a16="http://schemas.microsoft.com/office/drawing/2014/main" id="{1DD8FF15-4EB1-484B-A142-ABBD1633267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Portas: lista TCP separada por vírgulas, com até 16 entradas.</a:t>
            </a:r>
          </a:p>
        </p:txBody>
      </p:sp>
      <p:sp>
        <p:nvSpPr>
          <p:cNvPr id="10" name="CaixaDeTexto 9">
            <a:extLst>
              <a:ext uri="{FF2B5EF4-FFF2-40B4-BE49-F238E27FC236}">
                <a16:creationId xmlns:a16="http://schemas.microsoft.com/office/drawing/2014/main" id="{4A288680-7DF6-47C2-9849-498B1B27B18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502,1501,1502: testa somente esses serviços candidatos.</a:t>
            </a:r>
          </a:p>
        </p:txBody>
      </p:sp>
      <p:sp>
        <p:nvSpPr>
          <p:cNvPr id="11" name="CaixaDeTexto 10">
            <a:extLst>
              <a:ext uri="{FF2B5EF4-FFF2-40B4-BE49-F238E27FC236}">
                <a16:creationId xmlns:a16="http://schemas.microsoft.com/office/drawing/2014/main" id="{EC074290-2B40-444E-B61E-1BFB2B96794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Portas não listadas ficam fora da descoberta ativa.</a:t>
            </a:r>
          </a:p>
        </p:txBody>
      </p:sp>
      <p:sp>
        <p:nvSpPr>
          <p:cNvPr id="12" name="CaixaDeTexto 11">
            <a:extLst>
              <a:ext uri="{FF2B5EF4-FFF2-40B4-BE49-F238E27FC236}">
                <a16:creationId xmlns:a16="http://schemas.microsoft.com/office/drawing/2014/main" id="{78E48D2A-3BDD-4272-BF5A-C455F39CADD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662412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03CC134-5D8E-4B33-8B7E-8BD10F57C82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D4A0969F-F09D-46F5-9CFA-B707DBF771F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habilitar rastreamento ICMP</a:t>
            </a:r>
          </a:p>
        </p:txBody>
      </p:sp>
      <p:sp>
        <p:nvSpPr>
          <p:cNvPr id="4" name="CaixaDeTexto 3">
            <a:extLst>
              <a:ext uri="{FF2B5EF4-FFF2-40B4-BE49-F238E27FC236}">
                <a16:creationId xmlns:a16="http://schemas.microsoft.com/office/drawing/2014/main" id="{127A9A6F-56BE-4697-9101-E9E2C247397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A04C9D96-172C-4CF9-81D6-6699FB783CF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37</a:t>
            </a:r>
          </a:p>
        </p:txBody>
      </p:sp>
      <p:pic>
        <p:nvPicPr>
          <p:cNvPr id="7" name="Imagem 6">
            <a:extLst>
              <a:ext uri="{FF2B5EF4-FFF2-40B4-BE49-F238E27FC236}">
                <a16:creationId xmlns:a16="http://schemas.microsoft.com/office/drawing/2014/main" id="{00FAF2ED-8B43-4EE9-8D3E-0D01C5C0E5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284" y="1765300"/>
            <a:ext cx="7755431" cy="3073400"/>
          </a:xfrm>
          <a:prstGeom prst="rect">
            <a:avLst/>
          </a:prstGeom>
        </p:spPr>
      </p:pic>
      <p:sp>
        <p:nvSpPr>
          <p:cNvPr id="8" name="CaixaDeTexto 7">
            <a:extLst>
              <a:ext uri="{FF2B5EF4-FFF2-40B4-BE49-F238E27FC236}">
                <a16:creationId xmlns:a16="http://schemas.microsoft.com/office/drawing/2014/main" id="{56A73F17-0086-4174-B3CC-AC276C8F435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Rastrear rotas: consulta o percurso com TTL crescente.</a:t>
            </a:r>
          </a:p>
        </p:txBody>
      </p:sp>
      <p:sp>
        <p:nvSpPr>
          <p:cNvPr id="9" name="CaixaDeTexto 8">
            <a:extLst>
              <a:ext uri="{FF2B5EF4-FFF2-40B4-BE49-F238E27FC236}">
                <a16:creationId xmlns:a16="http://schemas.microsoft.com/office/drawing/2014/main" id="{87E528EE-8042-4EA6-80AA-E46ED90A8AC0}"/>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 usa os alvos. Servidor: pares Modbus observados.</a:t>
            </a:r>
          </a:p>
        </p:txBody>
      </p:sp>
      <p:sp>
        <p:nvSpPr>
          <p:cNvPr id="10" name="CaixaDeTexto 9">
            <a:extLst>
              <a:ext uri="{FF2B5EF4-FFF2-40B4-BE49-F238E27FC236}">
                <a16:creationId xmlns:a16="http://schemas.microsoft.com/office/drawing/2014/main" id="{BB109732-336B-4680-881D-E4B7E1949F5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Um switch L2 não aparece como salto de roteador.</a:t>
            </a:r>
          </a:p>
        </p:txBody>
      </p:sp>
      <p:sp>
        <p:nvSpPr>
          <p:cNvPr id="11" name="CaixaDeTexto 10">
            <a:extLst>
              <a:ext uri="{FF2B5EF4-FFF2-40B4-BE49-F238E27FC236}">
                <a16:creationId xmlns:a16="http://schemas.microsoft.com/office/drawing/2014/main" id="{BEF4063E-F447-4789-8075-C1887CEF5A3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ICMP sem resposta pode coexistir com Modbus funcional.</a:t>
            </a:r>
          </a:p>
        </p:txBody>
      </p:sp>
      <p:sp>
        <p:nvSpPr>
          <p:cNvPr id="12" name="CaixaDeTexto 11">
            <a:extLst>
              <a:ext uri="{FF2B5EF4-FFF2-40B4-BE49-F238E27FC236}">
                <a16:creationId xmlns:a16="http://schemas.microsoft.com/office/drawing/2014/main" id="{9AD2E1A3-230A-44FC-AC41-CAA8356E0572}"/>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8795571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E3AD8990-6B48-4E81-8114-A9C6AD9ABB5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E5FAE424-4A7C-4343-A60E-0410779C62E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Procedimentos: limites do rastreamento</a:t>
            </a:r>
          </a:p>
        </p:txBody>
      </p:sp>
      <p:sp>
        <p:nvSpPr>
          <p:cNvPr id="4" name="CaixaDeTexto 3">
            <a:extLst>
              <a:ext uri="{FF2B5EF4-FFF2-40B4-BE49-F238E27FC236}">
                <a16:creationId xmlns:a16="http://schemas.microsoft.com/office/drawing/2014/main" id="{E4CCE0D2-9595-44B4-B566-324EEFBA050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BB5D4AC-45F2-4E9B-BD0A-F177F74C3D1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38</a:t>
            </a:r>
          </a:p>
        </p:txBody>
      </p:sp>
      <p:pic>
        <p:nvPicPr>
          <p:cNvPr id="7" name="Imagem 6">
            <a:extLst>
              <a:ext uri="{FF2B5EF4-FFF2-40B4-BE49-F238E27FC236}">
                <a16:creationId xmlns:a16="http://schemas.microsoft.com/office/drawing/2014/main" id="{5270BE4D-2E53-4A48-9D30-4B7CB8EE0C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284" y="1765300"/>
            <a:ext cx="7755431" cy="3073400"/>
          </a:xfrm>
          <a:prstGeom prst="rect">
            <a:avLst/>
          </a:prstGeom>
        </p:spPr>
      </p:pic>
      <p:sp>
        <p:nvSpPr>
          <p:cNvPr id="8" name="CaixaDeTexto 7">
            <a:extLst>
              <a:ext uri="{FF2B5EF4-FFF2-40B4-BE49-F238E27FC236}">
                <a16:creationId xmlns:a16="http://schemas.microsoft.com/office/drawing/2014/main" id="{508DF921-2E3B-499D-886C-E61C264E74D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de saltos: TTL limite, de 1 a 30.</a:t>
            </a:r>
          </a:p>
        </p:txBody>
      </p:sp>
      <p:sp>
        <p:nvSpPr>
          <p:cNvPr id="9" name="CaixaDeTexto 8">
            <a:extLst>
              <a:ext uri="{FF2B5EF4-FFF2-40B4-BE49-F238E27FC236}">
                <a16:creationId xmlns:a16="http://schemas.microsoft.com/office/drawing/2014/main" id="{1A14F016-6136-48EC-AB0D-E9D051A4B38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Timeout por salto: espera ICMP, de 200 a 3000 ms.</a:t>
            </a:r>
          </a:p>
        </p:txBody>
      </p:sp>
      <p:sp>
        <p:nvSpPr>
          <p:cNvPr id="10" name="CaixaDeTexto 9">
            <a:extLst>
              <a:ext uri="{FF2B5EF4-FFF2-40B4-BE49-F238E27FC236}">
                <a16:creationId xmlns:a16="http://schemas.microsoft.com/office/drawing/2014/main" id="{3E770D47-BD11-4D2C-9C23-0EFF6DA62C8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de alvos: de 1 a 32 destinos rastreados.</a:t>
            </a:r>
          </a:p>
        </p:txBody>
      </p:sp>
      <p:sp>
        <p:nvSpPr>
          <p:cNvPr id="11" name="CaixaDeTexto 10">
            <a:extLst>
              <a:ext uri="{FF2B5EF4-FFF2-40B4-BE49-F238E27FC236}">
                <a16:creationId xmlns:a16="http://schemas.microsoft.com/office/drawing/2014/main" id="{80F6DB8D-5AD8-4493-8243-E6658E33C2A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Limites baixos reduzem duração e podem deixar caminhos parciais.</a:t>
            </a:r>
          </a:p>
        </p:txBody>
      </p:sp>
      <p:sp>
        <p:nvSpPr>
          <p:cNvPr id="12" name="CaixaDeTexto 11">
            <a:extLst>
              <a:ext uri="{FF2B5EF4-FFF2-40B4-BE49-F238E27FC236}">
                <a16:creationId xmlns:a16="http://schemas.microsoft.com/office/drawing/2014/main" id="{83E215E1-7A87-4755-B4F6-F55B751D2650}"/>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9198537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A284828-9149-4D36-BB83-08253DFFC11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41ADA975-B38D-4161-95FE-03ABCB68F59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habilitação e papel</a:t>
            </a:r>
          </a:p>
        </p:txBody>
      </p:sp>
      <p:sp>
        <p:nvSpPr>
          <p:cNvPr id="4" name="CaixaDeTexto 3">
            <a:extLst>
              <a:ext uri="{FF2B5EF4-FFF2-40B4-BE49-F238E27FC236}">
                <a16:creationId xmlns:a16="http://schemas.microsoft.com/office/drawing/2014/main" id="{BF334EEC-E1D3-4BB0-A600-37C06B1620D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E9737BC-E8C2-4A72-A123-2BA58C97925A}"/>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39</a:t>
            </a:r>
          </a:p>
        </p:txBody>
      </p:sp>
      <p:pic>
        <p:nvPicPr>
          <p:cNvPr id="7" name="Imagem 6">
            <a:extLst>
              <a:ext uri="{FF2B5EF4-FFF2-40B4-BE49-F238E27FC236}">
                <a16:creationId xmlns:a16="http://schemas.microsoft.com/office/drawing/2014/main" id="{D094034E-A961-4204-9E2C-E35D3C290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08B0B1FF-5AC9-4EC8-9F06-554E4DFB8FE1}"/>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Habilitar: inclui a etapa opcional no Teste completo.</a:t>
            </a:r>
          </a:p>
        </p:txBody>
      </p:sp>
      <p:sp>
        <p:nvSpPr>
          <p:cNvPr id="9" name="CaixaDeTexto 8">
            <a:extLst>
              <a:ext uri="{FF2B5EF4-FFF2-40B4-BE49-F238E27FC236}">
                <a16:creationId xmlns:a16="http://schemas.microsoft.com/office/drawing/2014/main" id="{EFF8D1B0-21DC-4391-9269-A6118FBCCE0E}"/>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 sonda servidores com funções de leitura.</a:t>
            </a:r>
          </a:p>
        </p:txBody>
      </p:sp>
      <p:sp>
        <p:nvSpPr>
          <p:cNvPr id="10" name="CaixaDeTexto 9">
            <a:extLst>
              <a:ext uri="{FF2B5EF4-FFF2-40B4-BE49-F238E27FC236}">
                <a16:creationId xmlns:a16="http://schemas.microsoft.com/office/drawing/2014/main" id="{0A354E62-DEF3-4F4B-A53D-B5D0D36518F4}"/>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 observa ranges solicitados pelos clientes.</a:t>
            </a:r>
          </a:p>
        </p:txBody>
      </p:sp>
      <p:sp>
        <p:nvSpPr>
          <p:cNvPr id="11" name="CaixaDeTexto 10">
            <a:extLst>
              <a:ext uri="{FF2B5EF4-FFF2-40B4-BE49-F238E27FC236}">
                <a16:creationId xmlns:a16="http://schemas.microsoft.com/office/drawing/2014/main" id="{57639571-7107-4B1C-BB0B-182791A7C842}"/>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grava opções. A revisão confirma a execução.</a:t>
            </a:r>
          </a:p>
        </p:txBody>
      </p:sp>
      <p:sp>
        <p:nvSpPr>
          <p:cNvPr id="12" name="CaixaDeTexto 11">
            <a:extLst>
              <a:ext uri="{FF2B5EF4-FFF2-40B4-BE49-F238E27FC236}">
                <a16:creationId xmlns:a16="http://schemas.microsoft.com/office/drawing/2014/main" id="{C25540CD-A460-482A-9BBD-9E6116F96371}"/>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2334159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70383DD-D448-4335-BAED-AB2DCE3BC56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C52EC0D2-0BBE-4B9D-9826-195FC7BFB48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endereço e tamanho do bloco</a:t>
            </a:r>
          </a:p>
        </p:txBody>
      </p:sp>
      <p:sp>
        <p:nvSpPr>
          <p:cNvPr id="4" name="CaixaDeTexto 3">
            <a:extLst>
              <a:ext uri="{FF2B5EF4-FFF2-40B4-BE49-F238E27FC236}">
                <a16:creationId xmlns:a16="http://schemas.microsoft.com/office/drawing/2014/main" id="{771E86E0-1D84-4DBF-9BB2-9AA7F2A3BBE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D9F9ACD-9AFA-44D5-A594-D294A3AE290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40</a:t>
            </a:r>
          </a:p>
        </p:txBody>
      </p:sp>
      <p:pic>
        <p:nvPicPr>
          <p:cNvPr id="7" name="Imagem 6">
            <a:extLst>
              <a:ext uri="{FF2B5EF4-FFF2-40B4-BE49-F238E27FC236}">
                <a16:creationId xmlns:a16="http://schemas.microsoft.com/office/drawing/2014/main" id="{868D970E-D07B-41BB-8E98-823F6FD7C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196F3E01-1A7B-45A5-9357-29D98CB91B7B}"/>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Endereço máximo: limite inclusivo, de 0 a 65535.</a:t>
            </a:r>
          </a:p>
        </p:txBody>
      </p:sp>
      <p:sp>
        <p:nvSpPr>
          <p:cNvPr id="9" name="CaixaDeTexto 8">
            <a:extLst>
              <a:ext uri="{FF2B5EF4-FFF2-40B4-BE49-F238E27FC236}">
                <a16:creationId xmlns:a16="http://schemas.microsoft.com/office/drawing/2014/main" id="{AF7094FC-8DC5-4BE8-ABE6-ADB10E2BE465}"/>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Bloco: pontos por leitura, de 1 a 120.</a:t>
            </a:r>
          </a:p>
        </p:txBody>
      </p:sp>
      <p:sp>
        <p:nvSpPr>
          <p:cNvPr id="10" name="CaixaDeTexto 9">
            <a:extLst>
              <a:ext uri="{FF2B5EF4-FFF2-40B4-BE49-F238E27FC236}">
                <a16:creationId xmlns:a16="http://schemas.microsoft.com/office/drawing/2014/main" id="{480B4E19-452F-45D6-A69C-964A9FE1C64B}"/>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100, bloco 10: 11 leituras iniciais por UID/FC.</a:t>
            </a:r>
          </a:p>
        </p:txBody>
      </p:sp>
      <p:sp>
        <p:nvSpPr>
          <p:cNvPr id="11" name="CaixaDeTexto 10">
            <a:extLst>
              <a:ext uri="{FF2B5EF4-FFF2-40B4-BE49-F238E27FC236}">
                <a16:creationId xmlns:a16="http://schemas.microsoft.com/office/drawing/2014/main" id="{97D72A1E-2836-4CF3-8275-D6D98D48E4EC}"/>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última leitura cobre só o restante até o limite.</a:t>
            </a:r>
          </a:p>
        </p:txBody>
      </p:sp>
      <p:sp>
        <p:nvSpPr>
          <p:cNvPr id="12" name="CaixaDeTexto 11">
            <a:extLst>
              <a:ext uri="{FF2B5EF4-FFF2-40B4-BE49-F238E27FC236}">
                <a16:creationId xmlns:a16="http://schemas.microsoft.com/office/drawing/2014/main" id="{66044B3E-FAA4-45F3-A116-6AAAED1DFAAB}"/>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2237316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63C5075-038D-4891-BA82-945406D5AB9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249BCE88-6A6B-4F6E-A63E-347C14BFAE5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varredura dos Unit IDs</a:t>
            </a:r>
          </a:p>
        </p:txBody>
      </p:sp>
      <p:sp>
        <p:nvSpPr>
          <p:cNvPr id="4" name="CaixaDeTexto 3">
            <a:extLst>
              <a:ext uri="{FF2B5EF4-FFF2-40B4-BE49-F238E27FC236}">
                <a16:creationId xmlns:a16="http://schemas.microsoft.com/office/drawing/2014/main" id="{F26E26F0-CE03-4C38-867B-7B862C20833E}"/>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A83523F-85B8-495A-A2C2-90A8B75FB7F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41</a:t>
            </a:r>
          </a:p>
        </p:txBody>
      </p:sp>
      <p:pic>
        <p:nvPicPr>
          <p:cNvPr id="7" name="Imagem 6">
            <a:extLst>
              <a:ext uri="{FF2B5EF4-FFF2-40B4-BE49-F238E27FC236}">
                <a16:creationId xmlns:a16="http://schemas.microsoft.com/office/drawing/2014/main" id="{D2211B9A-51BB-4F82-A637-4A1AF58CE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FC8CB52C-C120-41C5-A7C1-9C925411575D}"/>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Varrer IDs: testa a faixa de IDs em vez do UID cadastrado.</a:t>
            </a:r>
          </a:p>
        </p:txBody>
      </p:sp>
      <p:sp>
        <p:nvSpPr>
          <p:cNvPr id="9" name="CaixaDeTexto 8">
            <a:extLst>
              <a:ext uri="{FF2B5EF4-FFF2-40B4-BE49-F238E27FC236}">
                <a16:creationId xmlns:a16="http://schemas.microsoft.com/office/drawing/2014/main" id="{6CDF5A89-47D0-43CD-92FD-6457A35BE886}"/>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ID inicial e final: limites inclusivos, de 0 a 255.</a:t>
            </a:r>
          </a:p>
        </p:txBody>
      </p:sp>
      <p:sp>
        <p:nvSpPr>
          <p:cNvPr id="10" name="CaixaDeTexto 9">
            <a:extLst>
              <a:ext uri="{FF2B5EF4-FFF2-40B4-BE49-F238E27FC236}">
                <a16:creationId xmlns:a16="http://schemas.microsoft.com/office/drawing/2014/main" id="{7EC84B19-634D-4D48-8D7E-DF9A7A4F97C4}"/>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Inicial deve ser menor ou igual ao final.</a:t>
            </a:r>
          </a:p>
        </p:txBody>
      </p:sp>
      <p:sp>
        <p:nvSpPr>
          <p:cNvPr id="11" name="CaixaDeTexto 10">
            <a:extLst>
              <a:ext uri="{FF2B5EF4-FFF2-40B4-BE49-F238E27FC236}">
                <a16:creationId xmlns:a16="http://schemas.microsoft.com/office/drawing/2014/main" id="{114256EC-C649-4A6C-B514-744EDBD2E038}"/>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Mais IDs multiplicam requests e timeouts.</a:t>
            </a:r>
          </a:p>
        </p:txBody>
      </p:sp>
      <p:sp>
        <p:nvSpPr>
          <p:cNvPr id="12" name="CaixaDeTexto 11">
            <a:extLst>
              <a:ext uri="{FF2B5EF4-FFF2-40B4-BE49-F238E27FC236}">
                <a16:creationId xmlns:a16="http://schemas.microsoft.com/office/drawing/2014/main" id="{C90E7100-7DF0-4E7A-B710-ADED57F49D4C}"/>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31081486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FC515B5-CE55-4FA3-AC85-DDD54B8FFAE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4D0D07FA-9DA9-4A32-BE78-265A565E3D3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funções de leitura</a:t>
            </a:r>
          </a:p>
        </p:txBody>
      </p:sp>
      <p:sp>
        <p:nvSpPr>
          <p:cNvPr id="4" name="CaixaDeTexto 3">
            <a:extLst>
              <a:ext uri="{FF2B5EF4-FFF2-40B4-BE49-F238E27FC236}">
                <a16:creationId xmlns:a16="http://schemas.microsoft.com/office/drawing/2014/main" id="{7307B9C1-23A5-4D1B-83B7-063C5EF44BB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9CCE151-A734-4EA9-A84F-1BBDF9159D4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42</a:t>
            </a:r>
          </a:p>
        </p:txBody>
      </p:sp>
      <p:pic>
        <p:nvPicPr>
          <p:cNvPr id="7" name="Imagem 6">
            <a:extLst>
              <a:ext uri="{FF2B5EF4-FFF2-40B4-BE49-F238E27FC236}">
                <a16:creationId xmlns:a16="http://schemas.microsoft.com/office/drawing/2014/main" id="{E7FBA2F6-9D94-4DA6-A274-C396A00989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B130CB36-21A9-4448-8F70-4F903E595F5E}"/>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en-US">
                <a:solidFill>
                  <a:srgbClr val="18354B"/>
                </a:solidFill>
                <a:latin typeface="Segoe UI" panose="020B0502040204020203" pitchFamily="34" charset="0"/>
              </a:rPr>
              <a:t>FC01: Coils. FC02: Discrete Inputs.</a:t>
            </a:r>
            <a:endParaRPr lang="pt-BR">
              <a:solidFill>
                <a:srgbClr val="18354B"/>
              </a:solidFill>
              <a:latin typeface="Segoe UI" panose="020B0502040204020203" pitchFamily="34" charset="0"/>
            </a:endParaRPr>
          </a:p>
        </p:txBody>
      </p:sp>
      <p:sp>
        <p:nvSpPr>
          <p:cNvPr id="9" name="CaixaDeTexto 8">
            <a:extLst>
              <a:ext uri="{FF2B5EF4-FFF2-40B4-BE49-F238E27FC236}">
                <a16:creationId xmlns:a16="http://schemas.microsoft.com/office/drawing/2014/main" id="{8BD9E56C-2C77-4666-BDDD-D28A0F919345}"/>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FC03: Holding Registers. FC04: Input Registers.</a:t>
            </a:r>
          </a:p>
        </p:txBody>
      </p:sp>
      <p:sp>
        <p:nvSpPr>
          <p:cNvPr id="10" name="CaixaDeTexto 9">
            <a:extLst>
              <a:ext uri="{FF2B5EF4-FFF2-40B4-BE49-F238E27FC236}">
                <a16:creationId xmlns:a16="http://schemas.microsoft.com/office/drawing/2014/main" id="{1F18A576-B9B9-4C82-99E8-DA9F64C9D2E2}"/>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Ao menos uma função deve ficar selecionada.</a:t>
            </a:r>
          </a:p>
        </p:txBody>
      </p:sp>
      <p:sp>
        <p:nvSpPr>
          <p:cNvPr id="11" name="CaixaDeTexto 10">
            <a:extLst>
              <a:ext uri="{FF2B5EF4-FFF2-40B4-BE49-F238E27FC236}">
                <a16:creationId xmlns:a16="http://schemas.microsoft.com/office/drawing/2014/main" id="{2C055F9C-325C-4E83-AA06-FDC8E84FEF0F}"/>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Cada função descreve uma área independente.</a:t>
            </a:r>
          </a:p>
        </p:txBody>
      </p:sp>
      <p:sp>
        <p:nvSpPr>
          <p:cNvPr id="12" name="CaixaDeTexto 11">
            <a:extLst>
              <a:ext uri="{FF2B5EF4-FFF2-40B4-BE49-F238E27FC236}">
                <a16:creationId xmlns:a16="http://schemas.microsoft.com/office/drawing/2014/main" id="{12695CBB-EDCB-4A8A-B203-EAC073FBF9F8}"/>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24691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05955D7-ECA4-49B6-86B6-27ECD41379C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05 · Configuração item a item</a:t>
            </a:r>
          </a:p>
        </p:txBody>
      </p:sp>
      <p:sp>
        <p:nvSpPr>
          <p:cNvPr id="3" name="CaixaDeTexto 2">
            <a:extLst>
              <a:ext uri="{FF2B5EF4-FFF2-40B4-BE49-F238E27FC236}">
                <a16:creationId xmlns:a16="http://schemas.microsoft.com/office/drawing/2014/main" id="{0DF59C7F-32AB-48D9-B7EF-66903170B45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fallback ponto a ponto</a:t>
            </a:r>
          </a:p>
        </p:txBody>
      </p:sp>
      <p:sp>
        <p:nvSpPr>
          <p:cNvPr id="4" name="CaixaDeTexto 3">
            <a:extLst>
              <a:ext uri="{FF2B5EF4-FFF2-40B4-BE49-F238E27FC236}">
                <a16:creationId xmlns:a16="http://schemas.microsoft.com/office/drawing/2014/main" id="{401D5D08-C22E-4AFC-942E-AA638CA04D8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D64606B-07BE-415F-B650-5717D5F2494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43</a:t>
            </a:r>
          </a:p>
        </p:txBody>
      </p:sp>
      <p:pic>
        <p:nvPicPr>
          <p:cNvPr id="7" name="Imagem 6">
            <a:extLst>
              <a:ext uri="{FF2B5EF4-FFF2-40B4-BE49-F238E27FC236}">
                <a16:creationId xmlns:a16="http://schemas.microsoft.com/office/drawing/2014/main" id="{99854E2D-76F8-44C3-8178-8AFACAB5A3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874" y="1841500"/>
            <a:ext cx="4241851" cy="4216400"/>
          </a:xfrm>
          <a:prstGeom prst="rect">
            <a:avLst/>
          </a:prstGeom>
        </p:spPr>
      </p:pic>
      <p:sp>
        <p:nvSpPr>
          <p:cNvPr id="8" name="CaixaDeTexto 7">
            <a:extLst>
              <a:ext uri="{FF2B5EF4-FFF2-40B4-BE49-F238E27FC236}">
                <a16:creationId xmlns:a16="http://schemas.microsoft.com/office/drawing/2014/main" id="{A04C3F7D-9D16-4930-890F-12AC33B3325D}"/>
              </a:ext>
            </a:extLst>
          </p:cNvPr>
          <p:cNvSpPr txBox="1"/>
          <p:nvPr/>
        </p:nvSpPr>
        <p:spPr>
          <a:xfrm>
            <a:off x="7493000" y="1917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Fallback: repete pontos individuais após falha do bloco.</a:t>
            </a:r>
          </a:p>
        </p:txBody>
      </p:sp>
      <p:sp>
        <p:nvSpPr>
          <p:cNvPr id="9" name="CaixaDeTexto 8">
            <a:extLst>
              <a:ext uri="{FF2B5EF4-FFF2-40B4-BE49-F238E27FC236}">
                <a16:creationId xmlns:a16="http://schemas.microsoft.com/office/drawing/2014/main" id="{B8DBA2B5-AE81-4526-B3A6-01AFEBC1BE3B}"/>
              </a:ext>
            </a:extLst>
          </p:cNvPr>
          <p:cNvSpPr txBox="1"/>
          <p:nvPr/>
        </p:nvSpPr>
        <p:spPr>
          <a:xfrm>
            <a:off x="7493000" y="2997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Ajuda a localizar regiões menores e lacunas.</a:t>
            </a:r>
          </a:p>
        </p:txBody>
      </p:sp>
      <p:sp>
        <p:nvSpPr>
          <p:cNvPr id="10" name="CaixaDeTexto 9">
            <a:extLst>
              <a:ext uri="{FF2B5EF4-FFF2-40B4-BE49-F238E27FC236}">
                <a16:creationId xmlns:a16="http://schemas.microsoft.com/office/drawing/2014/main" id="{A54D7C2F-3F5B-4FA9-A7E0-516F394DE8DB}"/>
              </a:ext>
            </a:extLst>
          </p:cNvPr>
          <p:cNvSpPr txBox="1"/>
          <p:nvPr/>
        </p:nvSpPr>
        <p:spPr>
          <a:xfrm>
            <a:off x="7493000" y="40766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Aumenta requests e duração em áreas inválidas.</a:t>
            </a:r>
          </a:p>
        </p:txBody>
      </p:sp>
      <p:sp>
        <p:nvSpPr>
          <p:cNvPr id="11" name="CaixaDeTexto 10">
            <a:extLst>
              <a:ext uri="{FF2B5EF4-FFF2-40B4-BE49-F238E27FC236}">
                <a16:creationId xmlns:a16="http://schemas.microsoft.com/office/drawing/2014/main" id="{51E32AE2-9D98-4ABD-A250-DBA81951D7AC}"/>
              </a:ext>
            </a:extLst>
          </p:cNvPr>
          <p:cNvSpPr txBox="1"/>
          <p:nvPr/>
        </p:nvSpPr>
        <p:spPr>
          <a:xfrm>
            <a:off x="7493000" y="5156199"/>
            <a:ext cx="4013200" cy="977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mapa mostra leitura aceita, sem nomes ou escalas de engenharia.</a:t>
            </a:r>
          </a:p>
        </p:txBody>
      </p:sp>
      <p:sp>
        <p:nvSpPr>
          <p:cNvPr id="12" name="CaixaDeTexto 11">
            <a:extLst>
              <a:ext uri="{FF2B5EF4-FFF2-40B4-BE49-F238E27FC236}">
                <a16:creationId xmlns:a16="http://schemas.microsoft.com/office/drawing/2014/main" id="{9A59D4FA-C866-485B-BBB6-C46D129AF771}"/>
              </a:ext>
            </a:extLst>
          </p:cNvPr>
          <p:cNvSpPr txBox="1"/>
          <p:nvPr/>
        </p:nvSpPr>
        <p:spPr>
          <a:xfrm>
            <a:off x="685800" y="6159500"/>
            <a:ext cx="108204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Tela real do software. Valores de exemplo para treinamento.</a:t>
            </a:r>
          </a:p>
        </p:txBody>
      </p:sp>
    </p:spTree>
    <p:extLst>
      <p:ext uri="{BB962C8B-B14F-4D97-AF65-F5344CB8AC3E}">
        <p14:creationId xmlns:p14="http://schemas.microsoft.com/office/powerpoint/2010/main" val="18154753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303CDAD-723C-409E-889B-BC1C7289052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30E11FBB-CDA7-40E0-82BD-3543F44A09C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Execução: checklist e evidência selecionada</a:t>
            </a:r>
          </a:p>
        </p:txBody>
      </p:sp>
      <p:sp>
        <p:nvSpPr>
          <p:cNvPr id="4" name="CaixaDeTexto 3">
            <a:extLst>
              <a:ext uri="{FF2B5EF4-FFF2-40B4-BE49-F238E27FC236}">
                <a16:creationId xmlns:a16="http://schemas.microsoft.com/office/drawing/2014/main" id="{0E11F30D-4C5A-4913-83A7-F2F835F681A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0200EE1-EF36-4AA9-BA55-4FEEA84CCA9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44</a:t>
            </a:r>
          </a:p>
        </p:txBody>
      </p:sp>
      <p:pic>
        <p:nvPicPr>
          <p:cNvPr id="7" name="Imagem 6">
            <a:extLst>
              <a:ext uri="{FF2B5EF4-FFF2-40B4-BE49-F238E27FC236}">
                <a16:creationId xmlns:a16="http://schemas.microsoft.com/office/drawing/2014/main" id="{A0032DE7-B76D-42B7-88D5-6A0426FE47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E57695A1-0C5A-4511-BF0E-DB33F529E20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Etapa e estado: mostram o percurso e o resultado de cada verificação.</a:t>
            </a:r>
          </a:p>
        </p:txBody>
      </p:sp>
      <p:sp>
        <p:nvSpPr>
          <p:cNvPr id="9" name="CaixaDeTexto 8">
            <a:extLst>
              <a:ext uri="{FF2B5EF4-FFF2-40B4-BE49-F238E27FC236}">
                <a16:creationId xmlns:a16="http://schemas.microsoft.com/office/drawing/2014/main" id="{E797086E-2503-4C99-A45F-39061849AF2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Seleção da etapa: abre objetivo, resultado técnico e recomendação.</a:t>
            </a:r>
          </a:p>
        </p:txBody>
      </p:sp>
      <p:sp>
        <p:nvSpPr>
          <p:cNvPr id="10" name="CaixaDeTexto 9">
            <a:extLst>
              <a:ext uri="{FF2B5EF4-FFF2-40B4-BE49-F238E27FC236}">
                <a16:creationId xmlns:a16="http://schemas.microsoft.com/office/drawing/2014/main" id="{1AB41290-4F4B-41A5-8938-050E362E654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configuração fica protegida durante a execução.</a:t>
            </a:r>
          </a:p>
        </p:txBody>
      </p:sp>
      <p:sp>
        <p:nvSpPr>
          <p:cNvPr id="11" name="CaixaDeTexto 10">
            <a:extLst>
              <a:ext uri="{FF2B5EF4-FFF2-40B4-BE49-F238E27FC236}">
                <a16:creationId xmlns:a16="http://schemas.microsoft.com/office/drawing/2014/main" id="{19EF29D9-E5D4-4170-B0D2-1ED6A1A9CB11}"/>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plano varia conforme papel, alvos e descoberta habilitada.</a:t>
            </a:r>
          </a:p>
        </p:txBody>
      </p:sp>
      <p:sp>
        <p:nvSpPr>
          <p:cNvPr id="12" name="CaixaDeTexto 11">
            <a:extLst>
              <a:ext uri="{FF2B5EF4-FFF2-40B4-BE49-F238E27FC236}">
                <a16:creationId xmlns:a16="http://schemas.microsoft.com/office/drawing/2014/main" id="{FB94B815-60F2-470F-A152-9573234C7B3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9579866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B3576DE-ED23-49F1-9CA3-CC182306B50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514D7DE2-2BFC-4CC5-9873-70FC5B5C398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Checklist: significado dos estados</a:t>
            </a:r>
          </a:p>
        </p:txBody>
      </p:sp>
      <p:sp>
        <p:nvSpPr>
          <p:cNvPr id="4" name="CaixaDeTexto 3">
            <a:extLst>
              <a:ext uri="{FF2B5EF4-FFF2-40B4-BE49-F238E27FC236}">
                <a16:creationId xmlns:a16="http://schemas.microsoft.com/office/drawing/2014/main" id="{C72641D7-AF10-4749-865C-7CA1AB7CA16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5DC8381-8E27-4679-B846-FB3D037F5E6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45</a:t>
            </a:r>
          </a:p>
        </p:txBody>
      </p:sp>
      <p:pic>
        <p:nvPicPr>
          <p:cNvPr id="7" name="Imagem 6">
            <a:extLst>
              <a:ext uri="{FF2B5EF4-FFF2-40B4-BE49-F238E27FC236}">
                <a16:creationId xmlns:a16="http://schemas.microsoft.com/office/drawing/2014/main" id="{AF0116C3-3404-4B28-960C-5660DA5417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F3467BEE-0B6E-4E25-AA7E-2386BCD6761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OK: critério atendido na janela. Atenção: sinal a investigar.</a:t>
            </a:r>
          </a:p>
        </p:txBody>
      </p:sp>
      <p:sp>
        <p:nvSpPr>
          <p:cNvPr id="9" name="CaixaDeTexto 8">
            <a:extLst>
              <a:ext uri="{FF2B5EF4-FFF2-40B4-BE49-F238E27FC236}">
                <a16:creationId xmlns:a16="http://schemas.microsoft.com/office/drawing/2014/main" id="{A553D4D2-AB37-4752-82E6-3F3C7E784AD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 operação ou critério não atendido.</a:t>
            </a:r>
          </a:p>
        </p:txBody>
      </p:sp>
      <p:sp>
        <p:nvSpPr>
          <p:cNvPr id="10" name="CaixaDeTexto 9">
            <a:extLst>
              <a:ext uri="{FF2B5EF4-FFF2-40B4-BE49-F238E27FC236}">
                <a16:creationId xmlns:a16="http://schemas.microsoft.com/office/drawing/2014/main" id="{95515EE6-A8E3-4271-A950-BC9D1952796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Inconclusivo: evidência insuficiente. Não aplicável: etapa fora do cenário.</a:t>
            </a:r>
          </a:p>
        </p:txBody>
      </p:sp>
      <p:sp>
        <p:nvSpPr>
          <p:cNvPr id="11" name="CaixaDeTexto 10">
            <a:extLst>
              <a:ext uri="{FF2B5EF4-FFF2-40B4-BE49-F238E27FC236}">
                <a16:creationId xmlns:a16="http://schemas.microsoft.com/office/drawing/2014/main" id="{424F1C09-EC84-40E6-B90E-9AF2A00F894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Executando e Pendente: etapa ativa ou ainda não processada.</a:t>
            </a:r>
          </a:p>
        </p:txBody>
      </p:sp>
      <p:sp>
        <p:nvSpPr>
          <p:cNvPr id="12" name="CaixaDeTexto 11">
            <a:extLst>
              <a:ext uri="{FF2B5EF4-FFF2-40B4-BE49-F238E27FC236}">
                <a16:creationId xmlns:a16="http://schemas.microsoft.com/office/drawing/2014/main" id="{A13D3AF5-DC37-430A-A5CC-A5CB1518696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2728636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83C63BB-C7B3-41A3-A95F-80A4F89CA4A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178B6728-6AF0-44AC-9193-287FF0ED051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Resumo: achados e cobertura</a:t>
            </a:r>
          </a:p>
        </p:txBody>
      </p:sp>
      <p:sp>
        <p:nvSpPr>
          <p:cNvPr id="4" name="CaixaDeTexto 3">
            <a:extLst>
              <a:ext uri="{FF2B5EF4-FFF2-40B4-BE49-F238E27FC236}">
                <a16:creationId xmlns:a16="http://schemas.microsoft.com/office/drawing/2014/main" id="{001B4CB8-74E7-407F-9371-C5EB3D22E2D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0FCE9B1-65F9-43A7-91CA-F89D2273502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46</a:t>
            </a:r>
          </a:p>
        </p:txBody>
      </p:sp>
      <p:pic>
        <p:nvPicPr>
          <p:cNvPr id="7" name="Imagem 6">
            <a:extLst>
              <a:ext uri="{FF2B5EF4-FFF2-40B4-BE49-F238E27FC236}">
                <a16:creationId xmlns:a16="http://schemas.microsoft.com/office/drawing/2014/main" id="{3780A3D7-78D6-42DF-AB98-66D2AEA459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5B80DD6A-20AB-447C-8E66-E3CBB7D170C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Falhas e atenções: priorizam os achados que exigem investigação.</a:t>
            </a:r>
          </a:p>
        </p:txBody>
      </p:sp>
      <p:sp>
        <p:nvSpPr>
          <p:cNvPr id="9" name="CaixaDeTexto 8">
            <a:extLst>
              <a:ext uri="{FF2B5EF4-FFF2-40B4-BE49-F238E27FC236}">
                <a16:creationId xmlns:a16="http://schemas.microsoft.com/office/drawing/2014/main" id="{D75B4C31-25A9-48F0-B2AA-0895C9049A9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Consultar etapa: retorna ao resultado técnico correspondente.</a:t>
            </a:r>
          </a:p>
        </p:txBody>
      </p:sp>
      <p:sp>
        <p:nvSpPr>
          <p:cNvPr id="10" name="CaixaDeTexto 9">
            <a:extLst>
              <a:ext uri="{FF2B5EF4-FFF2-40B4-BE49-F238E27FC236}">
                <a16:creationId xmlns:a16="http://schemas.microsoft.com/office/drawing/2014/main" id="{0C394A1F-6131-4439-A315-453B7C917C9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Cobertura incompleta: separa falta de evidência de falha operacional.</a:t>
            </a:r>
          </a:p>
        </p:txBody>
      </p:sp>
      <p:sp>
        <p:nvSpPr>
          <p:cNvPr id="11" name="CaixaDeTexto 10">
            <a:extLst>
              <a:ext uri="{FF2B5EF4-FFF2-40B4-BE49-F238E27FC236}">
                <a16:creationId xmlns:a16="http://schemas.microsoft.com/office/drawing/2014/main" id="{B634F3C4-2819-4E87-9B20-F2F5D5890E23}"/>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Síntese: reúne rede, Modbus, rotas e carga.</a:t>
            </a:r>
          </a:p>
        </p:txBody>
      </p:sp>
      <p:sp>
        <p:nvSpPr>
          <p:cNvPr id="12" name="CaixaDeTexto 11">
            <a:extLst>
              <a:ext uri="{FF2B5EF4-FFF2-40B4-BE49-F238E27FC236}">
                <a16:creationId xmlns:a16="http://schemas.microsoft.com/office/drawing/2014/main" id="{5C8E0489-0F44-4C96-BDFE-D22B400D9D1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1981899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37E6072-4104-4EF7-907C-B5D904D345B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878013B5-1A16-43A2-8D1F-5866CEC51A3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Dispositivos/rede: identificação e origem</a:t>
            </a:r>
          </a:p>
        </p:txBody>
      </p:sp>
      <p:sp>
        <p:nvSpPr>
          <p:cNvPr id="4" name="CaixaDeTexto 3">
            <a:extLst>
              <a:ext uri="{FF2B5EF4-FFF2-40B4-BE49-F238E27FC236}">
                <a16:creationId xmlns:a16="http://schemas.microsoft.com/office/drawing/2014/main" id="{7E5A08D0-2138-49EC-AACC-ADE42FD4F722}"/>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805E4B4-46F0-4C91-B159-1B94AA3DDB7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47</a:t>
            </a:r>
          </a:p>
        </p:txBody>
      </p:sp>
      <p:pic>
        <p:nvPicPr>
          <p:cNvPr id="7" name="Imagem 6">
            <a:extLst>
              <a:ext uri="{FF2B5EF4-FFF2-40B4-BE49-F238E27FC236}">
                <a16:creationId xmlns:a16="http://schemas.microsoft.com/office/drawing/2014/main" id="{EB246677-9D04-4DEF-AE62-25B2876BAD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38162"/>
            <a:ext cx="10820400" cy="2527677"/>
          </a:xfrm>
          <a:prstGeom prst="rect">
            <a:avLst/>
          </a:prstGeom>
        </p:spPr>
      </p:pic>
      <p:sp>
        <p:nvSpPr>
          <p:cNvPr id="8" name="CaixaDeTexto 7">
            <a:extLst>
              <a:ext uri="{FF2B5EF4-FFF2-40B4-BE49-F238E27FC236}">
                <a16:creationId xmlns:a16="http://schemas.microsoft.com/office/drawing/2014/main" id="{B6D549B5-EC67-4B1B-9944-016802BF6B91}"/>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e Dispositivo: endereço e identidade associada.</a:t>
            </a:r>
          </a:p>
        </p:txBody>
      </p:sp>
      <p:sp>
        <p:nvSpPr>
          <p:cNvPr id="9" name="CaixaDeTexto 8">
            <a:extLst>
              <a:ext uri="{FF2B5EF4-FFF2-40B4-BE49-F238E27FC236}">
                <a16:creationId xmlns:a16="http://schemas.microsoft.com/office/drawing/2014/main" id="{A2D5F25D-D22A-43D4-8427-8DC262F9C1B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MAC: endereço de camada 2 quando disponível localmente.</a:t>
            </a:r>
          </a:p>
        </p:txBody>
      </p:sp>
      <p:sp>
        <p:nvSpPr>
          <p:cNvPr id="10" name="CaixaDeTexto 9">
            <a:extLst>
              <a:ext uri="{FF2B5EF4-FFF2-40B4-BE49-F238E27FC236}">
                <a16:creationId xmlns:a16="http://schemas.microsoft.com/office/drawing/2014/main" id="{F4277E56-F02E-4C15-94E1-C49064C6DAB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Fonte: origem da evidência, como ARP, captura ou sondagem.</a:t>
            </a:r>
          </a:p>
        </p:txBody>
      </p:sp>
      <p:sp>
        <p:nvSpPr>
          <p:cNvPr id="11" name="CaixaDeTexto 10">
            <a:extLst>
              <a:ext uri="{FF2B5EF4-FFF2-40B4-BE49-F238E27FC236}">
                <a16:creationId xmlns:a16="http://schemas.microsoft.com/office/drawing/2014/main" id="{ECC210CC-25A8-48A2-8132-ED43664F18A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Papel provável: classificação sustentada pelos dados disponíveis.</a:t>
            </a:r>
          </a:p>
        </p:txBody>
      </p:sp>
      <p:sp>
        <p:nvSpPr>
          <p:cNvPr id="12" name="CaixaDeTexto 11">
            <a:extLst>
              <a:ext uri="{FF2B5EF4-FFF2-40B4-BE49-F238E27FC236}">
                <a16:creationId xmlns:a16="http://schemas.microsoft.com/office/drawing/2014/main" id="{A96773AA-CF77-4BF6-8604-9873E66964B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2910761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0DA9A6C-9A3D-4B30-968F-DEC47C8ECF8C}"/>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C64ADAAC-63A1-4B3C-A1DE-E4AC668CBAA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Dispositivos/rede: confirmação e reutilização</a:t>
            </a:r>
          </a:p>
        </p:txBody>
      </p:sp>
      <p:sp>
        <p:nvSpPr>
          <p:cNvPr id="4" name="CaixaDeTexto 3">
            <a:extLst>
              <a:ext uri="{FF2B5EF4-FFF2-40B4-BE49-F238E27FC236}">
                <a16:creationId xmlns:a16="http://schemas.microsoft.com/office/drawing/2014/main" id="{94E064E4-849E-4716-86BF-0721DBBB1F9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747B734-3F02-4D53-82A6-241CA529114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48</a:t>
            </a:r>
          </a:p>
        </p:txBody>
      </p:sp>
      <p:pic>
        <p:nvPicPr>
          <p:cNvPr id="7" name="Imagem 6">
            <a:extLst>
              <a:ext uri="{FF2B5EF4-FFF2-40B4-BE49-F238E27FC236}">
                <a16:creationId xmlns:a16="http://schemas.microsoft.com/office/drawing/2014/main" id="{A9260869-6412-4FB0-B0F0-0A870DCCF3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38162"/>
            <a:ext cx="10820400" cy="2527677"/>
          </a:xfrm>
          <a:prstGeom prst="rect">
            <a:avLst/>
          </a:prstGeom>
        </p:spPr>
      </p:pic>
      <p:sp>
        <p:nvSpPr>
          <p:cNvPr id="8" name="CaixaDeTexto 7">
            <a:extLst>
              <a:ext uri="{FF2B5EF4-FFF2-40B4-BE49-F238E27FC236}">
                <a16:creationId xmlns:a16="http://schemas.microsoft.com/office/drawing/2014/main" id="{87384B66-8BCA-4C02-B728-C9A3CA74AE67}"/>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TCP aberto: serviço aceitou conexão, ainda sem validar Modbus.</a:t>
            </a:r>
          </a:p>
        </p:txBody>
      </p:sp>
      <p:sp>
        <p:nvSpPr>
          <p:cNvPr id="9" name="CaixaDeTexto 8">
            <a:extLst>
              <a:ext uri="{FF2B5EF4-FFF2-40B4-BE49-F238E27FC236}">
                <a16:creationId xmlns:a16="http://schemas.microsoft.com/office/drawing/2014/main" id="{02E2A685-04D9-4B0A-8CF7-E4B9D9CD69B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Modbus confirmado: resposta válida por leitura ou exceção coerente.</a:t>
            </a:r>
          </a:p>
        </p:txBody>
      </p:sp>
      <p:sp>
        <p:nvSpPr>
          <p:cNvPr id="10" name="CaixaDeTexto 9">
            <a:extLst>
              <a:ext uri="{FF2B5EF4-FFF2-40B4-BE49-F238E27FC236}">
                <a16:creationId xmlns:a16="http://schemas.microsoft.com/office/drawing/2014/main" id="{C7005879-028B-448B-931B-AAE6C054B0C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Modbus observado: conteúdo reconhecido na comunicação capturada.</a:t>
            </a:r>
          </a:p>
        </p:txBody>
      </p:sp>
      <p:sp>
        <p:nvSpPr>
          <p:cNvPr id="11" name="CaixaDeTexto 10">
            <a:extLst>
              <a:ext uri="{FF2B5EF4-FFF2-40B4-BE49-F238E27FC236}">
                <a16:creationId xmlns:a16="http://schemas.microsoft.com/office/drawing/2014/main" id="{8A886EB7-7836-405F-BF0D-C9858BC2969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Botão direito: verificar IP ou adicionar como alvo, com mapa disponível.</a:t>
            </a:r>
          </a:p>
        </p:txBody>
      </p:sp>
      <p:sp>
        <p:nvSpPr>
          <p:cNvPr id="12" name="CaixaDeTexto 11">
            <a:extLst>
              <a:ext uri="{FF2B5EF4-FFF2-40B4-BE49-F238E27FC236}">
                <a16:creationId xmlns:a16="http://schemas.microsoft.com/office/drawing/2014/main" id="{307EF2C2-1C39-42A5-828F-81124CD744DE}"/>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3059892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D55F6DE-95CE-42E1-AE6D-F89E2319FC0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547E4D39-5E62-4E40-A661-22492201F4E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diagrama de evidências</a:t>
            </a:r>
          </a:p>
        </p:txBody>
      </p:sp>
      <p:sp>
        <p:nvSpPr>
          <p:cNvPr id="4" name="CaixaDeTexto 3">
            <a:extLst>
              <a:ext uri="{FF2B5EF4-FFF2-40B4-BE49-F238E27FC236}">
                <a16:creationId xmlns:a16="http://schemas.microsoft.com/office/drawing/2014/main" id="{53B02B0E-1D98-4B77-9EEA-06E8DFF86E74}"/>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E31B260-DC41-468F-A8E1-A67F45689C0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49</a:t>
            </a:r>
          </a:p>
        </p:txBody>
      </p:sp>
      <p:pic>
        <p:nvPicPr>
          <p:cNvPr id="7" name="Imagem 6">
            <a:extLst>
              <a:ext uri="{FF2B5EF4-FFF2-40B4-BE49-F238E27FC236}">
                <a16:creationId xmlns:a16="http://schemas.microsoft.com/office/drawing/2014/main" id="{4D090562-4351-414E-9D64-C6A448F86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E7FB1FE7-1144-4A9E-8AF8-7029EDB60423}"/>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Pares Modbus: identificam quem comunica com quem.</a:t>
            </a:r>
          </a:p>
        </p:txBody>
      </p:sp>
      <p:sp>
        <p:nvSpPr>
          <p:cNvPr id="9" name="CaixaDeTexto 8">
            <a:extLst>
              <a:ext uri="{FF2B5EF4-FFF2-40B4-BE49-F238E27FC236}">
                <a16:creationId xmlns:a16="http://schemas.microsoft.com/office/drawing/2014/main" id="{8E617317-19C1-4AF6-8A51-D8AF6860DC6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Relações e rótulos: mostram a origem da evidência do enlace.</a:t>
            </a:r>
          </a:p>
        </p:txBody>
      </p:sp>
      <p:sp>
        <p:nvSpPr>
          <p:cNvPr id="10" name="CaixaDeTexto 9">
            <a:extLst>
              <a:ext uri="{FF2B5EF4-FFF2-40B4-BE49-F238E27FC236}">
                <a16:creationId xmlns:a16="http://schemas.microsoft.com/office/drawing/2014/main" id="{01998D7D-574F-4FD8-BE9B-0CFC3EFC8F2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Infraestrutura: aparece conforme observação ou anúncio disponível.</a:t>
            </a:r>
          </a:p>
        </p:txBody>
      </p:sp>
      <p:sp>
        <p:nvSpPr>
          <p:cNvPr id="11" name="CaixaDeTexto 10">
            <a:extLst>
              <a:ext uri="{FF2B5EF4-FFF2-40B4-BE49-F238E27FC236}">
                <a16:creationId xmlns:a16="http://schemas.microsoft.com/office/drawing/2014/main" id="{03AA9B20-D9D2-47D1-82F5-F77DE5BAA66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Limitações: distinguem comunicação inferida e caminho físico verificado.</a:t>
            </a:r>
          </a:p>
        </p:txBody>
      </p:sp>
      <p:sp>
        <p:nvSpPr>
          <p:cNvPr id="12" name="CaixaDeTexto 11">
            <a:extLst>
              <a:ext uri="{FF2B5EF4-FFF2-40B4-BE49-F238E27FC236}">
                <a16:creationId xmlns:a16="http://schemas.microsoft.com/office/drawing/2014/main" id="{C1BD889E-BF23-4E60-B143-E38834AB380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0132089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3A9AD41-404B-4223-89D6-4B593BF86E3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4EF61DE7-248D-4369-A29C-53E60089B2B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tabela de evidências Modbus</a:t>
            </a:r>
          </a:p>
        </p:txBody>
      </p:sp>
      <p:sp>
        <p:nvSpPr>
          <p:cNvPr id="4" name="CaixaDeTexto 3">
            <a:extLst>
              <a:ext uri="{FF2B5EF4-FFF2-40B4-BE49-F238E27FC236}">
                <a16:creationId xmlns:a16="http://schemas.microsoft.com/office/drawing/2014/main" id="{429723CD-A61D-42CA-A67A-DC7798182DC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8F97320-C743-494B-8BDA-78004B9CD404}"/>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50</a:t>
            </a:r>
          </a:p>
        </p:txBody>
      </p:sp>
      <p:pic>
        <p:nvPicPr>
          <p:cNvPr id="7" name="Imagem 6">
            <a:extLst>
              <a:ext uri="{FF2B5EF4-FFF2-40B4-BE49-F238E27FC236}">
                <a16:creationId xmlns:a16="http://schemas.microsoft.com/office/drawing/2014/main" id="{AA30E8F7-F39F-4DD1-8467-4754EAD0DE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40944"/>
            <a:ext cx="10820400" cy="2722113"/>
          </a:xfrm>
          <a:prstGeom prst="rect">
            <a:avLst/>
          </a:prstGeom>
        </p:spPr>
      </p:pic>
      <p:sp>
        <p:nvSpPr>
          <p:cNvPr id="8" name="CaixaDeTexto 7">
            <a:extLst>
              <a:ext uri="{FF2B5EF4-FFF2-40B4-BE49-F238E27FC236}">
                <a16:creationId xmlns:a16="http://schemas.microsoft.com/office/drawing/2014/main" id="{0EB80E78-F7B7-48FF-B06E-9BA99B5C790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Origem e destino: participantes da relação observada.</a:t>
            </a:r>
          </a:p>
        </p:txBody>
      </p:sp>
      <p:sp>
        <p:nvSpPr>
          <p:cNvPr id="9" name="CaixaDeTexto 8">
            <a:extLst>
              <a:ext uri="{FF2B5EF4-FFF2-40B4-BE49-F238E27FC236}">
                <a16:creationId xmlns:a16="http://schemas.microsoft.com/office/drawing/2014/main" id="{0DC695EE-9AB8-4EDA-B2DE-E3D7FEF296D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Evidência: mecanismo que sustentou a relação.</a:t>
            </a:r>
          </a:p>
        </p:txBody>
      </p:sp>
      <p:sp>
        <p:nvSpPr>
          <p:cNvPr id="10" name="CaixaDeTexto 9">
            <a:extLst>
              <a:ext uri="{FF2B5EF4-FFF2-40B4-BE49-F238E27FC236}">
                <a16:creationId xmlns:a16="http://schemas.microsoft.com/office/drawing/2014/main" id="{20B44B5F-35A7-4568-AD73-D8B28891758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Contagem: ocorrências acumuladas, não número de dispositivos.</a:t>
            </a:r>
          </a:p>
        </p:txBody>
      </p:sp>
      <p:sp>
        <p:nvSpPr>
          <p:cNvPr id="11" name="CaixaDeTexto 10">
            <a:extLst>
              <a:ext uri="{FF2B5EF4-FFF2-40B4-BE49-F238E27FC236}">
                <a16:creationId xmlns:a16="http://schemas.microsoft.com/office/drawing/2014/main" id="{CEB15DF2-49DF-4806-95AA-CFDB8367A45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Detalhes: operação ou contexto para confrontar com a timeline.</a:t>
            </a:r>
          </a:p>
        </p:txBody>
      </p:sp>
      <p:sp>
        <p:nvSpPr>
          <p:cNvPr id="12" name="CaixaDeTexto 11">
            <a:extLst>
              <a:ext uri="{FF2B5EF4-FFF2-40B4-BE49-F238E27FC236}">
                <a16:creationId xmlns:a16="http://schemas.microsoft.com/office/drawing/2014/main" id="{14BD5CCF-37A1-4D19-A0F2-6A2EE57A8B7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4007082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DC092C3-D24C-42D7-9601-A5BC2839F27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8E6ABC11-65F2-40CD-9BF0-F823E741F76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rotas ICMP</a:t>
            </a:r>
          </a:p>
        </p:txBody>
      </p:sp>
      <p:sp>
        <p:nvSpPr>
          <p:cNvPr id="4" name="CaixaDeTexto 3">
            <a:extLst>
              <a:ext uri="{FF2B5EF4-FFF2-40B4-BE49-F238E27FC236}">
                <a16:creationId xmlns:a16="http://schemas.microsoft.com/office/drawing/2014/main" id="{2108BD04-9027-4359-A4E9-38C5F2E35E2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48108347-ADAC-4C09-A1BC-ECC11EBCEEF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51</a:t>
            </a:r>
          </a:p>
        </p:txBody>
      </p:sp>
      <p:pic>
        <p:nvPicPr>
          <p:cNvPr id="7" name="Imagem 6">
            <a:extLst>
              <a:ext uri="{FF2B5EF4-FFF2-40B4-BE49-F238E27FC236}">
                <a16:creationId xmlns:a16="http://schemas.microsoft.com/office/drawing/2014/main" id="{FAEAF3DC-5DF7-4B31-9920-19178FCA3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92334"/>
            <a:ext cx="10820400" cy="2819332"/>
          </a:xfrm>
          <a:prstGeom prst="rect">
            <a:avLst/>
          </a:prstGeom>
        </p:spPr>
      </p:pic>
      <p:sp>
        <p:nvSpPr>
          <p:cNvPr id="8" name="CaixaDeTexto 7">
            <a:extLst>
              <a:ext uri="{FF2B5EF4-FFF2-40B4-BE49-F238E27FC236}">
                <a16:creationId xmlns:a16="http://schemas.microsoft.com/office/drawing/2014/main" id="{9CB8962F-FC0C-4332-AFE3-5E39855D21E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Alvo: destino do rastreamento.</a:t>
            </a:r>
          </a:p>
        </p:txBody>
      </p:sp>
      <p:sp>
        <p:nvSpPr>
          <p:cNvPr id="9" name="CaixaDeTexto 8">
            <a:extLst>
              <a:ext uri="{FF2B5EF4-FFF2-40B4-BE49-F238E27FC236}">
                <a16:creationId xmlns:a16="http://schemas.microsoft.com/office/drawing/2014/main" id="{56D602F4-EB74-44A3-81D2-980858BFFFD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TTL/salto e IP respondeu: posição e resposta naquele percurso.</a:t>
            </a:r>
          </a:p>
        </p:txBody>
      </p:sp>
      <p:sp>
        <p:nvSpPr>
          <p:cNvPr id="10" name="CaixaDeTexto 9">
            <a:extLst>
              <a:ext uri="{FF2B5EF4-FFF2-40B4-BE49-F238E27FC236}">
                <a16:creationId xmlns:a16="http://schemas.microsoft.com/office/drawing/2014/main" id="{57AC2F68-B9F9-4C56-8BA4-02266B48BF8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Status ICMP: destino alcançado, TTL expirado ou ausência de resposta.</a:t>
            </a:r>
          </a:p>
        </p:txBody>
      </p:sp>
      <p:sp>
        <p:nvSpPr>
          <p:cNvPr id="11" name="CaixaDeTexto 10">
            <a:extLst>
              <a:ext uri="{FF2B5EF4-FFF2-40B4-BE49-F238E27FC236}">
                <a16:creationId xmlns:a16="http://schemas.microsoft.com/office/drawing/2014/main" id="{6AAE3B9F-7992-4266-8A4C-68BAC2CD3AC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Consulta (ms): tempo da consulta ICMP, diferente da latência Modbus.</a:t>
            </a:r>
          </a:p>
        </p:txBody>
      </p:sp>
      <p:sp>
        <p:nvSpPr>
          <p:cNvPr id="12" name="CaixaDeTexto 11">
            <a:extLst>
              <a:ext uri="{FF2B5EF4-FFF2-40B4-BE49-F238E27FC236}">
                <a16:creationId xmlns:a16="http://schemas.microsoft.com/office/drawing/2014/main" id="{EE443502-4128-49BA-9C20-856894CBF7F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6158547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030FDAF-0AEE-44D4-AF17-1E288C006A5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6B03CF3E-617A-4701-9801-877CA853DBC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vizinhos LLDP/CDP</a:t>
            </a:r>
          </a:p>
        </p:txBody>
      </p:sp>
      <p:sp>
        <p:nvSpPr>
          <p:cNvPr id="4" name="CaixaDeTexto 3">
            <a:extLst>
              <a:ext uri="{FF2B5EF4-FFF2-40B4-BE49-F238E27FC236}">
                <a16:creationId xmlns:a16="http://schemas.microsoft.com/office/drawing/2014/main" id="{B2000EA4-452E-4149-A11F-4D872B32D7B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91FE59D-2F42-4B43-8B81-D1490522EA6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52</a:t>
            </a:r>
          </a:p>
        </p:txBody>
      </p:sp>
      <p:pic>
        <p:nvPicPr>
          <p:cNvPr id="7" name="Imagem 6">
            <a:extLst>
              <a:ext uri="{FF2B5EF4-FFF2-40B4-BE49-F238E27FC236}">
                <a16:creationId xmlns:a16="http://schemas.microsoft.com/office/drawing/2014/main" id="{266A3986-AECA-460A-9DE8-B8DB0ED9D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92334"/>
            <a:ext cx="10820400" cy="2819332"/>
          </a:xfrm>
          <a:prstGeom prst="rect">
            <a:avLst/>
          </a:prstGeom>
        </p:spPr>
      </p:pic>
      <p:sp>
        <p:nvSpPr>
          <p:cNvPr id="8" name="CaixaDeTexto 7">
            <a:extLst>
              <a:ext uri="{FF2B5EF4-FFF2-40B4-BE49-F238E27FC236}">
                <a16:creationId xmlns:a16="http://schemas.microsoft.com/office/drawing/2014/main" id="{0E3349C8-E8A6-493C-9C23-EB285749016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Protocolo, nome e chassi: identidade anunciada do vizinho.</a:t>
            </a:r>
          </a:p>
        </p:txBody>
      </p:sp>
      <p:sp>
        <p:nvSpPr>
          <p:cNvPr id="9" name="CaixaDeTexto 8">
            <a:extLst>
              <a:ext uri="{FF2B5EF4-FFF2-40B4-BE49-F238E27FC236}">
                <a16:creationId xmlns:a16="http://schemas.microsoft.com/office/drawing/2014/main" id="{DBEC3331-C8FB-4510-9556-376E0521A3A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MAC e IP de gestão: identificadores recebidos no anúncio.</a:t>
            </a:r>
          </a:p>
        </p:txBody>
      </p:sp>
      <p:sp>
        <p:nvSpPr>
          <p:cNvPr id="10" name="CaixaDeTexto 9">
            <a:extLst>
              <a:ext uri="{FF2B5EF4-FFF2-40B4-BE49-F238E27FC236}">
                <a16:creationId xmlns:a16="http://schemas.microsoft.com/office/drawing/2014/main" id="{FE8AAF9C-836C-4214-B362-082566F529E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 validade anunciada em segundos. Descrição: informação adicional.</a:t>
            </a:r>
          </a:p>
        </p:txBody>
      </p:sp>
      <p:sp>
        <p:nvSpPr>
          <p:cNvPr id="11" name="CaixaDeTexto 10">
            <a:extLst>
              <a:ext uri="{FF2B5EF4-FFF2-40B4-BE49-F238E27FC236}">
                <a16:creationId xmlns:a16="http://schemas.microsoft.com/office/drawing/2014/main" id="{82DFF66F-E6D8-4A90-AF23-8980717441F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Lista vazia: nenhum anúncio disponível nesta interface e janela.</a:t>
            </a:r>
          </a:p>
        </p:txBody>
      </p:sp>
      <p:sp>
        <p:nvSpPr>
          <p:cNvPr id="12" name="CaixaDeTexto 11">
            <a:extLst>
              <a:ext uri="{FF2B5EF4-FFF2-40B4-BE49-F238E27FC236}">
                <a16:creationId xmlns:a16="http://schemas.microsoft.com/office/drawing/2014/main" id="{2E6BC91D-8818-4E3A-AC1A-A24235AE440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6796934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B4706E8-FBFC-4A20-9FEE-383469F4691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1CE832B9-1EA7-425B-BDB3-77357B16783D}"/>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descoberto: região, modo e confiança</a:t>
            </a:r>
          </a:p>
        </p:txBody>
      </p:sp>
      <p:sp>
        <p:nvSpPr>
          <p:cNvPr id="4" name="CaixaDeTexto 3">
            <a:extLst>
              <a:ext uri="{FF2B5EF4-FFF2-40B4-BE49-F238E27FC236}">
                <a16:creationId xmlns:a16="http://schemas.microsoft.com/office/drawing/2014/main" id="{94BB8287-3DC6-4250-B0D7-290DF2CE90B4}"/>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EC89B92-BB41-4865-BAFA-921D05DC72A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53</a:t>
            </a:r>
          </a:p>
        </p:txBody>
      </p:sp>
      <p:pic>
        <p:nvPicPr>
          <p:cNvPr id="7" name="Imagem 6">
            <a:extLst>
              <a:ext uri="{FF2B5EF4-FFF2-40B4-BE49-F238E27FC236}">
                <a16:creationId xmlns:a16="http://schemas.microsoft.com/office/drawing/2014/main" id="{B88E4F9E-338E-421F-881A-BFBB90BD4E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89553"/>
            <a:ext cx="10820400" cy="2624895"/>
          </a:xfrm>
          <a:prstGeom prst="rect">
            <a:avLst/>
          </a:prstGeom>
        </p:spPr>
      </p:pic>
      <p:sp>
        <p:nvSpPr>
          <p:cNvPr id="8" name="CaixaDeTexto 7">
            <a:extLst>
              <a:ext uri="{FF2B5EF4-FFF2-40B4-BE49-F238E27FC236}">
                <a16:creationId xmlns:a16="http://schemas.microsoft.com/office/drawing/2014/main" id="{126284CE-2AB0-4C9A-9FAE-B9B20E9E240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 e Unit ID: serviço e unidade aos quais o achado pertence.</a:t>
            </a:r>
          </a:p>
        </p:txBody>
      </p:sp>
      <p:sp>
        <p:nvSpPr>
          <p:cNvPr id="9" name="CaixaDeTexto 8">
            <a:extLst>
              <a:ext uri="{FF2B5EF4-FFF2-40B4-BE49-F238E27FC236}">
                <a16:creationId xmlns:a16="http://schemas.microsoft.com/office/drawing/2014/main" id="{C728434A-20D7-440C-A251-FD7FD423469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Função, início, fim e Qtd: área e intervalo inclusivo.</a:t>
            </a:r>
          </a:p>
        </p:txBody>
      </p:sp>
      <p:sp>
        <p:nvSpPr>
          <p:cNvPr id="10" name="CaixaDeTexto 9">
            <a:extLst>
              <a:ext uri="{FF2B5EF4-FFF2-40B4-BE49-F238E27FC236}">
                <a16:creationId xmlns:a16="http://schemas.microsoft.com/office/drawing/2014/main" id="{4222E0DF-D782-4D62-89F2-3F80DA1653E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Modo: sondagem ativa ou range requisitado por cliente observado.</a:t>
            </a:r>
          </a:p>
        </p:txBody>
      </p:sp>
      <p:sp>
        <p:nvSpPr>
          <p:cNvPr id="11" name="CaixaDeTexto 10">
            <a:extLst>
              <a:ext uri="{FF2B5EF4-FFF2-40B4-BE49-F238E27FC236}">
                <a16:creationId xmlns:a16="http://schemas.microsoft.com/office/drawing/2014/main" id="{D8F46D5A-AB77-4528-AB0A-C528B6ACF85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Confiança e notas: explicam o que foi efetivamente comprovado.</a:t>
            </a:r>
          </a:p>
        </p:txBody>
      </p:sp>
      <p:sp>
        <p:nvSpPr>
          <p:cNvPr id="12" name="CaixaDeTexto 11">
            <a:extLst>
              <a:ext uri="{FF2B5EF4-FFF2-40B4-BE49-F238E27FC236}">
                <a16:creationId xmlns:a16="http://schemas.microsoft.com/office/drawing/2014/main" id="{6EE9B066-5A1F-4A61-A824-7FA9B63BCF6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5136809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72A5319-E753-473E-8164-7DD066C9907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2DB2C19C-47C3-4FD4-9189-A6CCFAC85324}"/>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Relatório: leitura e exportação</a:t>
            </a:r>
          </a:p>
        </p:txBody>
      </p:sp>
      <p:sp>
        <p:nvSpPr>
          <p:cNvPr id="4" name="CaixaDeTexto 3">
            <a:extLst>
              <a:ext uri="{FF2B5EF4-FFF2-40B4-BE49-F238E27FC236}">
                <a16:creationId xmlns:a16="http://schemas.microsoft.com/office/drawing/2014/main" id="{10EC605E-87B6-4A74-8604-86504CB0834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F95D2D4-169C-4954-AB2E-95AEB9FE4EF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54</a:t>
            </a:r>
          </a:p>
        </p:txBody>
      </p:sp>
      <p:pic>
        <p:nvPicPr>
          <p:cNvPr id="7" name="Imagem 6">
            <a:extLst>
              <a:ext uri="{FF2B5EF4-FFF2-40B4-BE49-F238E27FC236}">
                <a16:creationId xmlns:a16="http://schemas.microsoft.com/office/drawing/2014/main" id="{0F030572-0CC2-447C-BC0A-A393778AB7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422" y="1765300"/>
            <a:ext cx="8343157" cy="3073400"/>
          </a:xfrm>
          <a:prstGeom prst="rect">
            <a:avLst/>
          </a:prstGeom>
        </p:spPr>
      </p:pic>
      <p:sp>
        <p:nvSpPr>
          <p:cNvPr id="8" name="CaixaDeTexto 7">
            <a:extLst>
              <a:ext uri="{FF2B5EF4-FFF2-40B4-BE49-F238E27FC236}">
                <a16:creationId xmlns:a16="http://schemas.microsoft.com/office/drawing/2014/main" id="{8369B384-12C2-4B94-A4AC-2CDC36BD29B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Texto exibido: resumo da execução, com achados e cobertura.</a:t>
            </a:r>
          </a:p>
        </p:txBody>
      </p:sp>
      <p:sp>
        <p:nvSpPr>
          <p:cNvPr id="9" name="CaixaDeTexto 8">
            <a:extLst>
              <a:ext uri="{FF2B5EF4-FFF2-40B4-BE49-F238E27FC236}">
                <a16:creationId xmlns:a16="http://schemas.microsoft.com/office/drawing/2014/main" id="{1C7E9D3D-2B22-4801-8176-6CB577419CA9}"/>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Exportar resumo: material objetivo para comunicação e triagem.</a:t>
            </a:r>
          </a:p>
        </p:txBody>
      </p:sp>
      <p:sp>
        <p:nvSpPr>
          <p:cNvPr id="10" name="CaixaDeTexto 9">
            <a:extLst>
              <a:ext uri="{FF2B5EF4-FFF2-40B4-BE49-F238E27FC236}">
                <a16:creationId xmlns:a16="http://schemas.microsoft.com/office/drawing/2014/main" id="{7BFFA4DC-AC46-4ED2-855D-E0ED4BB8377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Exportar completo: etapas, métricas e evidências detalhadas.</a:t>
            </a:r>
          </a:p>
        </p:txBody>
      </p:sp>
      <p:sp>
        <p:nvSpPr>
          <p:cNvPr id="11" name="CaixaDeTexto 10">
            <a:extLst>
              <a:ext uri="{FF2B5EF4-FFF2-40B4-BE49-F238E27FC236}">
                <a16:creationId xmlns:a16="http://schemas.microsoft.com/office/drawing/2014/main" id="{F6B35EF0-DD09-4EBF-8C5F-2EC638D6102E}"/>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MD ou PDF: formato escolhido na janela de salvamento.</a:t>
            </a:r>
          </a:p>
        </p:txBody>
      </p:sp>
      <p:sp>
        <p:nvSpPr>
          <p:cNvPr id="12" name="CaixaDeTexto 11">
            <a:extLst>
              <a:ext uri="{FF2B5EF4-FFF2-40B4-BE49-F238E27FC236}">
                <a16:creationId xmlns:a16="http://schemas.microsoft.com/office/drawing/2014/main" id="{221BD104-79CA-4EED-A90B-F1D7A606AF8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15902699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3BFD4F0-B859-4332-9022-4C4BF5C9472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06 · Resultados do Teste completo</a:t>
            </a:r>
          </a:p>
        </p:txBody>
      </p:sp>
      <p:sp>
        <p:nvSpPr>
          <p:cNvPr id="3" name="CaixaDeTexto 2">
            <a:extLst>
              <a:ext uri="{FF2B5EF4-FFF2-40B4-BE49-F238E27FC236}">
                <a16:creationId xmlns:a16="http://schemas.microsoft.com/office/drawing/2014/main" id="{7FEF87DC-078C-46F2-8D57-C40F0AEF58B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Relatório: o que interpretar primeiro</a:t>
            </a:r>
          </a:p>
        </p:txBody>
      </p:sp>
      <p:sp>
        <p:nvSpPr>
          <p:cNvPr id="4" name="CaixaDeTexto 3">
            <a:extLst>
              <a:ext uri="{FF2B5EF4-FFF2-40B4-BE49-F238E27FC236}">
                <a16:creationId xmlns:a16="http://schemas.microsoft.com/office/drawing/2014/main" id="{396EC7E1-9025-4A09-A7F8-1DAFD29F8C6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1DB6501-A67A-4821-93CD-26B67FF7E2F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55</a:t>
            </a:r>
          </a:p>
        </p:txBody>
      </p:sp>
      <p:pic>
        <p:nvPicPr>
          <p:cNvPr id="7" name="Imagem 6">
            <a:extLst>
              <a:ext uri="{FF2B5EF4-FFF2-40B4-BE49-F238E27FC236}">
                <a16:creationId xmlns:a16="http://schemas.microsoft.com/office/drawing/2014/main" id="{0FED59D5-95DD-436B-BA52-767CA6C10B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4422" y="1765300"/>
            <a:ext cx="8343157" cy="3073400"/>
          </a:xfrm>
          <a:prstGeom prst="rect">
            <a:avLst/>
          </a:prstGeom>
        </p:spPr>
      </p:pic>
      <p:sp>
        <p:nvSpPr>
          <p:cNvPr id="8" name="CaixaDeTexto 7">
            <a:extLst>
              <a:ext uri="{FF2B5EF4-FFF2-40B4-BE49-F238E27FC236}">
                <a16:creationId xmlns:a16="http://schemas.microsoft.com/office/drawing/2014/main" id="{5916EEE5-D359-4517-84C7-6E38FA64261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Resultado e achados: apontam a prioridade de investigação.</a:t>
            </a:r>
          </a:p>
        </p:txBody>
      </p:sp>
      <p:sp>
        <p:nvSpPr>
          <p:cNvPr id="9" name="CaixaDeTexto 8">
            <a:extLst>
              <a:ext uri="{FF2B5EF4-FFF2-40B4-BE49-F238E27FC236}">
                <a16:creationId xmlns:a16="http://schemas.microsoft.com/office/drawing/2014/main" id="{760AD526-9F31-43FB-8BE4-DF292E39EED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Operação: endpoint, UID, FC, início e quantidade identificam a consulta.</a:t>
            </a:r>
          </a:p>
        </p:txBody>
      </p:sp>
      <p:sp>
        <p:nvSpPr>
          <p:cNvPr id="10" name="CaixaDeTexto 9">
            <a:extLst>
              <a:ext uri="{FF2B5EF4-FFF2-40B4-BE49-F238E27FC236}">
                <a16:creationId xmlns:a16="http://schemas.microsoft.com/office/drawing/2014/main" id="{A0B0F19E-836C-470C-BE16-0542E14278D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Sucesso e tempo: válidas/tentadas, mediana, p95 e max.</a:t>
            </a:r>
          </a:p>
        </p:txBody>
      </p:sp>
      <p:sp>
        <p:nvSpPr>
          <p:cNvPr id="11" name="CaixaDeTexto 10">
            <a:extLst>
              <a:ext uri="{FF2B5EF4-FFF2-40B4-BE49-F238E27FC236}">
                <a16:creationId xmlns:a16="http://schemas.microsoft.com/office/drawing/2014/main" id="{97FC2479-BF9E-4C63-9F75-1520F046D1D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Cobertura: delimita o alcance da conclusão e a próxima verificação.</a:t>
            </a:r>
          </a:p>
        </p:txBody>
      </p:sp>
      <p:sp>
        <p:nvSpPr>
          <p:cNvPr id="12" name="CaixaDeTexto 11">
            <a:extLst>
              <a:ext uri="{FF2B5EF4-FFF2-40B4-BE49-F238E27FC236}">
                <a16:creationId xmlns:a16="http://schemas.microsoft.com/office/drawing/2014/main" id="{D8A2F7BA-1FA2-4EC6-A823-4E50046F8AD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449661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F9E9D532-D691-444A-9BCB-E9D6D9600F7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4E5927EF-CCEA-4DF0-92BE-950A7E0A9E3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Relatório real: escopo e resultado geral</a:t>
            </a:r>
          </a:p>
        </p:txBody>
      </p:sp>
      <p:sp>
        <p:nvSpPr>
          <p:cNvPr id="4" name="CaixaDeTexto 3">
            <a:extLst>
              <a:ext uri="{FF2B5EF4-FFF2-40B4-BE49-F238E27FC236}">
                <a16:creationId xmlns:a16="http://schemas.microsoft.com/office/drawing/2014/main" id="{7D3B19FB-B880-4BF7-AAF2-62748ABF78C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2B126177-BA3B-411D-A5B9-90ED2D89834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56</a:t>
            </a:r>
          </a:p>
        </p:txBody>
      </p:sp>
      <p:sp>
        <p:nvSpPr>
          <p:cNvPr id="8" name="CaixaDeTexto 7">
            <a:extLst>
              <a:ext uri="{FF2B5EF4-FFF2-40B4-BE49-F238E27FC236}">
                <a16:creationId xmlns:a16="http://schemas.microsoft.com/office/drawing/2014/main" id="{C297B14C-D66F-4D4D-9977-889D29AAB26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Papel: Cliente/Mestre. Duração total: 476,9 s.</a:t>
            </a:r>
          </a:p>
        </p:txBody>
      </p:sp>
      <p:sp>
        <p:nvSpPr>
          <p:cNvPr id="9" name="CaixaDeTexto 8">
            <a:extLst>
              <a:ext uri="{FF2B5EF4-FFF2-40B4-BE49-F238E27FC236}">
                <a16:creationId xmlns:a16="http://schemas.microsoft.com/office/drawing/2014/main" id="{9BC0FE27-C471-420E-803D-8DF986D66E8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Resultado Atenção: há sinais a investigar, sem falhas agregadas.</a:t>
            </a:r>
          </a:p>
        </p:txBody>
      </p:sp>
      <p:sp>
        <p:nvSpPr>
          <p:cNvPr id="10" name="CaixaDeTexto 9">
            <a:extLst>
              <a:ext uri="{FF2B5EF4-FFF2-40B4-BE49-F238E27FC236}">
                <a16:creationId xmlns:a16="http://schemas.microsoft.com/office/drawing/2014/main" id="{85FE3B85-7A85-484A-B28B-841D145F7C80}"/>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Alvo repetido: 127.0.0.1:1502, UID 1.</a:t>
            </a:r>
          </a:p>
        </p:txBody>
      </p:sp>
      <p:sp>
        <p:nvSpPr>
          <p:cNvPr id="11" name="CaixaDeTexto 10">
            <a:extLst>
              <a:ext uri="{FF2B5EF4-FFF2-40B4-BE49-F238E27FC236}">
                <a16:creationId xmlns:a16="http://schemas.microsoft.com/office/drawing/2014/main" id="{22235A38-DFB4-44FB-BAB8-600B8C392E30}"/>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Nenhuma escrita automática ocorreu nesta execução.</a:t>
            </a:r>
          </a:p>
        </p:txBody>
      </p:sp>
      <p:sp>
        <p:nvSpPr>
          <p:cNvPr id="12" name="CaixaDeTexto 11">
            <a:extLst>
              <a:ext uri="{FF2B5EF4-FFF2-40B4-BE49-F238E27FC236}">
                <a16:creationId xmlns:a16="http://schemas.microsoft.com/office/drawing/2014/main" id="{16AE9CD4-8AC7-4429-8509-A7CB976B3A4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 de 34. Execução em 02/10/2026.</a:t>
            </a:r>
          </a:p>
        </p:txBody>
      </p:sp>
      <p:pic>
        <p:nvPicPr>
          <p:cNvPr id="13" name="Imagem 12">
            <a:extLst>
              <a:ext uri="{FF2B5EF4-FFF2-40B4-BE49-F238E27FC236}">
                <a16:creationId xmlns:a16="http://schemas.microsoft.com/office/drawing/2014/main" id="{B6A4A14B-A2AA-43C6-A3ED-B457E66A4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693525"/>
            <a:ext cx="10820400" cy="1216951"/>
          </a:xfrm>
          <a:prstGeom prst="rect">
            <a:avLst/>
          </a:prstGeom>
        </p:spPr>
      </p:pic>
    </p:spTree>
    <p:extLst>
      <p:ext uri="{BB962C8B-B14F-4D97-AF65-F5344CB8AC3E}">
        <p14:creationId xmlns:p14="http://schemas.microsoft.com/office/powerpoint/2010/main" val="14376764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91B08DE-AF86-4874-A9CC-5B99E398C8A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E5B9BCEC-8D5B-456F-86FC-F12840B26D7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Resumo por servidor: sucesso e abrangência</a:t>
            </a:r>
          </a:p>
        </p:txBody>
      </p:sp>
      <p:sp>
        <p:nvSpPr>
          <p:cNvPr id="4" name="CaixaDeTexto 3">
            <a:extLst>
              <a:ext uri="{FF2B5EF4-FFF2-40B4-BE49-F238E27FC236}">
                <a16:creationId xmlns:a16="http://schemas.microsoft.com/office/drawing/2014/main" id="{8FB17BD6-8CD8-466E-958E-3B2B65DAEE7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1ED5535-82EF-4488-A6B5-C4580C1E0DB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57</a:t>
            </a:r>
          </a:p>
        </p:txBody>
      </p:sp>
      <p:sp>
        <p:nvSpPr>
          <p:cNvPr id="8" name="CaixaDeTexto 7">
            <a:extLst>
              <a:ext uri="{FF2B5EF4-FFF2-40B4-BE49-F238E27FC236}">
                <a16:creationId xmlns:a16="http://schemas.microsoft.com/office/drawing/2014/main" id="{EC8C41CF-2765-4636-BB2B-B9FF096971E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Blocos 1/1: um bloco cadastrado recebeu validação.</a:t>
            </a:r>
          </a:p>
        </p:txBody>
      </p:sp>
      <p:sp>
        <p:nvSpPr>
          <p:cNvPr id="9" name="CaixaDeTexto 8">
            <a:extLst>
              <a:ext uri="{FF2B5EF4-FFF2-40B4-BE49-F238E27FC236}">
                <a16:creationId xmlns:a16="http://schemas.microsoft.com/office/drawing/2014/main" id="{1950B254-03FB-4D71-8999-D8E3A470D50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15/15/15: válidas, tentadas e planejadas coincidem.</a:t>
            </a:r>
          </a:p>
        </p:txBody>
      </p:sp>
      <p:sp>
        <p:nvSpPr>
          <p:cNvPr id="10" name="CaixaDeTexto 9">
            <a:extLst>
              <a:ext uri="{FF2B5EF4-FFF2-40B4-BE49-F238E27FC236}">
                <a16:creationId xmlns:a16="http://schemas.microsoft.com/office/drawing/2014/main" id="{4B53870E-1F73-4EEF-B13A-253C8BA7777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Sucesso 100%: leitura do alvo local funcionou na amostra.</a:t>
            </a:r>
          </a:p>
        </p:txBody>
      </p:sp>
      <p:sp>
        <p:nvSpPr>
          <p:cNvPr id="11" name="CaixaDeTexto 10">
            <a:extLst>
              <a:ext uri="{FF2B5EF4-FFF2-40B4-BE49-F238E27FC236}">
                <a16:creationId xmlns:a16="http://schemas.microsoft.com/office/drawing/2014/main" id="{E16E4D74-B733-441B-9742-2DE3318AB17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Os servidores descobertos não receberam esse mesmo ensaio.</a:t>
            </a:r>
          </a:p>
        </p:txBody>
      </p:sp>
      <p:sp>
        <p:nvSpPr>
          <p:cNvPr id="12" name="CaixaDeTexto 11">
            <a:extLst>
              <a:ext uri="{FF2B5EF4-FFF2-40B4-BE49-F238E27FC236}">
                <a16:creationId xmlns:a16="http://schemas.microsoft.com/office/drawing/2014/main" id="{F7E9D4D5-1019-4CBC-B72D-670C0186A03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 de 34. Execução em 02/10/2026.</a:t>
            </a:r>
          </a:p>
        </p:txBody>
      </p:sp>
      <p:pic>
        <p:nvPicPr>
          <p:cNvPr id="13" name="Imagem 12">
            <a:extLst>
              <a:ext uri="{FF2B5EF4-FFF2-40B4-BE49-F238E27FC236}">
                <a16:creationId xmlns:a16="http://schemas.microsoft.com/office/drawing/2014/main" id="{5E7C30C8-98DA-40A6-814B-5CE5E50A88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591653"/>
            <a:ext cx="10820400" cy="1420694"/>
          </a:xfrm>
          <a:prstGeom prst="rect">
            <a:avLst/>
          </a:prstGeom>
        </p:spPr>
      </p:pic>
    </p:spTree>
    <p:extLst>
      <p:ext uri="{BB962C8B-B14F-4D97-AF65-F5344CB8AC3E}">
        <p14:creationId xmlns:p14="http://schemas.microsoft.com/office/powerpoint/2010/main" val="1421380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F910FBE-99AA-46E4-A029-670BE8CAD61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FC76C663-AA18-4346-AC90-DE4FC997150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Achados prioritários: por que houve Atenção</a:t>
            </a:r>
          </a:p>
        </p:txBody>
      </p:sp>
      <p:sp>
        <p:nvSpPr>
          <p:cNvPr id="4" name="CaixaDeTexto 3">
            <a:extLst>
              <a:ext uri="{FF2B5EF4-FFF2-40B4-BE49-F238E27FC236}">
                <a16:creationId xmlns:a16="http://schemas.microsoft.com/office/drawing/2014/main" id="{AB36D27C-4E2A-43EC-A9C3-4C1AFBE22540}"/>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D443E55-5490-4788-A9D1-623A89CDFC8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58</a:t>
            </a:r>
          </a:p>
        </p:txBody>
      </p:sp>
      <p:sp>
        <p:nvSpPr>
          <p:cNvPr id="8" name="CaixaDeTexto 7">
            <a:extLst>
              <a:ext uri="{FF2B5EF4-FFF2-40B4-BE49-F238E27FC236}">
                <a16:creationId xmlns:a16="http://schemas.microsoft.com/office/drawing/2014/main" id="{15C75763-BBA7-4BCF-8111-2EA24B41B20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6 RST em 10 segundos.</a:t>
            </a:r>
          </a:p>
        </p:txBody>
      </p:sp>
      <p:sp>
        <p:nvSpPr>
          <p:cNvPr id="9" name="CaixaDeTexto 8">
            <a:extLst>
              <a:ext uri="{FF2B5EF4-FFF2-40B4-BE49-F238E27FC236}">
                <a16:creationId xmlns:a16="http://schemas.microsoft.com/office/drawing/2014/main" id="{23249F85-5A45-43D4-986A-FD3FE1DA286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Operacional: 15 RST e 21 segmentos repetidos em 30 s.</a:t>
            </a:r>
          </a:p>
        </p:txBody>
      </p:sp>
      <p:sp>
        <p:nvSpPr>
          <p:cNvPr id="10" name="CaixaDeTexto 9">
            <a:extLst>
              <a:ext uri="{FF2B5EF4-FFF2-40B4-BE49-F238E27FC236}">
                <a16:creationId xmlns:a16="http://schemas.microsoft.com/office/drawing/2014/main" id="{B1D1398A-B4CB-48F4-A578-BF1DB5606B7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Esses indicadores motivaram os avisos TCP.</a:t>
            </a:r>
          </a:p>
        </p:txBody>
      </p:sp>
      <p:sp>
        <p:nvSpPr>
          <p:cNvPr id="11" name="CaixaDeTexto 10">
            <a:extLst>
              <a:ext uri="{FF2B5EF4-FFF2-40B4-BE49-F238E27FC236}">
                <a16:creationId xmlns:a16="http://schemas.microsoft.com/office/drawing/2014/main" id="{1C1CB021-1407-40C3-A233-650A9A50A28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Causa raiz exige associar sinais à conversa e ao horário.</a:t>
            </a:r>
          </a:p>
        </p:txBody>
      </p:sp>
      <p:sp>
        <p:nvSpPr>
          <p:cNvPr id="12" name="CaixaDeTexto 11">
            <a:extLst>
              <a:ext uri="{FF2B5EF4-FFF2-40B4-BE49-F238E27FC236}">
                <a16:creationId xmlns:a16="http://schemas.microsoft.com/office/drawing/2014/main" id="{F302E534-3124-47C6-A3ED-C37AD39F18B8}"/>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 de 34. Execução em 02/10/2026.</a:t>
            </a:r>
          </a:p>
        </p:txBody>
      </p:sp>
      <p:pic>
        <p:nvPicPr>
          <p:cNvPr id="13" name="Imagem 12">
            <a:extLst>
              <a:ext uri="{FF2B5EF4-FFF2-40B4-BE49-F238E27FC236}">
                <a16:creationId xmlns:a16="http://schemas.microsoft.com/office/drawing/2014/main" id="{EF6BD6AE-DF7B-44F1-A501-6D51737A72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136" y="1765300"/>
            <a:ext cx="9965727" cy="3073400"/>
          </a:xfrm>
          <a:prstGeom prst="rect">
            <a:avLst/>
          </a:prstGeom>
        </p:spPr>
      </p:pic>
    </p:spTree>
    <p:extLst>
      <p:ext uri="{BB962C8B-B14F-4D97-AF65-F5344CB8AC3E}">
        <p14:creationId xmlns:p14="http://schemas.microsoft.com/office/powerpoint/2010/main" val="7624589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8D87CE5-C077-4F30-A810-CA42B9B2222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D88ABDB2-D13F-4C22-9F71-E13E6C87FE0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Desempenho: mediana, p95 e scan</a:t>
            </a:r>
          </a:p>
        </p:txBody>
      </p:sp>
      <p:sp>
        <p:nvSpPr>
          <p:cNvPr id="4" name="CaixaDeTexto 3">
            <a:extLst>
              <a:ext uri="{FF2B5EF4-FFF2-40B4-BE49-F238E27FC236}">
                <a16:creationId xmlns:a16="http://schemas.microsoft.com/office/drawing/2014/main" id="{F88D190C-5B78-4953-A9B3-D6EE5A754DD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1466873-931A-4309-A17A-B29DE5BD7A4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59</a:t>
            </a:r>
          </a:p>
        </p:txBody>
      </p:sp>
      <p:sp>
        <p:nvSpPr>
          <p:cNvPr id="8" name="CaixaDeTexto 7">
            <a:extLst>
              <a:ext uri="{FF2B5EF4-FFF2-40B4-BE49-F238E27FC236}">
                <a16:creationId xmlns:a16="http://schemas.microsoft.com/office/drawing/2014/main" id="{2D5A10E5-2FBB-421C-ADC5-D2A698F1D1D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Bloco: FC03, início 0, quantidade 10.</a:t>
            </a:r>
          </a:p>
        </p:txBody>
      </p:sp>
      <p:sp>
        <p:nvSpPr>
          <p:cNvPr id="9" name="CaixaDeTexto 8">
            <a:extLst>
              <a:ext uri="{FF2B5EF4-FFF2-40B4-BE49-F238E27FC236}">
                <a16:creationId xmlns:a16="http://schemas.microsoft.com/office/drawing/2014/main" id="{7BB39B99-EFBF-4671-AB16-66D6FA01A73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Mediana: 2,9 ms. p95: 4,4 ms.</a:t>
            </a:r>
          </a:p>
        </p:txBody>
      </p:sp>
      <p:sp>
        <p:nvSpPr>
          <p:cNvPr id="10" name="CaixaDeTexto 9">
            <a:extLst>
              <a:ext uri="{FF2B5EF4-FFF2-40B4-BE49-F238E27FC236}">
                <a16:creationId xmlns:a16="http://schemas.microsoft.com/office/drawing/2014/main" id="{19D4E25F-E10B-48A1-9118-7ECCC2A56F5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p95: 0,44% do período configurado de 1000 ms.</a:t>
            </a:r>
          </a:p>
        </p:txBody>
      </p:sp>
      <p:sp>
        <p:nvSpPr>
          <p:cNvPr id="11" name="CaixaDeTexto 10">
            <a:extLst>
              <a:ext uri="{FF2B5EF4-FFF2-40B4-BE49-F238E27FC236}">
                <a16:creationId xmlns:a16="http://schemas.microsoft.com/office/drawing/2014/main" id="{10931FAD-F190-4D3F-8F04-6EDC674A26C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Amostra: 15 respostas, insuficiente para eventos raros.</a:t>
            </a:r>
          </a:p>
        </p:txBody>
      </p:sp>
      <p:sp>
        <p:nvSpPr>
          <p:cNvPr id="12" name="CaixaDeTexto 11">
            <a:extLst>
              <a:ext uri="{FF2B5EF4-FFF2-40B4-BE49-F238E27FC236}">
                <a16:creationId xmlns:a16="http://schemas.microsoft.com/office/drawing/2014/main" id="{E5A11AD9-FD35-4E8B-BE97-00C96F18051F}"/>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 de 34. Execução em 02/10/2026.</a:t>
            </a:r>
          </a:p>
        </p:txBody>
      </p:sp>
      <p:pic>
        <p:nvPicPr>
          <p:cNvPr id="13" name="Imagem 12">
            <a:extLst>
              <a:ext uri="{FF2B5EF4-FFF2-40B4-BE49-F238E27FC236}">
                <a16:creationId xmlns:a16="http://schemas.microsoft.com/office/drawing/2014/main" id="{3B6165CF-857C-403B-9CF0-5460B64767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26564"/>
            <a:ext cx="10820400" cy="1150872"/>
          </a:xfrm>
          <a:prstGeom prst="rect">
            <a:avLst/>
          </a:prstGeom>
        </p:spPr>
      </p:pic>
    </p:spTree>
    <p:extLst>
      <p:ext uri="{BB962C8B-B14F-4D97-AF65-F5344CB8AC3E}">
        <p14:creationId xmlns:p14="http://schemas.microsoft.com/office/powerpoint/2010/main" val="6564992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279D0EC-A28D-4228-870E-ABDC12CE863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733266DC-812E-43B2-8AB7-A361925ECF2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Cobertura: o que permaneceu sem validação</a:t>
            </a:r>
          </a:p>
        </p:txBody>
      </p:sp>
      <p:sp>
        <p:nvSpPr>
          <p:cNvPr id="4" name="CaixaDeTexto 3">
            <a:extLst>
              <a:ext uri="{FF2B5EF4-FFF2-40B4-BE49-F238E27FC236}">
                <a16:creationId xmlns:a16="http://schemas.microsoft.com/office/drawing/2014/main" id="{94455B16-9770-433B-A673-0A13AC66F71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55022DD-C6B8-4A46-A5ED-B7729325CD81}"/>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60</a:t>
            </a:r>
          </a:p>
        </p:txBody>
      </p:sp>
      <p:sp>
        <p:nvSpPr>
          <p:cNvPr id="8" name="CaixaDeTexto 7">
            <a:extLst>
              <a:ext uri="{FF2B5EF4-FFF2-40B4-BE49-F238E27FC236}">
                <a16:creationId xmlns:a16="http://schemas.microsoft.com/office/drawing/2014/main" id="{E8D14FED-3046-4111-BAF1-14AD17172A6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Só um bloco recebeu 15 leituras repetidas.</a:t>
            </a:r>
          </a:p>
        </p:txBody>
      </p:sp>
      <p:sp>
        <p:nvSpPr>
          <p:cNvPr id="9" name="CaixaDeTexto 8">
            <a:extLst>
              <a:ext uri="{FF2B5EF4-FFF2-40B4-BE49-F238E27FC236}">
                <a16:creationId xmlns:a16="http://schemas.microsoft.com/office/drawing/2014/main" id="{414B3C12-66DA-477E-A00D-D9E68B38313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Descoberta confirmou .200:502 e .202:502.</a:t>
            </a:r>
          </a:p>
        </p:txBody>
      </p:sp>
      <p:sp>
        <p:nvSpPr>
          <p:cNvPr id="10" name="CaixaDeTexto 9">
            <a:extLst>
              <a:ext uri="{FF2B5EF4-FFF2-40B4-BE49-F238E27FC236}">
                <a16:creationId xmlns:a16="http://schemas.microsoft.com/office/drawing/2014/main" id="{AC128DC4-F6A6-4497-9807-C4E75AB3BFF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127.0.0.1 e 172.27.20.21 representam este computador.</a:t>
            </a:r>
          </a:p>
        </p:txBody>
      </p:sp>
      <p:sp>
        <p:nvSpPr>
          <p:cNvPr id="11" name="CaixaDeTexto 10">
            <a:extLst>
              <a:ext uri="{FF2B5EF4-FFF2-40B4-BE49-F238E27FC236}">
                <a16:creationId xmlns:a16="http://schemas.microsoft.com/office/drawing/2014/main" id="{BA86DEB6-32CB-413D-A0F9-7BB2DC2F78A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Mapa completo, saúde física e escrita segura ficam fora do teste.</a:t>
            </a:r>
          </a:p>
        </p:txBody>
      </p:sp>
      <p:sp>
        <p:nvSpPr>
          <p:cNvPr id="12" name="CaixaDeTexto 11">
            <a:extLst>
              <a:ext uri="{FF2B5EF4-FFF2-40B4-BE49-F238E27FC236}">
                <a16:creationId xmlns:a16="http://schemas.microsoft.com/office/drawing/2014/main" id="{57484003-83A4-487D-8609-05C2BD33F61B}"/>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 de 34. Execução em 02/10/2026.</a:t>
            </a:r>
          </a:p>
        </p:txBody>
      </p:sp>
      <p:pic>
        <p:nvPicPr>
          <p:cNvPr id="13" name="Imagem 12">
            <a:extLst>
              <a:ext uri="{FF2B5EF4-FFF2-40B4-BE49-F238E27FC236}">
                <a16:creationId xmlns:a16="http://schemas.microsoft.com/office/drawing/2014/main" id="{C7696290-A185-40B8-95EF-E43F13B9C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75907"/>
            <a:ext cx="10820400" cy="2252185"/>
          </a:xfrm>
          <a:prstGeom prst="rect">
            <a:avLst/>
          </a:prstGeom>
        </p:spPr>
      </p:pic>
    </p:spTree>
    <p:extLst>
      <p:ext uri="{BB962C8B-B14F-4D97-AF65-F5344CB8AC3E}">
        <p14:creationId xmlns:p14="http://schemas.microsoft.com/office/powerpoint/2010/main" val="14284847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00BFA83-4B17-4894-94B5-D8B5DFE79908}"/>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898482BE-CE78-4A95-A486-68A77D5F316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Janelas TCP: comparação de taxas</a:t>
            </a:r>
          </a:p>
        </p:txBody>
      </p:sp>
      <p:sp>
        <p:nvSpPr>
          <p:cNvPr id="4" name="CaixaDeTexto 3">
            <a:extLst>
              <a:ext uri="{FF2B5EF4-FFF2-40B4-BE49-F238E27FC236}">
                <a16:creationId xmlns:a16="http://schemas.microsoft.com/office/drawing/2014/main" id="{C97DB1A4-98EE-45CD-821A-F0266238000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21F8161-34CC-41A0-BBC8-C0CA174CEB5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61</a:t>
            </a:r>
          </a:p>
        </p:txBody>
      </p:sp>
      <p:sp>
        <p:nvSpPr>
          <p:cNvPr id="8" name="CaixaDeTexto 7">
            <a:extLst>
              <a:ext uri="{FF2B5EF4-FFF2-40B4-BE49-F238E27FC236}">
                <a16:creationId xmlns:a16="http://schemas.microsoft.com/office/drawing/2014/main" id="{ED9222FC-889E-43E1-998D-0EF1E5D2F33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63,1 pkt/s. Operacional: 62,7 pkt/s.</a:t>
            </a:r>
          </a:p>
        </p:txBody>
      </p:sp>
      <p:sp>
        <p:nvSpPr>
          <p:cNvPr id="9" name="CaixaDeTexto 8">
            <a:extLst>
              <a:ext uri="{FF2B5EF4-FFF2-40B4-BE49-F238E27FC236}">
                <a16:creationId xmlns:a16="http://schemas.microsoft.com/office/drawing/2014/main" id="{B40287D5-AFB3-4C1D-9656-7F96A250EB8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Variação média: -0,7%. Pico final: 296 pkt/s.</a:t>
            </a:r>
          </a:p>
        </p:txBody>
      </p:sp>
      <p:sp>
        <p:nvSpPr>
          <p:cNvPr id="10" name="CaixaDeTexto 9">
            <a:extLst>
              <a:ext uri="{FF2B5EF4-FFF2-40B4-BE49-F238E27FC236}">
                <a16:creationId xmlns:a16="http://schemas.microsoft.com/office/drawing/2014/main" id="{446D20D3-28BA-43B9-9595-BC818099876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Zero-window: 0 nas duas janelas.</a:t>
            </a:r>
          </a:p>
        </p:txBody>
      </p:sp>
      <p:sp>
        <p:nvSpPr>
          <p:cNvPr id="11" name="CaixaDeTexto 10">
            <a:extLst>
              <a:ext uri="{FF2B5EF4-FFF2-40B4-BE49-F238E27FC236}">
                <a16:creationId xmlns:a16="http://schemas.microsoft.com/office/drawing/2014/main" id="{422174CD-7D25-4D62-AAFB-DAF75CFF006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Pico e volume isolados não demonstram saturação.</a:t>
            </a:r>
          </a:p>
        </p:txBody>
      </p:sp>
      <p:sp>
        <p:nvSpPr>
          <p:cNvPr id="12" name="CaixaDeTexto 11">
            <a:extLst>
              <a:ext uri="{FF2B5EF4-FFF2-40B4-BE49-F238E27FC236}">
                <a16:creationId xmlns:a16="http://schemas.microsoft.com/office/drawing/2014/main" id="{37772AD7-53EF-4246-953C-BBA8D34D69C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 de 34. Execução em 02/10/2026.</a:t>
            </a:r>
          </a:p>
        </p:txBody>
      </p:sp>
      <p:pic>
        <p:nvPicPr>
          <p:cNvPr id="13" name="Imagem 12">
            <a:extLst>
              <a:ext uri="{FF2B5EF4-FFF2-40B4-BE49-F238E27FC236}">
                <a16:creationId xmlns:a16="http://schemas.microsoft.com/office/drawing/2014/main" id="{63E09779-8835-40CA-8CA7-91EA28BF30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85931"/>
            <a:ext cx="10820400" cy="2632138"/>
          </a:xfrm>
          <a:prstGeom prst="rect">
            <a:avLst/>
          </a:prstGeom>
        </p:spPr>
      </p:pic>
    </p:spTree>
    <p:extLst>
      <p:ext uri="{BB962C8B-B14F-4D97-AF65-F5344CB8AC3E}">
        <p14:creationId xmlns:p14="http://schemas.microsoft.com/office/powerpoint/2010/main" val="3748429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5BF1E48-6197-4A63-AB5C-BD6FCB51806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E7BC3715-00A0-4161-A8B3-2DB4521E9B9E}"/>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Topologia: participantes e caminho inferido</a:t>
            </a:r>
          </a:p>
        </p:txBody>
      </p:sp>
      <p:sp>
        <p:nvSpPr>
          <p:cNvPr id="4" name="CaixaDeTexto 3">
            <a:extLst>
              <a:ext uri="{FF2B5EF4-FFF2-40B4-BE49-F238E27FC236}">
                <a16:creationId xmlns:a16="http://schemas.microsoft.com/office/drawing/2014/main" id="{982194AB-8C1F-4E3B-BE8C-BD80E78AA47A}"/>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A94354DE-A11A-4E44-8980-93B7C0540E3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62</a:t>
            </a:r>
          </a:p>
        </p:txBody>
      </p:sp>
      <p:sp>
        <p:nvSpPr>
          <p:cNvPr id="8" name="CaixaDeTexto 7">
            <a:extLst>
              <a:ext uri="{FF2B5EF4-FFF2-40B4-BE49-F238E27FC236}">
                <a16:creationId xmlns:a16="http://schemas.microsoft.com/office/drawing/2014/main" id="{70E81855-CD2B-4E0D-A1F9-78B9CC762A0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Dois participantes remotos com Modbus confirmado.</a:t>
            </a:r>
          </a:p>
        </p:txBody>
      </p:sp>
      <p:sp>
        <p:nvSpPr>
          <p:cNvPr id="9" name="CaixaDeTexto 8">
            <a:extLst>
              <a:ext uri="{FF2B5EF4-FFF2-40B4-BE49-F238E27FC236}">
                <a16:creationId xmlns:a16="http://schemas.microsoft.com/office/drawing/2014/main" id="{B9B7287B-F711-4D2A-BE6C-DFB331A2FFD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14 anúncios LLDP/CDP e 67 outros hosts fora do foco.</a:t>
            </a:r>
          </a:p>
        </p:txBody>
      </p:sp>
      <p:sp>
        <p:nvSpPr>
          <p:cNvPr id="10" name="CaixaDeTexto 9">
            <a:extLst>
              <a:ext uri="{FF2B5EF4-FFF2-40B4-BE49-F238E27FC236}">
                <a16:creationId xmlns:a16="http://schemas.microsoft.com/office/drawing/2014/main" id="{6CC7F1BA-5CF3-4C6E-AD95-F363C17FD24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MK-AUTVIX-BORDA aparece como vizinho anunciado.</a:t>
            </a:r>
          </a:p>
        </p:txBody>
      </p:sp>
      <p:sp>
        <p:nvSpPr>
          <p:cNvPr id="11" name="CaixaDeTexto 10">
            <a:extLst>
              <a:ext uri="{FF2B5EF4-FFF2-40B4-BE49-F238E27FC236}">
                <a16:creationId xmlns:a16="http://schemas.microsoft.com/office/drawing/2014/main" id="{D8AE3125-452C-4368-9051-DCF25EBCDB8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anúncio não comprova o caminho físico dos servidores.</a:t>
            </a:r>
          </a:p>
        </p:txBody>
      </p:sp>
      <p:sp>
        <p:nvSpPr>
          <p:cNvPr id="12" name="CaixaDeTexto 11">
            <a:extLst>
              <a:ext uri="{FF2B5EF4-FFF2-40B4-BE49-F238E27FC236}">
                <a16:creationId xmlns:a16="http://schemas.microsoft.com/office/drawing/2014/main" id="{EBEC5C50-14ED-4463-AD70-B48CE8F0A6D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3 de 34. Execução em 02/10/2026.</a:t>
            </a:r>
          </a:p>
        </p:txBody>
      </p:sp>
      <p:pic>
        <p:nvPicPr>
          <p:cNvPr id="13" name="Imagem 12">
            <a:extLst>
              <a:ext uri="{FF2B5EF4-FFF2-40B4-BE49-F238E27FC236}">
                <a16:creationId xmlns:a16="http://schemas.microsoft.com/office/drawing/2014/main" id="{BD707513-9723-496E-A940-80918800C7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87136"/>
            <a:ext cx="10820400" cy="1029727"/>
          </a:xfrm>
          <a:prstGeom prst="rect">
            <a:avLst/>
          </a:prstGeom>
        </p:spPr>
      </p:pic>
    </p:spTree>
    <p:extLst>
      <p:ext uri="{BB962C8B-B14F-4D97-AF65-F5344CB8AC3E}">
        <p14:creationId xmlns:p14="http://schemas.microsoft.com/office/powerpoint/2010/main" val="35144723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159C040-CC67-4908-887E-FFA64E180E6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30970E49-643D-4C94-82AB-363C2BDBFD9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Rastreamento ICMP: tempo e TTL</a:t>
            </a:r>
          </a:p>
        </p:txBody>
      </p:sp>
      <p:sp>
        <p:nvSpPr>
          <p:cNvPr id="4" name="CaixaDeTexto 3">
            <a:extLst>
              <a:ext uri="{FF2B5EF4-FFF2-40B4-BE49-F238E27FC236}">
                <a16:creationId xmlns:a16="http://schemas.microsoft.com/office/drawing/2014/main" id="{66C7CB35-E3A9-47C1-98DC-F9A10B5CB19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E7C9238-11B0-4DCF-B044-E19897FCA79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63</a:t>
            </a:r>
          </a:p>
        </p:txBody>
      </p:sp>
      <p:sp>
        <p:nvSpPr>
          <p:cNvPr id="8" name="CaixaDeTexto 7">
            <a:extLst>
              <a:ext uri="{FF2B5EF4-FFF2-40B4-BE49-F238E27FC236}">
                <a16:creationId xmlns:a16="http://schemas.microsoft.com/office/drawing/2014/main" id="{3523F128-B1CF-40D1-906A-C02F8374CC0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Todos os quatro destinos responderam no TTL 1.</a:t>
            </a:r>
          </a:p>
        </p:txBody>
      </p:sp>
      <p:sp>
        <p:nvSpPr>
          <p:cNvPr id="9" name="CaixaDeTexto 8">
            <a:extLst>
              <a:ext uri="{FF2B5EF4-FFF2-40B4-BE49-F238E27FC236}">
                <a16:creationId xmlns:a16="http://schemas.microsoft.com/office/drawing/2014/main" id="{7A75C787-CC05-4413-B5F6-265708F33A1A}"/>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.200 respondeu em 1 ms e .202 em 3 ms.</a:t>
            </a:r>
          </a:p>
        </p:txBody>
      </p:sp>
      <p:sp>
        <p:nvSpPr>
          <p:cNvPr id="10" name="CaixaDeTexto 9">
            <a:extLst>
              <a:ext uri="{FF2B5EF4-FFF2-40B4-BE49-F238E27FC236}">
                <a16:creationId xmlns:a16="http://schemas.microsoft.com/office/drawing/2014/main" id="{39FEEDAA-EAAE-4449-BB88-4876A210CE8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 1 não significa conexão direta sem switch.</a:t>
            </a:r>
          </a:p>
        </p:txBody>
      </p:sp>
      <p:sp>
        <p:nvSpPr>
          <p:cNvPr id="11" name="CaixaDeTexto 10">
            <a:extLst>
              <a:ext uri="{FF2B5EF4-FFF2-40B4-BE49-F238E27FC236}">
                <a16:creationId xmlns:a16="http://schemas.microsoft.com/office/drawing/2014/main" id="{B216C8B4-30D0-4B96-AFBA-E254760831E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Esse tempo mede ICMP, não a leitura Modbus.</a:t>
            </a:r>
          </a:p>
        </p:txBody>
      </p:sp>
      <p:sp>
        <p:nvSpPr>
          <p:cNvPr id="12" name="CaixaDeTexto 11">
            <a:extLst>
              <a:ext uri="{FF2B5EF4-FFF2-40B4-BE49-F238E27FC236}">
                <a16:creationId xmlns:a16="http://schemas.microsoft.com/office/drawing/2014/main" id="{03483CA3-B79E-410E-A917-14098991AED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3 de 34. Execução em 02/10/2026.</a:t>
            </a:r>
          </a:p>
        </p:txBody>
      </p:sp>
      <p:pic>
        <p:nvPicPr>
          <p:cNvPr id="13" name="Imagem 12">
            <a:extLst>
              <a:ext uri="{FF2B5EF4-FFF2-40B4-BE49-F238E27FC236}">
                <a16:creationId xmlns:a16="http://schemas.microsoft.com/office/drawing/2014/main" id="{6AFDFC4F-0476-4ED6-8119-9984AEC650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283286"/>
            <a:ext cx="10820400" cy="2037428"/>
          </a:xfrm>
          <a:prstGeom prst="rect">
            <a:avLst/>
          </a:prstGeom>
        </p:spPr>
      </p:pic>
    </p:spTree>
    <p:extLst>
      <p:ext uri="{BB962C8B-B14F-4D97-AF65-F5344CB8AC3E}">
        <p14:creationId xmlns:p14="http://schemas.microsoft.com/office/powerpoint/2010/main" val="2475353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3621145-9120-47B4-BBE2-8201EE6F2C2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5A41A6A0-7B3E-43CD-A47F-4FC766B163B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Vizinhos anunciados: leitura dos campos</a:t>
            </a:r>
          </a:p>
        </p:txBody>
      </p:sp>
      <p:sp>
        <p:nvSpPr>
          <p:cNvPr id="4" name="CaixaDeTexto 3">
            <a:extLst>
              <a:ext uri="{FF2B5EF4-FFF2-40B4-BE49-F238E27FC236}">
                <a16:creationId xmlns:a16="http://schemas.microsoft.com/office/drawing/2014/main" id="{26C797A8-4BFC-4FBC-B797-CB7EE1E0668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ED2F56B5-4DF7-4CBF-B35C-E33CBF52853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64</a:t>
            </a:r>
          </a:p>
        </p:txBody>
      </p:sp>
      <p:sp>
        <p:nvSpPr>
          <p:cNvPr id="8" name="CaixaDeTexto 7">
            <a:extLst>
              <a:ext uri="{FF2B5EF4-FFF2-40B4-BE49-F238E27FC236}">
                <a16:creationId xmlns:a16="http://schemas.microsoft.com/office/drawing/2014/main" id="{372E5785-4A62-4C07-A976-6F5A8592C33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Nome/chassi e MAC ajudam a reconhecer a origem.</a:t>
            </a:r>
          </a:p>
        </p:txBody>
      </p:sp>
      <p:sp>
        <p:nvSpPr>
          <p:cNvPr id="9" name="CaixaDeTexto 8">
            <a:extLst>
              <a:ext uri="{FF2B5EF4-FFF2-40B4-BE49-F238E27FC236}">
                <a16:creationId xmlns:a16="http://schemas.microsoft.com/office/drawing/2014/main" id="{D084FDBF-9C9E-4EFA-83BA-5F006AED1722}"/>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anunciada identifica o contexto informado pelo vizinho.</a:t>
            </a:r>
          </a:p>
        </p:txBody>
      </p:sp>
      <p:sp>
        <p:nvSpPr>
          <p:cNvPr id="10" name="CaixaDeTexto 9">
            <a:extLst>
              <a:ext uri="{FF2B5EF4-FFF2-40B4-BE49-F238E27FC236}">
                <a16:creationId xmlns:a16="http://schemas.microsoft.com/office/drawing/2014/main" id="{6BA80ABE-80BA-4AA7-A6CF-77C7D1A1F0E3}"/>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 de gestão pode estar ausente no anúncio.</a:t>
            </a:r>
          </a:p>
        </p:txBody>
      </p:sp>
      <p:sp>
        <p:nvSpPr>
          <p:cNvPr id="11" name="CaixaDeTexto 10">
            <a:extLst>
              <a:ext uri="{FF2B5EF4-FFF2-40B4-BE49-F238E27FC236}">
                <a16:creationId xmlns:a16="http://schemas.microsoft.com/office/drawing/2014/main" id="{0DEA6A8B-36C8-4F29-82D3-C265304DCA0F}"/>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TTL é validade do anúncio, não contagem de saltos.</a:t>
            </a:r>
          </a:p>
        </p:txBody>
      </p:sp>
      <p:sp>
        <p:nvSpPr>
          <p:cNvPr id="12" name="CaixaDeTexto 11">
            <a:extLst>
              <a:ext uri="{FF2B5EF4-FFF2-40B4-BE49-F238E27FC236}">
                <a16:creationId xmlns:a16="http://schemas.microsoft.com/office/drawing/2014/main" id="{D1D2723B-AF38-46C2-A9D0-DDCA4CF3A86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4 de 34. Execução em 02/10/2026.</a:t>
            </a:r>
          </a:p>
        </p:txBody>
      </p:sp>
      <p:pic>
        <p:nvPicPr>
          <p:cNvPr id="13" name="Imagem 12">
            <a:extLst>
              <a:ext uri="{FF2B5EF4-FFF2-40B4-BE49-F238E27FC236}">
                <a16:creationId xmlns:a16="http://schemas.microsoft.com/office/drawing/2014/main" id="{63BA725D-D8EC-40C8-A20B-37D935F55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44632"/>
            <a:ext cx="10820400" cy="2714736"/>
          </a:xfrm>
          <a:prstGeom prst="rect">
            <a:avLst/>
          </a:prstGeom>
        </p:spPr>
      </p:pic>
    </p:spTree>
    <p:extLst>
      <p:ext uri="{BB962C8B-B14F-4D97-AF65-F5344CB8AC3E}">
        <p14:creationId xmlns:p14="http://schemas.microsoft.com/office/powerpoint/2010/main" val="37981128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A8ECB17-7E5E-40F4-AC8E-FCD56622013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86E35212-E55F-4B80-A002-57E3F45AAF6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Parâmetros de coleta: reproduzir o ensaio</a:t>
            </a:r>
          </a:p>
        </p:txBody>
      </p:sp>
      <p:sp>
        <p:nvSpPr>
          <p:cNvPr id="4" name="CaixaDeTexto 3">
            <a:extLst>
              <a:ext uri="{FF2B5EF4-FFF2-40B4-BE49-F238E27FC236}">
                <a16:creationId xmlns:a16="http://schemas.microsoft.com/office/drawing/2014/main" id="{3233986E-C1DC-4EBE-8A19-C416E36FF05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DE13F3E-4C62-4573-BFA3-2F812833BCC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65</a:t>
            </a:r>
          </a:p>
        </p:txBody>
      </p:sp>
      <p:sp>
        <p:nvSpPr>
          <p:cNvPr id="8" name="CaixaDeTexto 7">
            <a:extLst>
              <a:ext uri="{FF2B5EF4-FFF2-40B4-BE49-F238E27FC236}">
                <a16:creationId xmlns:a16="http://schemas.microsoft.com/office/drawing/2014/main" id="{776DD1CC-9E91-4775-A239-A9297CF8223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Realtek Ethernet e BPF definem o tráfego visível.</a:t>
            </a:r>
          </a:p>
        </p:txBody>
      </p:sp>
      <p:sp>
        <p:nvSpPr>
          <p:cNvPr id="9" name="CaixaDeTexto 8">
            <a:extLst>
              <a:ext uri="{FF2B5EF4-FFF2-40B4-BE49-F238E27FC236}">
                <a16:creationId xmlns:a16="http://schemas.microsoft.com/office/drawing/2014/main" id="{DA3E2E90-9438-4D26-9027-771483A5327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 10 s, monitor 30 s, 15 leituras/bloco.</a:t>
            </a:r>
          </a:p>
        </p:txBody>
      </p:sp>
      <p:sp>
        <p:nvSpPr>
          <p:cNvPr id="10" name="CaixaDeTexto 9">
            <a:extLst>
              <a:ext uri="{FF2B5EF4-FFF2-40B4-BE49-F238E27FC236}">
                <a16:creationId xmlns:a16="http://schemas.microsoft.com/office/drawing/2014/main" id="{F60C5A2B-F042-4F6E-A53A-217F8DF75BF7}"/>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CIDR 172.27.20.0/24. Portas 502,1501,1502.</a:t>
            </a:r>
          </a:p>
        </p:txBody>
      </p:sp>
      <p:sp>
        <p:nvSpPr>
          <p:cNvPr id="11" name="CaixaDeTexto 10">
            <a:extLst>
              <a:ext uri="{FF2B5EF4-FFF2-40B4-BE49-F238E27FC236}">
                <a16:creationId xmlns:a16="http://schemas.microsoft.com/office/drawing/2014/main" id="{6A063A7E-DDD4-4C11-8F70-992C88A4C3B3}"/>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Limites: 5 sondagens/s e concorrência 2.</a:t>
            </a:r>
          </a:p>
        </p:txBody>
      </p:sp>
      <p:sp>
        <p:nvSpPr>
          <p:cNvPr id="12" name="CaixaDeTexto 11">
            <a:extLst>
              <a:ext uri="{FF2B5EF4-FFF2-40B4-BE49-F238E27FC236}">
                <a16:creationId xmlns:a16="http://schemas.microsoft.com/office/drawing/2014/main" id="{E9AE7663-534B-4F1D-A62C-D22C4CD5AD6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5 de 34. Execução em 02/10/2026.</a:t>
            </a:r>
          </a:p>
        </p:txBody>
      </p:sp>
      <p:pic>
        <p:nvPicPr>
          <p:cNvPr id="13" name="Imagem 12">
            <a:extLst>
              <a:ext uri="{FF2B5EF4-FFF2-40B4-BE49-F238E27FC236}">
                <a16:creationId xmlns:a16="http://schemas.microsoft.com/office/drawing/2014/main" id="{6D002A4A-EB39-40AF-B225-CE7FF2DBA3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765110"/>
            <a:ext cx="10820400" cy="1073780"/>
          </a:xfrm>
          <a:prstGeom prst="rect">
            <a:avLst/>
          </a:prstGeom>
        </p:spPr>
      </p:pic>
    </p:spTree>
    <p:extLst>
      <p:ext uri="{BB962C8B-B14F-4D97-AF65-F5344CB8AC3E}">
        <p14:creationId xmlns:p14="http://schemas.microsoft.com/office/powerpoint/2010/main" val="29526906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6FEF255-0888-4BD0-AF97-F8B0ED9AE10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A6666B78-D709-4838-96B3-01624A913DF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Checklist: duração e estado por etapa</a:t>
            </a:r>
          </a:p>
        </p:txBody>
      </p:sp>
      <p:sp>
        <p:nvSpPr>
          <p:cNvPr id="4" name="CaixaDeTexto 3">
            <a:extLst>
              <a:ext uri="{FF2B5EF4-FFF2-40B4-BE49-F238E27FC236}">
                <a16:creationId xmlns:a16="http://schemas.microsoft.com/office/drawing/2014/main" id="{DC36DE65-D2B3-4177-8E90-BC6876B84E4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797601BC-396B-45DB-BFF0-5A9EE38850C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66</a:t>
            </a:r>
          </a:p>
        </p:txBody>
      </p:sp>
      <p:sp>
        <p:nvSpPr>
          <p:cNvPr id="8" name="CaixaDeTexto 7">
            <a:extLst>
              <a:ext uri="{FF2B5EF4-FFF2-40B4-BE49-F238E27FC236}">
                <a16:creationId xmlns:a16="http://schemas.microsoft.com/office/drawing/2014/main" id="{002C79FE-E6EA-40CD-9C3E-2928D4C0F4DC}"/>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Varredura: 210,2 s. Descoberta de mapa: 206,9 s.</a:t>
            </a:r>
          </a:p>
        </p:txBody>
      </p:sp>
      <p:sp>
        <p:nvSpPr>
          <p:cNvPr id="9" name="CaixaDeTexto 8">
            <a:extLst>
              <a:ext uri="{FF2B5EF4-FFF2-40B4-BE49-F238E27FC236}">
                <a16:creationId xmlns:a16="http://schemas.microsoft.com/office/drawing/2014/main" id="{196DA3C5-ED44-4E7C-AC8A-1A79FF0D4A0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Juntas: cerca de 87,5% dos 476,9 s totais.</a:t>
            </a:r>
          </a:p>
        </p:txBody>
      </p:sp>
      <p:sp>
        <p:nvSpPr>
          <p:cNvPr id="10" name="CaixaDeTexto 9">
            <a:extLst>
              <a:ext uri="{FF2B5EF4-FFF2-40B4-BE49-F238E27FC236}">
                <a16:creationId xmlns:a16="http://schemas.microsoft.com/office/drawing/2014/main" id="{70071F33-05E3-433C-A399-66A72E57E2C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ARP: Não aplicável ao alvo loopback.</a:t>
            </a:r>
          </a:p>
        </p:txBody>
      </p:sp>
      <p:sp>
        <p:nvSpPr>
          <p:cNvPr id="11" name="CaixaDeTexto 10">
            <a:extLst>
              <a:ext uri="{FF2B5EF4-FFF2-40B4-BE49-F238E27FC236}">
                <a16:creationId xmlns:a16="http://schemas.microsoft.com/office/drawing/2014/main" id="{945912D7-F44B-49EC-BBA6-F6D1BAADF304}"/>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Atenção aparece nas duas janelas TCP e na conclusão.</a:t>
            </a:r>
          </a:p>
        </p:txBody>
      </p:sp>
      <p:sp>
        <p:nvSpPr>
          <p:cNvPr id="12" name="CaixaDeTexto 11">
            <a:extLst>
              <a:ext uri="{FF2B5EF4-FFF2-40B4-BE49-F238E27FC236}">
                <a16:creationId xmlns:a16="http://schemas.microsoft.com/office/drawing/2014/main" id="{50A0F371-544D-44EF-BE11-98D0B573CB3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5 de 34. Execução em 02/10/2026.</a:t>
            </a:r>
          </a:p>
        </p:txBody>
      </p:sp>
      <p:pic>
        <p:nvPicPr>
          <p:cNvPr id="13" name="Imagem 12">
            <a:extLst>
              <a:ext uri="{FF2B5EF4-FFF2-40B4-BE49-F238E27FC236}">
                <a16:creationId xmlns:a16="http://schemas.microsoft.com/office/drawing/2014/main" id="{21E4FA6D-E0A2-4FE2-BDBC-AFAE46848C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4001" y="1765300"/>
            <a:ext cx="7663999" cy="3073400"/>
          </a:xfrm>
          <a:prstGeom prst="rect">
            <a:avLst/>
          </a:prstGeom>
        </p:spPr>
      </p:pic>
    </p:spTree>
    <p:extLst>
      <p:ext uri="{BB962C8B-B14F-4D97-AF65-F5344CB8AC3E}">
        <p14:creationId xmlns:p14="http://schemas.microsoft.com/office/powerpoint/2010/main" val="39098360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3C3BBD7-40EA-4F13-9A6E-C89F175A681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2495D35D-E605-4717-868F-9D6951F0E28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Referência: sinais TCP em conexões HTTPS</a:t>
            </a:r>
          </a:p>
        </p:txBody>
      </p:sp>
      <p:sp>
        <p:nvSpPr>
          <p:cNvPr id="4" name="CaixaDeTexto 3">
            <a:extLst>
              <a:ext uri="{FF2B5EF4-FFF2-40B4-BE49-F238E27FC236}">
                <a16:creationId xmlns:a16="http://schemas.microsoft.com/office/drawing/2014/main" id="{0A245425-AEF5-4895-87ED-F181BA7D559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B70E6206-3206-4A7A-AAC2-F90CC3720D92}"/>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67</a:t>
            </a:r>
          </a:p>
        </p:txBody>
      </p:sp>
      <p:sp>
        <p:nvSpPr>
          <p:cNvPr id="8" name="CaixaDeTexto 7">
            <a:extLst>
              <a:ext uri="{FF2B5EF4-FFF2-40B4-BE49-F238E27FC236}">
                <a16:creationId xmlns:a16="http://schemas.microsoft.com/office/drawing/2014/main" id="{C230B482-1914-47A4-B837-464E29F4239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Os 6 RST envolvem 187.64.130.42:443.</a:t>
            </a:r>
          </a:p>
        </p:txBody>
      </p:sp>
      <p:sp>
        <p:nvSpPr>
          <p:cNvPr id="9" name="CaixaDeTexto 8">
            <a:extLst>
              <a:ext uri="{FF2B5EF4-FFF2-40B4-BE49-F238E27FC236}">
                <a16:creationId xmlns:a16="http://schemas.microsoft.com/office/drawing/2014/main" id="{E9BECF90-0FC8-4C1F-BB07-A197896B96E3}"/>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443 situa essas conversas fora do alvo Modbus testado.</a:t>
            </a:r>
          </a:p>
        </p:txBody>
      </p:sp>
      <p:sp>
        <p:nvSpPr>
          <p:cNvPr id="10" name="CaixaDeTexto 9">
            <a:extLst>
              <a:ext uri="{FF2B5EF4-FFF2-40B4-BE49-F238E27FC236}">
                <a16:creationId xmlns:a16="http://schemas.microsoft.com/office/drawing/2014/main" id="{E7A945B0-2DEB-44EF-A19E-20B9D0BB9C24}"/>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sinal global não comprova falha em 127.0.0.1:1502.</a:t>
            </a:r>
          </a:p>
        </p:txBody>
      </p:sp>
      <p:sp>
        <p:nvSpPr>
          <p:cNvPr id="11" name="CaixaDeTexto 10">
            <a:extLst>
              <a:ext uri="{FF2B5EF4-FFF2-40B4-BE49-F238E27FC236}">
                <a16:creationId xmlns:a16="http://schemas.microsoft.com/office/drawing/2014/main" id="{9491C046-DE2A-490C-BA40-9A1492AD0FB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análise precisa filtrar endpoints e horários relevantes.</a:t>
            </a:r>
          </a:p>
        </p:txBody>
      </p:sp>
      <p:sp>
        <p:nvSpPr>
          <p:cNvPr id="12" name="CaixaDeTexto 11">
            <a:extLst>
              <a:ext uri="{FF2B5EF4-FFF2-40B4-BE49-F238E27FC236}">
                <a16:creationId xmlns:a16="http://schemas.microsoft.com/office/drawing/2014/main" id="{DA9688AB-4D12-432D-81CC-8C0932350CC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6 de 34. Execução em 02/10/2026.</a:t>
            </a:r>
          </a:p>
        </p:txBody>
      </p:sp>
      <p:pic>
        <p:nvPicPr>
          <p:cNvPr id="13" name="Imagem 12">
            <a:extLst>
              <a:ext uri="{FF2B5EF4-FFF2-40B4-BE49-F238E27FC236}">
                <a16:creationId xmlns:a16="http://schemas.microsoft.com/office/drawing/2014/main" id="{A5D9355A-3B50-4A32-AB1F-2700FF307D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440223"/>
            <a:ext cx="10820400" cy="1723554"/>
          </a:xfrm>
          <a:prstGeom prst="rect">
            <a:avLst/>
          </a:prstGeom>
        </p:spPr>
      </p:pic>
    </p:spTree>
    <p:extLst>
      <p:ext uri="{BB962C8B-B14F-4D97-AF65-F5344CB8AC3E}">
        <p14:creationId xmlns:p14="http://schemas.microsoft.com/office/powerpoint/2010/main" val="5469887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BF062361-BEBB-4032-8A20-3763815FB03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612D648D-D6E6-4F1E-B878-2DE2E7DC908B}"/>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Monitoramento: volume e qualidade da captura</a:t>
            </a:r>
          </a:p>
        </p:txBody>
      </p:sp>
      <p:sp>
        <p:nvSpPr>
          <p:cNvPr id="4" name="CaixaDeTexto 3">
            <a:extLst>
              <a:ext uri="{FF2B5EF4-FFF2-40B4-BE49-F238E27FC236}">
                <a16:creationId xmlns:a16="http://schemas.microsoft.com/office/drawing/2014/main" id="{E8CF7D9F-9186-4C98-9F89-D73E5CDD14C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CE3DBBE-43BB-4A7E-9CF7-86F95865B01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68</a:t>
            </a:r>
          </a:p>
        </p:txBody>
      </p:sp>
      <p:sp>
        <p:nvSpPr>
          <p:cNvPr id="8" name="CaixaDeTexto 7">
            <a:extLst>
              <a:ext uri="{FF2B5EF4-FFF2-40B4-BE49-F238E27FC236}">
                <a16:creationId xmlns:a16="http://schemas.microsoft.com/office/drawing/2014/main" id="{832C052D-6A32-415C-9355-EB41224AF99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1880 pacotes em 30 s, pico de 296 pkt/s.</a:t>
            </a:r>
          </a:p>
        </p:txBody>
      </p:sp>
      <p:sp>
        <p:nvSpPr>
          <p:cNvPr id="9" name="CaixaDeTexto 8">
            <a:extLst>
              <a:ext uri="{FF2B5EF4-FFF2-40B4-BE49-F238E27FC236}">
                <a16:creationId xmlns:a16="http://schemas.microsoft.com/office/drawing/2014/main" id="{1FFCBAEE-9FBD-4F5A-A7D5-DF5271C75CC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Driver e fila reportam zero descartes nessa janela.</a:t>
            </a:r>
          </a:p>
        </p:txBody>
      </p:sp>
      <p:sp>
        <p:nvSpPr>
          <p:cNvPr id="10" name="CaixaDeTexto 9">
            <a:extLst>
              <a:ext uri="{FF2B5EF4-FFF2-40B4-BE49-F238E27FC236}">
                <a16:creationId xmlns:a16="http://schemas.microsoft.com/office/drawing/2014/main" id="{B5F18D61-E913-4114-B7EB-ACBA55AC226B}"/>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SO reporta zero erros e descartes de interface.</a:t>
            </a:r>
          </a:p>
        </p:txBody>
      </p:sp>
      <p:sp>
        <p:nvSpPr>
          <p:cNvPr id="11" name="CaixaDeTexto 10">
            <a:extLst>
              <a:ext uri="{FF2B5EF4-FFF2-40B4-BE49-F238E27FC236}">
                <a16:creationId xmlns:a16="http://schemas.microsoft.com/office/drawing/2014/main" id="{7D2278F2-C4A8-4219-9AEF-64A57D48BF6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Nenhum desses contadores valida todas as portas do switch.</a:t>
            </a:r>
          </a:p>
        </p:txBody>
      </p:sp>
      <p:sp>
        <p:nvSpPr>
          <p:cNvPr id="12" name="CaixaDeTexto 11">
            <a:extLst>
              <a:ext uri="{FF2B5EF4-FFF2-40B4-BE49-F238E27FC236}">
                <a16:creationId xmlns:a16="http://schemas.microsoft.com/office/drawing/2014/main" id="{2C8B8777-E24F-49D3-BCA3-62C84405D2E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6 de 34. Execução em 02/10/2026.</a:t>
            </a:r>
          </a:p>
        </p:txBody>
      </p:sp>
      <p:pic>
        <p:nvPicPr>
          <p:cNvPr id="13" name="Imagem 12">
            <a:extLst>
              <a:ext uri="{FF2B5EF4-FFF2-40B4-BE49-F238E27FC236}">
                <a16:creationId xmlns:a16="http://schemas.microsoft.com/office/drawing/2014/main" id="{14C3EA84-CCEA-4440-99C6-5CE4088D7F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60270"/>
            <a:ext cx="10820400" cy="2483461"/>
          </a:xfrm>
          <a:prstGeom prst="rect">
            <a:avLst/>
          </a:prstGeom>
        </p:spPr>
      </p:pic>
    </p:spTree>
    <p:extLst>
      <p:ext uri="{BB962C8B-B14F-4D97-AF65-F5344CB8AC3E}">
        <p14:creationId xmlns:p14="http://schemas.microsoft.com/office/powerpoint/2010/main" val="15138136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6F27AB2-AAE7-4BCE-96DE-766B8DE57CC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3C498631-DCC1-4FB3-B4E8-8A52660D012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Monitoramento: onde estão os segmentos repetidos</a:t>
            </a:r>
          </a:p>
        </p:txBody>
      </p:sp>
      <p:sp>
        <p:nvSpPr>
          <p:cNvPr id="4" name="CaixaDeTexto 3">
            <a:extLst>
              <a:ext uri="{FF2B5EF4-FFF2-40B4-BE49-F238E27FC236}">
                <a16:creationId xmlns:a16="http://schemas.microsoft.com/office/drawing/2014/main" id="{52C8E952-CD94-4C7C-82B0-2304718C756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0B2ACC6D-A8A5-475A-B6A8-3832B2EAFA28}"/>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69</a:t>
            </a:r>
          </a:p>
        </p:txBody>
      </p:sp>
      <p:sp>
        <p:nvSpPr>
          <p:cNvPr id="8" name="CaixaDeTexto 7">
            <a:extLst>
              <a:ext uri="{FF2B5EF4-FFF2-40B4-BE49-F238E27FC236}">
                <a16:creationId xmlns:a16="http://schemas.microsoft.com/office/drawing/2014/main" id="{8C0163FD-B1E3-4098-A694-44D5BADB9FED}"/>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As conversas detalhadas com sinais usam porta 443.</a:t>
            </a:r>
          </a:p>
        </p:txBody>
      </p:sp>
      <p:sp>
        <p:nvSpPr>
          <p:cNvPr id="9" name="CaixaDeTexto 8">
            <a:extLst>
              <a:ext uri="{FF2B5EF4-FFF2-40B4-BE49-F238E27FC236}">
                <a16:creationId xmlns:a16="http://schemas.microsoft.com/office/drawing/2014/main" id="{7AC53EFE-911F-41E4-9E2D-4579B24CEBD6}"/>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21 segmentos repetidos são indícios na captura.</a:t>
            </a:r>
          </a:p>
        </p:txBody>
      </p:sp>
      <p:sp>
        <p:nvSpPr>
          <p:cNvPr id="10" name="CaixaDeTexto 9">
            <a:extLst>
              <a:ext uri="{FF2B5EF4-FFF2-40B4-BE49-F238E27FC236}">
                <a16:creationId xmlns:a16="http://schemas.microsoft.com/office/drawing/2014/main" id="{5FC127CA-0353-44A0-939B-725CEF5B57E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Pode haver retransmissão, duplicação ou reuso de conexão.</a:t>
            </a:r>
          </a:p>
        </p:txBody>
      </p:sp>
      <p:sp>
        <p:nvSpPr>
          <p:cNvPr id="11" name="CaixaDeTexto 10">
            <a:extLst>
              <a:ext uri="{FF2B5EF4-FFF2-40B4-BE49-F238E27FC236}">
                <a16:creationId xmlns:a16="http://schemas.microsoft.com/office/drawing/2014/main" id="{3B519419-0DCB-40C4-B611-CCEBE11BAEE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Correlacionar com atraso ou falha do serviço investigado.</a:t>
            </a:r>
          </a:p>
        </p:txBody>
      </p:sp>
      <p:sp>
        <p:nvSpPr>
          <p:cNvPr id="12" name="CaixaDeTexto 11">
            <a:extLst>
              <a:ext uri="{FF2B5EF4-FFF2-40B4-BE49-F238E27FC236}">
                <a16:creationId xmlns:a16="http://schemas.microsoft.com/office/drawing/2014/main" id="{2341A204-21F1-481C-BCFA-81848F3C3EF1}"/>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6 de 34. Execução em 02/10/2026.</a:t>
            </a:r>
          </a:p>
        </p:txBody>
      </p:sp>
      <p:pic>
        <p:nvPicPr>
          <p:cNvPr id="13" name="Imagem 12">
            <a:extLst>
              <a:ext uri="{FF2B5EF4-FFF2-40B4-BE49-F238E27FC236}">
                <a16:creationId xmlns:a16="http://schemas.microsoft.com/office/drawing/2014/main" id="{355528E9-595F-493F-BE51-685F3EF558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291545"/>
            <a:ext cx="10820400" cy="2020909"/>
          </a:xfrm>
          <a:prstGeom prst="rect">
            <a:avLst/>
          </a:prstGeom>
        </p:spPr>
      </p:pic>
    </p:spTree>
    <p:extLst>
      <p:ext uri="{BB962C8B-B14F-4D97-AF65-F5344CB8AC3E}">
        <p14:creationId xmlns:p14="http://schemas.microsoft.com/office/powerpoint/2010/main" val="20851129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4F4E5F8-1B7C-4012-83BD-63E037151D14}"/>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C57BE1FE-272D-4584-9260-49DF95E3993A}"/>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Inventário de serviços: TCP aberto versus Modbus</a:t>
            </a:r>
          </a:p>
        </p:txBody>
      </p:sp>
      <p:sp>
        <p:nvSpPr>
          <p:cNvPr id="4" name="CaixaDeTexto 3">
            <a:extLst>
              <a:ext uri="{FF2B5EF4-FFF2-40B4-BE49-F238E27FC236}">
                <a16:creationId xmlns:a16="http://schemas.microsoft.com/office/drawing/2014/main" id="{0AAAE213-A881-4D78-B4AF-19D7303943A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138E553-635A-4791-BB2E-EA585CB0565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70</a:t>
            </a:r>
          </a:p>
        </p:txBody>
      </p:sp>
      <p:sp>
        <p:nvSpPr>
          <p:cNvPr id="8" name="CaixaDeTexto 7">
            <a:extLst>
              <a:ext uri="{FF2B5EF4-FFF2-40B4-BE49-F238E27FC236}">
                <a16:creationId xmlns:a16="http://schemas.microsoft.com/office/drawing/2014/main" id="{C0656920-0DE5-4A2A-A2AE-C9C505ED75E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.21:1502, .200:502 e .202:502: Modbus confirmado.</a:t>
            </a:r>
          </a:p>
        </p:txBody>
      </p:sp>
      <p:sp>
        <p:nvSpPr>
          <p:cNvPr id="9" name="CaixaDeTexto 8">
            <a:extLst>
              <a:ext uri="{FF2B5EF4-FFF2-40B4-BE49-F238E27FC236}">
                <a16:creationId xmlns:a16="http://schemas.microsoft.com/office/drawing/2014/main" id="{47D78FA5-B88F-4158-9582-F9E124C5125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.34:502: TCP aberto, protocolo não confirmado.</a:t>
            </a:r>
          </a:p>
        </p:txBody>
      </p:sp>
      <p:sp>
        <p:nvSpPr>
          <p:cNvPr id="10" name="CaixaDeTexto 9">
            <a:extLst>
              <a:ext uri="{FF2B5EF4-FFF2-40B4-BE49-F238E27FC236}">
                <a16:creationId xmlns:a16="http://schemas.microsoft.com/office/drawing/2014/main" id="{EB2790AD-D20F-4E3D-969E-82F45A48C56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Porta aberta demonstra aceitação de conexão TCP.</a:t>
            </a:r>
          </a:p>
        </p:txBody>
      </p:sp>
      <p:sp>
        <p:nvSpPr>
          <p:cNvPr id="11" name="CaixaDeTexto 10">
            <a:extLst>
              <a:ext uri="{FF2B5EF4-FFF2-40B4-BE49-F238E27FC236}">
                <a16:creationId xmlns:a16="http://schemas.microsoft.com/office/drawing/2014/main" id="{0AFA5F0F-8288-467E-B3B7-7132F3A613C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FC, UID e resposta válida sustentam confirmação Modbus.</a:t>
            </a:r>
          </a:p>
        </p:txBody>
      </p:sp>
      <p:sp>
        <p:nvSpPr>
          <p:cNvPr id="12" name="CaixaDeTexto 11">
            <a:extLst>
              <a:ext uri="{FF2B5EF4-FFF2-40B4-BE49-F238E27FC236}">
                <a16:creationId xmlns:a16="http://schemas.microsoft.com/office/drawing/2014/main" id="{AD22AC25-D321-40A0-98B0-7F8AC59521F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7 de 34. Execução em 02/10/2026.</a:t>
            </a:r>
          </a:p>
        </p:txBody>
      </p:sp>
      <p:pic>
        <p:nvPicPr>
          <p:cNvPr id="13" name="Imagem 12">
            <a:extLst>
              <a:ext uri="{FF2B5EF4-FFF2-40B4-BE49-F238E27FC236}">
                <a16:creationId xmlns:a16="http://schemas.microsoft.com/office/drawing/2014/main" id="{5F84DA58-CDDA-4C23-BB13-CDCF2A9759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010711"/>
            <a:ext cx="10820400" cy="2582579"/>
          </a:xfrm>
          <a:prstGeom prst="rect">
            <a:avLst/>
          </a:prstGeom>
        </p:spPr>
      </p:pic>
    </p:spTree>
    <p:extLst>
      <p:ext uri="{BB962C8B-B14F-4D97-AF65-F5344CB8AC3E}">
        <p14:creationId xmlns:p14="http://schemas.microsoft.com/office/powerpoint/2010/main" val="37249629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6FA65F2-4A9F-4274-81C4-64A3483A78B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10C62A9A-1A8E-4E26-B46C-CF005C1C7E76}"/>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descoberto: intervalos e amostras</a:t>
            </a:r>
          </a:p>
        </p:txBody>
      </p:sp>
      <p:sp>
        <p:nvSpPr>
          <p:cNvPr id="4" name="CaixaDeTexto 3">
            <a:extLst>
              <a:ext uri="{FF2B5EF4-FFF2-40B4-BE49-F238E27FC236}">
                <a16:creationId xmlns:a16="http://schemas.microsoft.com/office/drawing/2014/main" id="{E201B8A9-29A2-451C-A7B3-4BCDC896C701}"/>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C067483-A5CB-4193-AFF6-F421BA21F10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71</a:t>
            </a:r>
          </a:p>
        </p:txBody>
      </p:sp>
      <p:sp>
        <p:nvSpPr>
          <p:cNvPr id="8" name="CaixaDeTexto 7">
            <a:extLst>
              <a:ext uri="{FF2B5EF4-FFF2-40B4-BE49-F238E27FC236}">
                <a16:creationId xmlns:a16="http://schemas.microsoft.com/office/drawing/2014/main" id="{C3782F74-1BC4-4636-982C-FBA01BADAD2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 local: quatro áreas de 0 a 19.</a:t>
            </a:r>
          </a:p>
        </p:txBody>
      </p:sp>
      <p:sp>
        <p:nvSpPr>
          <p:cNvPr id="9" name="CaixaDeTexto 8">
            <a:extLst>
              <a:ext uri="{FF2B5EF4-FFF2-40B4-BE49-F238E27FC236}">
                <a16:creationId xmlns:a16="http://schemas.microsoft.com/office/drawing/2014/main" id="{392F9482-FD58-41CD-BD86-92E72AD79FB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 .200: áreas aceitas desde 0 até o limite 120.</a:t>
            </a:r>
          </a:p>
        </p:txBody>
      </p:sp>
      <p:sp>
        <p:nvSpPr>
          <p:cNvPr id="10" name="CaixaDeTexto 9">
            <a:extLst>
              <a:ext uri="{FF2B5EF4-FFF2-40B4-BE49-F238E27FC236}">
                <a16:creationId xmlns:a16="http://schemas.microsoft.com/office/drawing/2014/main" id="{493A3A38-EB0B-446F-9D69-63BBC8AE3A5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Range validado: a leitura retornou resposta válida.</a:t>
            </a:r>
          </a:p>
        </p:txBody>
      </p:sp>
      <p:sp>
        <p:nvSpPr>
          <p:cNvPr id="11" name="CaixaDeTexto 10">
            <a:extLst>
              <a:ext uri="{FF2B5EF4-FFF2-40B4-BE49-F238E27FC236}">
                <a16:creationId xmlns:a16="http://schemas.microsoft.com/office/drawing/2014/main" id="{965CD0C5-0868-4667-8559-5FCFE9FFC5D6}"/>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Amostra zero pode ser dado válido, sem falha de comunicação.</a:t>
            </a:r>
          </a:p>
        </p:txBody>
      </p:sp>
      <p:sp>
        <p:nvSpPr>
          <p:cNvPr id="12" name="CaixaDeTexto 11">
            <a:extLst>
              <a:ext uri="{FF2B5EF4-FFF2-40B4-BE49-F238E27FC236}">
                <a16:creationId xmlns:a16="http://schemas.microsoft.com/office/drawing/2014/main" id="{603F7155-D41A-4672-BCC2-8D4CE5D4B99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7 de 34. Execução em 02/10/2026.</a:t>
            </a:r>
          </a:p>
        </p:txBody>
      </p:sp>
      <p:pic>
        <p:nvPicPr>
          <p:cNvPr id="13" name="Imagem 12">
            <a:extLst>
              <a:ext uri="{FF2B5EF4-FFF2-40B4-BE49-F238E27FC236}">
                <a16:creationId xmlns:a16="http://schemas.microsoft.com/office/drawing/2014/main" id="{DD7F9A4D-6C3E-44D1-8C98-CABCA61865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81306"/>
            <a:ext cx="10820400" cy="2841387"/>
          </a:xfrm>
          <a:prstGeom prst="rect">
            <a:avLst/>
          </a:prstGeom>
        </p:spPr>
      </p:pic>
    </p:spTree>
    <p:extLst>
      <p:ext uri="{BB962C8B-B14F-4D97-AF65-F5344CB8AC3E}">
        <p14:creationId xmlns:p14="http://schemas.microsoft.com/office/powerpoint/2010/main" val="13381597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8CC1B22B-D88F-4E95-894F-EBC91FE4E33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CC68FC38-0B17-43B7-867E-4C6E77EF0D5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Modbus: confirmação e timeout</a:t>
            </a:r>
          </a:p>
        </p:txBody>
      </p:sp>
      <p:sp>
        <p:nvSpPr>
          <p:cNvPr id="4" name="CaixaDeTexto 3">
            <a:extLst>
              <a:ext uri="{FF2B5EF4-FFF2-40B4-BE49-F238E27FC236}">
                <a16:creationId xmlns:a16="http://schemas.microsoft.com/office/drawing/2014/main" id="{5983E56D-9848-4422-BD26-8C6A1F50979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94707C9B-382A-40E5-A693-D8BEDC9D2F53}"/>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72</a:t>
            </a:r>
          </a:p>
        </p:txBody>
      </p:sp>
      <p:sp>
        <p:nvSpPr>
          <p:cNvPr id="8" name="CaixaDeTexto 7">
            <a:extLst>
              <a:ext uri="{FF2B5EF4-FFF2-40B4-BE49-F238E27FC236}">
                <a16:creationId xmlns:a16="http://schemas.microsoft.com/office/drawing/2014/main" id="{0A8DF9AA-E899-4692-9DF6-4B30027EE46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Quatro endpoints confirmados, consolidados em três grupos.</a:t>
            </a:r>
          </a:p>
        </p:txBody>
      </p:sp>
      <p:sp>
        <p:nvSpPr>
          <p:cNvPr id="9" name="CaixaDeTexto 8">
            <a:extLst>
              <a:ext uri="{FF2B5EF4-FFF2-40B4-BE49-F238E27FC236}">
                <a16:creationId xmlns:a16="http://schemas.microsoft.com/office/drawing/2014/main" id="{80F88564-69E6-4E86-9307-4F0E96DFD95B}"/>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TID/UID/FC/MBAP coerentes sustentam a validação.</a:t>
            </a:r>
          </a:p>
        </p:txBody>
      </p:sp>
      <p:sp>
        <p:nvSpPr>
          <p:cNvPr id="10" name="CaixaDeTexto 9">
            <a:extLst>
              <a:ext uri="{FF2B5EF4-FFF2-40B4-BE49-F238E27FC236}">
                <a16:creationId xmlns:a16="http://schemas.microsoft.com/office/drawing/2014/main" id="{C10C5F55-5951-43FD-BA33-95AF947CE44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.34:502 respondeu TCP, mas FC03/UID 1 deu timeout.</a:t>
            </a:r>
          </a:p>
        </p:txBody>
      </p:sp>
      <p:sp>
        <p:nvSpPr>
          <p:cNvPr id="11" name="CaixaDeTexto 10">
            <a:extLst>
              <a:ext uri="{FF2B5EF4-FFF2-40B4-BE49-F238E27FC236}">
                <a16:creationId xmlns:a16="http://schemas.microsoft.com/office/drawing/2014/main" id="{E32FDFA5-F611-44AD-A493-943272DA566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Outros IDs, funções ou timeouts exigem ensaio autorizado.</a:t>
            </a:r>
          </a:p>
        </p:txBody>
      </p:sp>
      <p:sp>
        <p:nvSpPr>
          <p:cNvPr id="12" name="CaixaDeTexto 11">
            <a:extLst>
              <a:ext uri="{FF2B5EF4-FFF2-40B4-BE49-F238E27FC236}">
                <a16:creationId xmlns:a16="http://schemas.microsoft.com/office/drawing/2014/main" id="{A8A6EB85-1D6A-4584-BB30-826C14DD1022}"/>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12 de 34. Execução em 02/10/2026.</a:t>
            </a:r>
          </a:p>
        </p:txBody>
      </p:sp>
      <p:pic>
        <p:nvPicPr>
          <p:cNvPr id="13" name="Imagem 12">
            <a:extLst>
              <a:ext uri="{FF2B5EF4-FFF2-40B4-BE49-F238E27FC236}">
                <a16:creationId xmlns:a16="http://schemas.microsoft.com/office/drawing/2014/main" id="{BD88178A-2F13-4DA1-BE5C-63BDFE0326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423703"/>
            <a:ext cx="10820400" cy="1756594"/>
          </a:xfrm>
          <a:prstGeom prst="rect">
            <a:avLst/>
          </a:prstGeom>
        </p:spPr>
      </p:pic>
    </p:spTree>
    <p:extLst>
      <p:ext uri="{BB962C8B-B14F-4D97-AF65-F5344CB8AC3E}">
        <p14:creationId xmlns:p14="http://schemas.microsoft.com/office/powerpoint/2010/main" val="11835820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9CE2697-C6A3-4155-AE4A-D0B631CEBF4D}"/>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BDC76CD7-8E40-49C4-8604-5D615AF0F5E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Descoberta de mapa: por que foram 1016 requests</a:t>
            </a:r>
          </a:p>
        </p:txBody>
      </p:sp>
      <p:sp>
        <p:nvSpPr>
          <p:cNvPr id="4" name="CaixaDeTexto 3">
            <a:extLst>
              <a:ext uri="{FF2B5EF4-FFF2-40B4-BE49-F238E27FC236}">
                <a16:creationId xmlns:a16="http://schemas.microsoft.com/office/drawing/2014/main" id="{F44AC9E1-5F91-4D5F-9632-42C01F149F6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339E9E5-0AE8-4F24-A3F5-60E29D747A2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73</a:t>
            </a:r>
          </a:p>
        </p:txBody>
      </p:sp>
      <p:sp>
        <p:nvSpPr>
          <p:cNvPr id="8" name="CaixaDeTexto 7">
            <a:extLst>
              <a:ext uri="{FF2B5EF4-FFF2-40B4-BE49-F238E27FC236}">
                <a16:creationId xmlns:a16="http://schemas.microsoft.com/office/drawing/2014/main" id="{80D885E7-5BB5-42A5-A5FB-F1D187837FE9}"/>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Quatro endpoints, UID 1, quatro funções de leitura.</a:t>
            </a:r>
          </a:p>
        </p:txBody>
      </p:sp>
      <p:sp>
        <p:nvSpPr>
          <p:cNvPr id="9" name="CaixaDeTexto 8">
            <a:extLst>
              <a:ext uri="{FF2B5EF4-FFF2-40B4-BE49-F238E27FC236}">
                <a16:creationId xmlns:a16="http://schemas.microsoft.com/office/drawing/2014/main" id="{BD17B56A-1858-4C24-AED5-E7E15212EE77}"/>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Máximo 120, bloco 10: 13 blocos iniciais por combinação.</a:t>
            </a:r>
          </a:p>
        </p:txBody>
      </p:sp>
      <p:sp>
        <p:nvSpPr>
          <p:cNvPr id="10" name="CaixaDeTexto 9">
            <a:extLst>
              <a:ext uri="{FF2B5EF4-FFF2-40B4-BE49-F238E27FC236}">
                <a16:creationId xmlns:a16="http://schemas.microsoft.com/office/drawing/2014/main" id="{6E0CBA6B-D0B2-4C2A-B0DB-11270982776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208 requests iniciais, antes das tentativas adicionais.</a:t>
            </a:r>
          </a:p>
        </p:txBody>
      </p:sp>
      <p:sp>
        <p:nvSpPr>
          <p:cNvPr id="11" name="CaixaDeTexto 10">
            <a:extLst>
              <a:ext uri="{FF2B5EF4-FFF2-40B4-BE49-F238E27FC236}">
                <a16:creationId xmlns:a16="http://schemas.microsoft.com/office/drawing/2014/main" id="{7ED14C62-FB32-426E-8620-0E1E150485C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Fallback habilitado ampliou a sondagem para 1016 requests.</a:t>
            </a:r>
          </a:p>
        </p:txBody>
      </p:sp>
      <p:sp>
        <p:nvSpPr>
          <p:cNvPr id="12" name="CaixaDeTexto 11">
            <a:extLst>
              <a:ext uri="{FF2B5EF4-FFF2-40B4-BE49-F238E27FC236}">
                <a16:creationId xmlns:a16="http://schemas.microsoft.com/office/drawing/2014/main" id="{8AE858FE-5F7E-4544-8406-0E546EF3FC3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12 de 34. Execução em 02/10/2026.</a:t>
            </a:r>
          </a:p>
        </p:txBody>
      </p:sp>
      <p:pic>
        <p:nvPicPr>
          <p:cNvPr id="13" name="Imagem 12">
            <a:extLst>
              <a:ext uri="{FF2B5EF4-FFF2-40B4-BE49-F238E27FC236}">
                <a16:creationId xmlns:a16="http://schemas.microsoft.com/office/drawing/2014/main" id="{8DD3F0D7-3A1E-452B-B9A5-812CAEA244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56635"/>
            <a:ext cx="10820400" cy="2290731"/>
          </a:xfrm>
          <a:prstGeom prst="rect">
            <a:avLst/>
          </a:prstGeom>
        </p:spPr>
      </p:pic>
    </p:spTree>
    <p:extLst>
      <p:ext uri="{BB962C8B-B14F-4D97-AF65-F5344CB8AC3E}">
        <p14:creationId xmlns:p14="http://schemas.microsoft.com/office/powerpoint/2010/main" val="247325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0F59D39-8A20-4BB6-8C4D-D87EF6BE8571}"/>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88176773-5BC3-45C4-A548-83F0D268BAA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Conectividade TCP: socket aberto não valida o mapa</a:t>
            </a:r>
          </a:p>
        </p:txBody>
      </p:sp>
      <p:sp>
        <p:nvSpPr>
          <p:cNvPr id="4" name="CaixaDeTexto 3">
            <a:extLst>
              <a:ext uri="{FF2B5EF4-FFF2-40B4-BE49-F238E27FC236}">
                <a16:creationId xmlns:a16="http://schemas.microsoft.com/office/drawing/2014/main" id="{0EEFA7C2-B768-4088-A15E-EB6E2A43551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CD215FFD-4B80-4CBA-8D1A-1C453E811E9C}"/>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74</a:t>
            </a:r>
          </a:p>
        </p:txBody>
      </p:sp>
      <p:sp>
        <p:nvSpPr>
          <p:cNvPr id="8" name="CaixaDeTexto 7">
            <a:extLst>
              <a:ext uri="{FF2B5EF4-FFF2-40B4-BE49-F238E27FC236}">
                <a16:creationId xmlns:a16="http://schemas.microsoft.com/office/drawing/2014/main" id="{E592B89A-300C-4727-B72D-0F148A5861F5}"/>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Socket abriu em 2 ms para 127.0.0.1:1502.</a:t>
            </a:r>
          </a:p>
        </p:txBody>
      </p:sp>
      <p:sp>
        <p:nvSpPr>
          <p:cNvPr id="9" name="CaixaDeTexto 8">
            <a:extLst>
              <a:ext uri="{FF2B5EF4-FFF2-40B4-BE49-F238E27FC236}">
                <a16:creationId xmlns:a16="http://schemas.microsoft.com/office/drawing/2014/main" id="{D4A591F8-7C96-4BC4-B1A8-A4CAA4C2F144}"/>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resultado confirma o transporte daquela tentativa.</a:t>
            </a:r>
          </a:p>
        </p:txBody>
      </p:sp>
      <p:sp>
        <p:nvSpPr>
          <p:cNvPr id="10" name="CaixaDeTexto 9">
            <a:extLst>
              <a:ext uri="{FF2B5EF4-FFF2-40B4-BE49-F238E27FC236}">
                <a16:creationId xmlns:a16="http://schemas.microsoft.com/office/drawing/2014/main" id="{5384AAD5-11CC-4D06-8C04-4138C1824C0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Ainda falta validar UID, função, range e resposta.</a:t>
            </a:r>
          </a:p>
        </p:txBody>
      </p:sp>
      <p:sp>
        <p:nvSpPr>
          <p:cNvPr id="11" name="CaixaDeTexto 10">
            <a:extLst>
              <a:ext uri="{FF2B5EF4-FFF2-40B4-BE49-F238E27FC236}">
                <a16:creationId xmlns:a16="http://schemas.microsoft.com/office/drawing/2014/main" id="{34F60F43-8ECB-4375-8A71-A08FE23CA79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Recusa e timeout pedem investigações diferentes.</a:t>
            </a:r>
          </a:p>
        </p:txBody>
      </p:sp>
      <p:sp>
        <p:nvSpPr>
          <p:cNvPr id="12" name="CaixaDeTexto 11">
            <a:extLst>
              <a:ext uri="{FF2B5EF4-FFF2-40B4-BE49-F238E27FC236}">
                <a16:creationId xmlns:a16="http://schemas.microsoft.com/office/drawing/2014/main" id="{8E3F9AD7-87BB-4E6D-8A53-9E6CC5DEBDE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13 de 34. Execução em 02/10/2026.</a:t>
            </a:r>
          </a:p>
        </p:txBody>
      </p:sp>
      <p:pic>
        <p:nvPicPr>
          <p:cNvPr id="13" name="Imagem 12">
            <a:extLst>
              <a:ext uri="{FF2B5EF4-FFF2-40B4-BE49-F238E27FC236}">
                <a16:creationId xmlns:a16="http://schemas.microsoft.com/office/drawing/2014/main" id="{DAA8A50E-59D4-4BAE-AB97-D9D9C4AE3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442976"/>
            <a:ext cx="10820400" cy="1718048"/>
          </a:xfrm>
          <a:prstGeom prst="rect">
            <a:avLst/>
          </a:prstGeom>
        </p:spPr>
      </p:pic>
    </p:spTree>
    <p:extLst>
      <p:ext uri="{BB962C8B-B14F-4D97-AF65-F5344CB8AC3E}">
        <p14:creationId xmlns:p14="http://schemas.microsoft.com/office/powerpoint/2010/main" val="27245713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2800D9B-1FB0-4ED1-9EA5-3683B4C27D93}"/>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C3D9171C-775C-4526-B9DB-AA3F1866B84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Leituras repetidas: sucesso e tipos de falha</a:t>
            </a:r>
          </a:p>
        </p:txBody>
      </p:sp>
      <p:sp>
        <p:nvSpPr>
          <p:cNvPr id="4" name="CaixaDeTexto 3">
            <a:extLst>
              <a:ext uri="{FF2B5EF4-FFF2-40B4-BE49-F238E27FC236}">
                <a16:creationId xmlns:a16="http://schemas.microsoft.com/office/drawing/2014/main" id="{00E2C7FF-86D5-486E-A582-6A7C72E9884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33ABA6E-0A23-44A3-B01D-15193544C18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75</a:t>
            </a:r>
          </a:p>
        </p:txBody>
      </p:sp>
      <p:sp>
        <p:nvSpPr>
          <p:cNvPr id="8" name="CaixaDeTexto 7">
            <a:extLst>
              <a:ext uri="{FF2B5EF4-FFF2-40B4-BE49-F238E27FC236}">
                <a16:creationId xmlns:a16="http://schemas.microsoft.com/office/drawing/2014/main" id="{F8B9487A-E1BB-4776-A33E-9ED2C19EBBE2}"/>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15/15 válidas, sem erros no bloco FC03 0 a 9.</a:t>
            </a:r>
          </a:p>
        </p:txBody>
      </p:sp>
      <p:sp>
        <p:nvSpPr>
          <p:cNvPr id="9" name="CaixaDeTexto 8">
            <a:extLst>
              <a:ext uri="{FF2B5EF4-FFF2-40B4-BE49-F238E27FC236}">
                <a16:creationId xmlns:a16="http://schemas.microsoft.com/office/drawing/2014/main" id="{CFC29F87-63C0-4F5C-B5BC-20E4E3E0A730}"/>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es-ES">
                <a:solidFill>
                  <a:srgbClr val="18354B"/>
                </a:solidFill>
                <a:latin typeface="Segoe UI" panose="020B0502040204020203" pitchFamily="34" charset="0"/>
              </a:rPr>
              <a:t>Mín. 2,7 ms, mediana 2,9 ms, máx. 4,4 ms.</a:t>
            </a:r>
            <a:endParaRPr lang="pt-BR">
              <a:solidFill>
                <a:srgbClr val="18354B"/>
              </a:solidFill>
              <a:latin typeface="Segoe UI" panose="020B0502040204020203" pitchFamily="34" charset="0"/>
            </a:endParaRPr>
          </a:p>
        </p:txBody>
      </p:sp>
      <p:sp>
        <p:nvSpPr>
          <p:cNvPr id="10" name="CaixaDeTexto 9">
            <a:extLst>
              <a:ext uri="{FF2B5EF4-FFF2-40B4-BE49-F238E27FC236}">
                <a16:creationId xmlns:a16="http://schemas.microsoft.com/office/drawing/2014/main" id="{1E5F15E7-615C-4D20-9C68-C29E97D56C1F}"/>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Timeout, exceção e falha TCP exigem diagnósticos separados.</a:t>
            </a:r>
          </a:p>
        </p:txBody>
      </p:sp>
      <p:sp>
        <p:nvSpPr>
          <p:cNvPr id="11" name="CaixaDeTexto 10">
            <a:extLst>
              <a:ext uri="{FF2B5EF4-FFF2-40B4-BE49-F238E27FC236}">
                <a16:creationId xmlns:a16="http://schemas.microsoft.com/office/drawing/2014/main" id="{69AAADC4-1D0F-4806-865E-540EACF8EC8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Só os blocos habilitados entram nessa validação.</a:t>
            </a:r>
          </a:p>
        </p:txBody>
      </p:sp>
      <p:sp>
        <p:nvSpPr>
          <p:cNvPr id="12" name="CaixaDeTexto 11">
            <a:extLst>
              <a:ext uri="{FF2B5EF4-FFF2-40B4-BE49-F238E27FC236}">
                <a16:creationId xmlns:a16="http://schemas.microsoft.com/office/drawing/2014/main" id="{BA326F25-B484-4DF2-80FB-CC8C88A8FE5D}"/>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14 de 34. Execução em 02/10/2026.</a:t>
            </a:r>
          </a:p>
        </p:txBody>
      </p:sp>
      <p:pic>
        <p:nvPicPr>
          <p:cNvPr id="13" name="Imagem 12">
            <a:extLst>
              <a:ext uri="{FF2B5EF4-FFF2-40B4-BE49-F238E27FC236}">
                <a16:creationId xmlns:a16="http://schemas.microsoft.com/office/drawing/2014/main" id="{0055A673-2BEF-4D44-BA6E-5FE2D0E16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809162"/>
            <a:ext cx="10820400" cy="985675"/>
          </a:xfrm>
          <a:prstGeom prst="rect">
            <a:avLst/>
          </a:prstGeom>
        </p:spPr>
      </p:pic>
    </p:spTree>
    <p:extLst>
      <p:ext uri="{BB962C8B-B14F-4D97-AF65-F5344CB8AC3E}">
        <p14:creationId xmlns:p14="http://schemas.microsoft.com/office/powerpoint/2010/main" val="23505769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D44ADA0-35B5-4006-96AD-C797CEC8BC70}"/>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CA7708AB-1B97-4893-B103-0C87B1603055}"/>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Envio e recebimento: validade da transação</a:t>
            </a:r>
          </a:p>
        </p:txBody>
      </p:sp>
      <p:sp>
        <p:nvSpPr>
          <p:cNvPr id="4" name="CaixaDeTexto 3">
            <a:extLst>
              <a:ext uri="{FF2B5EF4-FFF2-40B4-BE49-F238E27FC236}">
                <a16:creationId xmlns:a16="http://schemas.microsoft.com/office/drawing/2014/main" id="{F4BA3E80-9486-4AF0-A248-EC72C7C3860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381A42D2-8265-4F2C-A238-7A453246C75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76</a:t>
            </a:r>
          </a:p>
        </p:txBody>
      </p:sp>
      <p:sp>
        <p:nvSpPr>
          <p:cNvPr id="8" name="CaixaDeTexto 7">
            <a:extLst>
              <a:ext uri="{FF2B5EF4-FFF2-40B4-BE49-F238E27FC236}">
                <a16:creationId xmlns:a16="http://schemas.microsoft.com/office/drawing/2014/main" id="{A00BE445-52F6-4650-A52F-45BA0EB6ECDB}"/>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Request/response FC03 completo e válido.</a:t>
            </a:r>
          </a:p>
        </p:txBody>
      </p:sp>
      <p:sp>
        <p:nvSpPr>
          <p:cNvPr id="9" name="CaixaDeTexto 8">
            <a:extLst>
              <a:ext uri="{FF2B5EF4-FFF2-40B4-BE49-F238E27FC236}">
                <a16:creationId xmlns:a16="http://schemas.microsoft.com/office/drawing/2014/main" id="{D6F386FF-B089-4DB6-B436-6E127BA0C46E}"/>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Valores de 1000 a 1009 no range solicitado.</a:t>
            </a:r>
          </a:p>
        </p:txBody>
      </p:sp>
      <p:sp>
        <p:nvSpPr>
          <p:cNvPr id="10" name="CaixaDeTexto 9">
            <a:extLst>
              <a:ext uri="{FF2B5EF4-FFF2-40B4-BE49-F238E27FC236}">
                <a16:creationId xmlns:a16="http://schemas.microsoft.com/office/drawing/2014/main" id="{A363E5A6-E217-4550-81EB-EA442A2754B7}"/>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Confirmação cobre aquela linha e aquele UID.</a:t>
            </a:r>
          </a:p>
        </p:txBody>
      </p:sp>
      <p:sp>
        <p:nvSpPr>
          <p:cNvPr id="11" name="CaixaDeTexto 10">
            <a:extLst>
              <a:ext uri="{FF2B5EF4-FFF2-40B4-BE49-F238E27FC236}">
                <a16:creationId xmlns:a16="http://schemas.microsoft.com/office/drawing/2014/main" id="{04046072-FA4E-4F32-B491-4A37F3965A8D}"/>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Valores plausíveis ainda precisam de contexto de engenharia.</a:t>
            </a:r>
          </a:p>
        </p:txBody>
      </p:sp>
      <p:sp>
        <p:nvSpPr>
          <p:cNvPr id="12" name="CaixaDeTexto 11">
            <a:extLst>
              <a:ext uri="{FF2B5EF4-FFF2-40B4-BE49-F238E27FC236}">
                <a16:creationId xmlns:a16="http://schemas.microsoft.com/office/drawing/2014/main" id="{2E650E5C-DDD9-4D28-A74F-C62974B68AB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14 de 34. Execução em 02/10/2026.</a:t>
            </a:r>
          </a:p>
        </p:txBody>
      </p:sp>
      <p:pic>
        <p:nvPicPr>
          <p:cNvPr id="13" name="Imagem 12">
            <a:extLst>
              <a:ext uri="{FF2B5EF4-FFF2-40B4-BE49-F238E27FC236}">
                <a16:creationId xmlns:a16="http://schemas.microsoft.com/office/drawing/2014/main" id="{72C7A4B4-95DF-4A0B-AD90-CA8DD7A122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313572"/>
            <a:ext cx="10820400" cy="1976857"/>
          </a:xfrm>
          <a:prstGeom prst="rect">
            <a:avLst/>
          </a:prstGeom>
        </p:spPr>
      </p:pic>
    </p:spTree>
    <p:extLst>
      <p:ext uri="{BB962C8B-B14F-4D97-AF65-F5344CB8AC3E}">
        <p14:creationId xmlns:p14="http://schemas.microsoft.com/office/powerpoint/2010/main" val="38097144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926C084C-2C00-4F74-8E4B-F696AA5F342B}"/>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3F997CCC-D3FA-4A48-98C9-C1CFE147E71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Falhas observadas e conclusão: escopos diferentes</a:t>
            </a:r>
          </a:p>
        </p:txBody>
      </p:sp>
      <p:sp>
        <p:nvSpPr>
          <p:cNvPr id="4" name="CaixaDeTexto 3">
            <a:extLst>
              <a:ext uri="{FF2B5EF4-FFF2-40B4-BE49-F238E27FC236}">
                <a16:creationId xmlns:a16="http://schemas.microsoft.com/office/drawing/2014/main" id="{655F665E-2664-44BD-97C6-7C261B04765D}"/>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1EDF3AF-EDBA-450F-B098-2627689DAC96}"/>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77</a:t>
            </a:r>
          </a:p>
        </p:txBody>
      </p:sp>
      <p:sp>
        <p:nvSpPr>
          <p:cNvPr id="8" name="CaixaDeTexto 7">
            <a:extLst>
              <a:ext uri="{FF2B5EF4-FFF2-40B4-BE49-F238E27FC236}">
                <a16:creationId xmlns:a16="http://schemas.microsoft.com/office/drawing/2014/main" id="{B0AE3A30-529A-4D02-80DB-331CDEC1957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Falhas observadas: zero avisos das sessões testadas.</a:t>
            </a:r>
          </a:p>
        </p:txBody>
      </p:sp>
      <p:sp>
        <p:nvSpPr>
          <p:cNvPr id="9" name="CaixaDeTexto 8">
            <a:extLst>
              <a:ext uri="{FF2B5EF4-FFF2-40B4-BE49-F238E27FC236}">
                <a16:creationId xmlns:a16="http://schemas.microsoft.com/office/drawing/2014/main" id="{8C0B55C3-9039-48B6-B067-6D5BAECAB4C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Conclusão: 0 falhas, 2 atenções e 1 não aplicável.</a:t>
            </a:r>
          </a:p>
        </p:txBody>
      </p:sp>
      <p:sp>
        <p:nvSpPr>
          <p:cNvPr id="10" name="CaixaDeTexto 9">
            <a:extLst>
              <a:ext uri="{FF2B5EF4-FFF2-40B4-BE49-F238E27FC236}">
                <a16:creationId xmlns:a16="http://schemas.microsoft.com/office/drawing/2014/main" id="{7406D7DF-45B7-4378-9F01-08E596D8FCC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Sinais TCP gerais podem coexistir com leituras locais OK.</a:t>
            </a:r>
          </a:p>
        </p:txBody>
      </p:sp>
      <p:sp>
        <p:nvSpPr>
          <p:cNvPr id="11" name="CaixaDeTexto 10">
            <a:extLst>
              <a:ext uri="{FF2B5EF4-FFF2-40B4-BE49-F238E27FC236}">
                <a16:creationId xmlns:a16="http://schemas.microsoft.com/office/drawing/2014/main" id="{7E3378BB-33A5-4C76-9C7B-1A7A8E07B152}"/>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Atenção global não equivale a falha do alvo.</a:t>
            </a:r>
          </a:p>
        </p:txBody>
      </p:sp>
      <p:sp>
        <p:nvSpPr>
          <p:cNvPr id="12" name="CaixaDeTexto 11">
            <a:extLst>
              <a:ext uri="{FF2B5EF4-FFF2-40B4-BE49-F238E27FC236}">
                <a16:creationId xmlns:a16="http://schemas.microsoft.com/office/drawing/2014/main" id="{E5D66B46-45DF-48A1-B2CB-6126B5F6A993}"/>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15 de 34. Execução em 02/10/2026.</a:t>
            </a:r>
          </a:p>
        </p:txBody>
      </p:sp>
      <p:pic>
        <p:nvPicPr>
          <p:cNvPr id="13" name="Imagem 12">
            <a:extLst>
              <a:ext uri="{FF2B5EF4-FFF2-40B4-BE49-F238E27FC236}">
                <a16:creationId xmlns:a16="http://schemas.microsoft.com/office/drawing/2014/main" id="{71FDB3B9-57E8-4D85-BD96-57B03A790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18089"/>
            <a:ext cx="10820400" cy="2367822"/>
          </a:xfrm>
          <a:prstGeom prst="rect">
            <a:avLst/>
          </a:prstGeom>
        </p:spPr>
      </p:pic>
    </p:spTree>
    <p:extLst>
      <p:ext uri="{BB962C8B-B14F-4D97-AF65-F5344CB8AC3E}">
        <p14:creationId xmlns:p14="http://schemas.microsoft.com/office/powerpoint/2010/main" val="39723330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9394DD5-9B11-476C-8164-CF2DEFA62F65}"/>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DA9BC3A6-A9D8-4B96-AD79-7E7F2AB9E87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Inventário completo: origem e identidade dos IPs</a:t>
            </a:r>
          </a:p>
        </p:txBody>
      </p:sp>
      <p:sp>
        <p:nvSpPr>
          <p:cNvPr id="4" name="CaixaDeTexto 3">
            <a:extLst>
              <a:ext uri="{FF2B5EF4-FFF2-40B4-BE49-F238E27FC236}">
                <a16:creationId xmlns:a16="http://schemas.microsoft.com/office/drawing/2014/main" id="{0E160B48-132A-4A84-99FF-3C32795B50A6}"/>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F932CD2-44ED-44D1-89B0-FFECD42048ED}"/>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78</a:t>
            </a:r>
          </a:p>
        </p:txBody>
      </p:sp>
      <p:sp>
        <p:nvSpPr>
          <p:cNvPr id="8" name="CaixaDeTexto 7">
            <a:extLst>
              <a:ext uri="{FF2B5EF4-FFF2-40B4-BE49-F238E27FC236}">
                <a16:creationId xmlns:a16="http://schemas.microsoft.com/office/drawing/2014/main" id="{66F41202-A2A9-490A-84FD-188ECC229A4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Fonte: ARP, sondagem e captura indicam como o IP apareceu.</a:t>
            </a:r>
          </a:p>
        </p:txBody>
      </p:sp>
      <p:sp>
        <p:nvSpPr>
          <p:cNvPr id="9" name="CaixaDeTexto 8">
            <a:extLst>
              <a:ext uri="{FF2B5EF4-FFF2-40B4-BE49-F238E27FC236}">
                <a16:creationId xmlns:a16="http://schemas.microsoft.com/office/drawing/2014/main" id="{82613E53-DF63-4968-A23E-A7A7764888D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.200 e .202 compartilham o MAC 00-04-17-91-c8-60.</a:t>
            </a:r>
          </a:p>
        </p:txBody>
      </p:sp>
      <p:sp>
        <p:nvSpPr>
          <p:cNvPr id="10" name="CaixaDeTexto 9">
            <a:extLst>
              <a:ext uri="{FF2B5EF4-FFF2-40B4-BE49-F238E27FC236}">
                <a16:creationId xmlns:a16="http://schemas.microsoft.com/office/drawing/2014/main" id="{9534527A-F7FB-4463-83A5-A27F813F9B8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Isso exige conferir a identidade física no inventário.</a:t>
            </a:r>
          </a:p>
        </p:txBody>
      </p:sp>
      <p:sp>
        <p:nvSpPr>
          <p:cNvPr id="11" name="CaixaDeTexto 10">
            <a:extLst>
              <a:ext uri="{FF2B5EF4-FFF2-40B4-BE49-F238E27FC236}">
                <a16:creationId xmlns:a16="http://schemas.microsoft.com/office/drawing/2014/main" id="{0997EE77-55E2-4337-8EF7-9E5AB907D02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IPs e entradas ARP não são contagem segura de PLCs.</a:t>
            </a:r>
          </a:p>
        </p:txBody>
      </p:sp>
      <p:sp>
        <p:nvSpPr>
          <p:cNvPr id="12" name="CaixaDeTexto 11">
            <a:extLst>
              <a:ext uri="{FF2B5EF4-FFF2-40B4-BE49-F238E27FC236}">
                <a16:creationId xmlns:a16="http://schemas.microsoft.com/office/drawing/2014/main" id="{D38E5E87-C725-4CBE-8CEB-EF34C8CA6497}"/>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11 de 34. Execução em 02/10/2026.</a:t>
            </a:r>
          </a:p>
        </p:txBody>
      </p:sp>
      <p:pic>
        <p:nvPicPr>
          <p:cNvPr id="13" name="Imagem 12">
            <a:extLst>
              <a:ext uri="{FF2B5EF4-FFF2-40B4-BE49-F238E27FC236}">
                <a16:creationId xmlns:a16="http://schemas.microsoft.com/office/drawing/2014/main" id="{675CDF82-51D1-4691-864E-94ED43C139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3077339"/>
            <a:ext cx="10820400" cy="449322"/>
          </a:xfrm>
          <a:prstGeom prst="rect">
            <a:avLst/>
          </a:prstGeom>
        </p:spPr>
      </p:pic>
    </p:spTree>
    <p:extLst>
      <p:ext uri="{BB962C8B-B14F-4D97-AF65-F5344CB8AC3E}">
        <p14:creationId xmlns:p14="http://schemas.microsoft.com/office/powerpoint/2010/main" val="24037489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1BC86C9-03E3-46C3-A84F-17C5327E53B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C8ABF628-970A-49E8-A2EA-31092F5CD133}"/>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Conversas completas: tráfego relevante ao diagnóstico</a:t>
            </a:r>
          </a:p>
        </p:txBody>
      </p:sp>
      <p:sp>
        <p:nvSpPr>
          <p:cNvPr id="4" name="CaixaDeTexto 3">
            <a:extLst>
              <a:ext uri="{FF2B5EF4-FFF2-40B4-BE49-F238E27FC236}">
                <a16:creationId xmlns:a16="http://schemas.microsoft.com/office/drawing/2014/main" id="{7B8A01E0-E98C-4478-AC7D-57B3B354D27B}"/>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6FF59DA8-C771-4CB8-ACC1-EAFF5E2D216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79</a:t>
            </a:r>
          </a:p>
        </p:txBody>
      </p:sp>
      <p:sp>
        <p:nvSpPr>
          <p:cNvPr id="8" name="CaixaDeTexto 7">
            <a:extLst>
              <a:ext uri="{FF2B5EF4-FFF2-40B4-BE49-F238E27FC236}">
                <a16:creationId xmlns:a16="http://schemas.microsoft.com/office/drawing/2014/main" id="{C1631FB9-55C4-48CE-92D9-929B5D42A37F}"/>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Origem/destino e detalhe localizam o par IP:porta.</a:t>
            </a:r>
          </a:p>
        </p:txBody>
      </p:sp>
      <p:sp>
        <p:nvSpPr>
          <p:cNvPr id="9" name="CaixaDeTexto 8">
            <a:extLst>
              <a:ext uri="{FF2B5EF4-FFF2-40B4-BE49-F238E27FC236}">
                <a16:creationId xmlns:a16="http://schemas.microsoft.com/office/drawing/2014/main" id="{A7B5182E-257F-449F-A514-80ED079E680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Evidência informa TCP, UDP, ARP ou Modbus reconhecido.</a:t>
            </a:r>
          </a:p>
        </p:txBody>
      </p:sp>
      <p:sp>
        <p:nvSpPr>
          <p:cNvPr id="10" name="CaixaDeTexto 9">
            <a:extLst>
              <a:ext uri="{FF2B5EF4-FFF2-40B4-BE49-F238E27FC236}">
                <a16:creationId xmlns:a16="http://schemas.microsoft.com/office/drawing/2014/main" id="{6F67516C-635C-4303-979A-4194D4F9220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Contagem indica volume observado daquela relação.</a:t>
            </a:r>
          </a:p>
        </p:txBody>
      </p:sp>
      <p:sp>
        <p:nvSpPr>
          <p:cNvPr id="11" name="CaixaDeTexto 10">
            <a:extLst>
              <a:ext uri="{FF2B5EF4-FFF2-40B4-BE49-F238E27FC236}">
                <a16:creationId xmlns:a16="http://schemas.microsoft.com/office/drawing/2014/main" id="{7B0EDBEE-79A9-4DE2-B0D1-5997C033F0C8}"/>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HTTPS e descoberta de nomes coexistem com o ensaio industrial.</a:t>
            </a:r>
          </a:p>
        </p:txBody>
      </p:sp>
      <p:sp>
        <p:nvSpPr>
          <p:cNvPr id="12" name="CaixaDeTexto 11">
            <a:extLst>
              <a:ext uri="{FF2B5EF4-FFF2-40B4-BE49-F238E27FC236}">
                <a16:creationId xmlns:a16="http://schemas.microsoft.com/office/drawing/2014/main" id="{DFF1FE27-F430-40D9-8DE8-2E75256FD55D}"/>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26 de 34. Execução em 02/10/2026.</a:t>
            </a:r>
          </a:p>
        </p:txBody>
      </p:sp>
      <p:pic>
        <p:nvPicPr>
          <p:cNvPr id="13" name="Imagem 12">
            <a:extLst>
              <a:ext uri="{FF2B5EF4-FFF2-40B4-BE49-F238E27FC236}">
                <a16:creationId xmlns:a16="http://schemas.microsoft.com/office/drawing/2014/main" id="{8A0C1128-0F57-4319-9F18-3DAE4E3084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59280"/>
            <a:ext cx="10820400" cy="2885440"/>
          </a:xfrm>
          <a:prstGeom prst="rect">
            <a:avLst/>
          </a:prstGeom>
        </p:spPr>
      </p:pic>
    </p:spTree>
    <p:extLst>
      <p:ext uri="{BB962C8B-B14F-4D97-AF65-F5344CB8AC3E}">
        <p14:creationId xmlns:p14="http://schemas.microsoft.com/office/powerpoint/2010/main" val="1113613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453F6B2-89FC-48A3-9AC9-02FD07CED42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308444D2-6F13-4C61-9558-BFEB98A2537F}"/>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Mapa completo: confiança e notas para auditoria</a:t>
            </a:r>
          </a:p>
        </p:txBody>
      </p:sp>
      <p:sp>
        <p:nvSpPr>
          <p:cNvPr id="4" name="CaixaDeTexto 3">
            <a:extLst>
              <a:ext uri="{FF2B5EF4-FFF2-40B4-BE49-F238E27FC236}">
                <a16:creationId xmlns:a16="http://schemas.microsoft.com/office/drawing/2014/main" id="{E4D76AB0-2EFE-475B-9588-30320E35E59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A9496A50-CE3C-4D17-B262-04AC2CA9AA2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80</a:t>
            </a:r>
          </a:p>
        </p:txBody>
      </p:sp>
      <p:sp>
        <p:nvSpPr>
          <p:cNvPr id="8" name="CaixaDeTexto 7">
            <a:extLst>
              <a:ext uri="{FF2B5EF4-FFF2-40B4-BE49-F238E27FC236}">
                <a16:creationId xmlns:a16="http://schemas.microsoft.com/office/drawing/2014/main" id="{BD978EFC-45A0-45D8-A39C-6283A05C0DE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Endpoint/UID/FC identifica a área sondada.</a:t>
            </a:r>
          </a:p>
        </p:txBody>
      </p:sp>
      <p:sp>
        <p:nvSpPr>
          <p:cNvPr id="9" name="CaixaDeTexto 8">
            <a:extLst>
              <a:ext uri="{FF2B5EF4-FFF2-40B4-BE49-F238E27FC236}">
                <a16:creationId xmlns:a16="http://schemas.microsoft.com/office/drawing/2014/main" id="{D12F964D-85E9-4F58-B960-CA805B6B812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Início e fim definem intervalo inclusivo aceito.</a:t>
            </a:r>
          </a:p>
        </p:txBody>
      </p:sp>
      <p:sp>
        <p:nvSpPr>
          <p:cNvPr id="10" name="CaixaDeTexto 9">
            <a:extLst>
              <a:ext uri="{FF2B5EF4-FFF2-40B4-BE49-F238E27FC236}">
                <a16:creationId xmlns:a16="http://schemas.microsoft.com/office/drawing/2014/main" id="{AE35765F-FFF5-41C2-A0E3-63C822E2B0B2}"/>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Modo ativo/client indica leitura, sem escrita.</a:t>
            </a:r>
          </a:p>
        </p:txBody>
      </p:sp>
      <p:sp>
        <p:nvSpPr>
          <p:cNvPr id="11" name="CaixaDeTexto 10">
            <a:extLst>
              <a:ext uri="{FF2B5EF4-FFF2-40B4-BE49-F238E27FC236}">
                <a16:creationId xmlns:a16="http://schemas.microsoft.com/office/drawing/2014/main" id="{4F3CE037-A7FD-4A9C-9409-D4756436132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Confiança e notas distinguem resposta válida de significado.</a:t>
            </a:r>
          </a:p>
        </p:txBody>
      </p:sp>
      <p:sp>
        <p:nvSpPr>
          <p:cNvPr id="12" name="CaixaDeTexto 11">
            <a:extLst>
              <a:ext uri="{FF2B5EF4-FFF2-40B4-BE49-F238E27FC236}">
                <a16:creationId xmlns:a16="http://schemas.microsoft.com/office/drawing/2014/main" id="{6F376F97-CDB0-40CE-A598-270E472F10FC}"/>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34 de 34. Execução em 02/10/2026.</a:t>
            </a:r>
          </a:p>
        </p:txBody>
      </p:sp>
      <p:pic>
        <p:nvPicPr>
          <p:cNvPr id="13" name="Imagem 12">
            <a:extLst>
              <a:ext uri="{FF2B5EF4-FFF2-40B4-BE49-F238E27FC236}">
                <a16:creationId xmlns:a16="http://schemas.microsoft.com/office/drawing/2014/main" id="{9773E06B-EE9D-4CAF-AA93-9ABDA8E6F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775" y="1765300"/>
            <a:ext cx="10430450" cy="3073400"/>
          </a:xfrm>
          <a:prstGeom prst="rect">
            <a:avLst/>
          </a:prstGeom>
        </p:spPr>
      </p:pic>
    </p:spTree>
    <p:extLst>
      <p:ext uri="{BB962C8B-B14F-4D97-AF65-F5344CB8AC3E}">
        <p14:creationId xmlns:p14="http://schemas.microsoft.com/office/powerpoint/2010/main" val="33211831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522B6A8-DCAD-4605-B37F-B1DA896AA6B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3B511BD4-D5AD-4E0F-940D-4090B47339BC}"/>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Contexto: operações ativas e escolha da interface</a:t>
            </a:r>
          </a:p>
        </p:txBody>
      </p:sp>
      <p:sp>
        <p:nvSpPr>
          <p:cNvPr id="4" name="CaixaDeTexto 3">
            <a:extLst>
              <a:ext uri="{FF2B5EF4-FFF2-40B4-BE49-F238E27FC236}">
                <a16:creationId xmlns:a16="http://schemas.microsoft.com/office/drawing/2014/main" id="{3C2AA1A1-3BEC-4468-8E27-72A38A437D4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16CCBDC7-9E05-4B14-8627-287D01853BF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81</a:t>
            </a:r>
          </a:p>
        </p:txBody>
      </p:sp>
      <p:sp>
        <p:nvSpPr>
          <p:cNvPr id="8" name="CaixaDeTexto 7">
            <a:extLst>
              <a:ext uri="{FF2B5EF4-FFF2-40B4-BE49-F238E27FC236}">
                <a16:creationId xmlns:a16="http://schemas.microsoft.com/office/drawing/2014/main" id="{4304BEBB-2BAD-42A9-B621-F464BB34FA36}"/>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Servidor local já escutava em 0.0.0.0:1502.</a:t>
            </a:r>
          </a:p>
        </p:txBody>
      </p:sp>
      <p:sp>
        <p:nvSpPr>
          <p:cNvPr id="9" name="CaixaDeTexto 8">
            <a:extLst>
              <a:ext uri="{FF2B5EF4-FFF2-40B4-BE49-F238E27FC236}">
                <a16:creationId xmlns:a16="http://schemas.microsoft.com/office/drawing/2014/main" id="{96CBAE16-B198-40F4-B7A5-86F77AA2DFA0}"/>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Realtek venceu a seleção por maior tráfego em 2 s.</a:t>
            </a:r>
          </a:p>
        </p:txBody>
      </p:sp>
      <p:sp>
        <p:nvSpPr>
          <p:cNvPr id="10" name="CaixaDeTexto 9">
            <a:extLst>
              <a:ext uri="{FF2B5EF4-FFF2-40B4-BE49-F238E27FC236}">
                <a16:creationId xmlns:a16="http://schemas.microsoft.com/office/drawing/2014/main" id="{51D78C66-D44E-4931-BD0F-5E50F043609C}"/>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Maior tráfego não garante visibilidade do alvo loopback.</a:t>
            </a:r>
          </a:p>
        </p:txBody>
      </p:sp>
      <p:sp>
        <p:nvSpPr>
          <p:cNvPr id="11" name="CaixaDeTexto 10">
            <a:extLst>
              <a:ext uri="{FF2B5EF4-FFF2-40B4-BE49-F238E27FC236}">
                <a16:creationId xmlns:a16="http://schemas.microsoft.com/office/drawing/2014/main" id="{84128082-A083-47DC-A9E1-77453C94B477}"/>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escopo identifica serviços e carga já existentes.</a:t>
            </a:r>
          </a:p>
        </p:txBody>
      </p:sp>
      <p:sp>
        <p:nvSpPr>
          <p:cNvPr id="12" name="CaixaDeTexto 11">
            <a:extLst>
              <a:ext uri="{FF2B5EF4-FFF2-40B4-BE49-F238E27FC236}">
                <a16:creationId xmlns:a16="http://schemas.microsoft.com/office/drawing/2014/main" id="{C249C5F3-0071-4664-AAB2-69BD453E74F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9 de 34. Execução em 02/10/2026.</a:t>
            </a:r>
          </a:p>
        </p:txBody>
      </p:sp>
      <p:pic>
        <p:nvPicPr>
          <p:cNvPr id="13" name="Imagem 12">
            <a:extLst>
              <a:ext uri="{FF2B5EF4-FFF2-40B4-BE49-F238E27FC236}">
                <a16:creationId xmlns:a16="http://schemas.microsoft.com/office/drawing/2014/main" id="{93371375-7162-48EB-B741-A4586BC09F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330091"/>
            <a:ext cx="10820400" cy="1943818"/>
          </a:xfrm>
          <a:prstGeom prst="rect">
            <a:avLst/>
          </a:prstGeom>
        </p:spPr>
      </p:pic>
    </p:spTree>
    <p:extLst>
      <p:ext uri="{BB962C8B-B14F-4D97-AF65-F5344CB8AC3E}">
        <p14:creationId xmlns:p14="http://schemas.microsoft.com/office/powerpoint/2010/main" val="12804317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18044777-5C8F-4542-A75B-8C73432EADC7}"/>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4C8076B0-502B-4FD5-88B5-1676925EA6B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ARP e interfaces: vizinho conhecido versus serviço</a:t>
            </a:r>
          </a:p>
        </p:txBody>
      </p:sp>
      <p:sp>
        <p:nvSpPr>
          <p:cNvPr id="4" name="CaixaDeTexto 3">
            <a:extLst>
              <a:ext uri="{FF2B5EF4-FFF2-40B4-BE49-F238E27FC236}">
                <a16:creationId xmlns:a16="http://schemas.microsoft.com/office/drawing/2014/main" id="{D04D9F84-02F8-422A-9670-E4730E3D9D57}"/>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F3753385-77E3-48AE-A2DB-B8D99BF697EE}"/>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82</a:t>
            </a:r>
          </a:p>
        </p:txBody>
      </p:sp>
      <p:sp>
        <p:nvSpPr>
          <p:cNvPr id="8" name="CaixaDeTexto 7">
            <a:extLst>
              <a:ext uri="{FF2B5EF4-FFF2-40B4-BE49-F238E27FC236}">
                <a16:creationId xmlns:a16="http://schemas.microsoft.com/office/drawing/2014/main" id="{B68BAD7E-179D-4605-A281-9B79DA657674}"/>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ARP relaciona IP e MAC no segmento local.</a:t>
            </a:r>
          </a:p>
        </p:txBody>
      </p:sp>
      <p:sp>
        <p:nvSpPr>
          <p:cNvPr id="9" name="CaixaDeTexto 8">
            <a:extLst>
              <a:ext uri="{FF2B5EF4-FFF2-40B4-BE49-F238E27FC236}">
                <a16:creationId xmlns:a16="http://schemas.microsoft.com/office/drawing/2014/main" id="{015377F1-A12D-4F07-81EB-3BEA85168C2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Entrada dinâmica registra resolução, sem confirmar Modbus.</a:t>
            </a:r>
          </a:p>
        </p:txBody>
      </p:sp>
      <p:sp>
        <p:nvSpPr>
          <p:cNvPr id="10" name="CaixaDeTexto 9">
            <a:extLst>
              <a:ext uri="{FF2B5EF4-FFF2-40B4-BE49-F238E27FC236}">
                <a16:creationId xmlns:a16="http://schemas.microsoft.com/office/drawing/2014/main" id="{CE7D5BE0-2B19-4187-82C0-6289B09A06E1}"/>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Loopback não utiliza ARP e recebe Não aplicável.</a:t>
            </a:r>
          </a:p>
        </p:txBody>
      </p:sp>
      <p:sp>
        <p:nvSpPr>
          <p:cNvPr id="11" name="CaixaDeTexto 10">
            <a:extLst>
              <a:ext uri="{FF2B5EF4-FFF2-40B4-BE49-F238E27FC236}">
                <a16:creationId xmlns:a16="http://schemas.microsoft.com/office/drawing/2014/main" id="{514C2BF0-73AF-4428-BF6F-C6505551E64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Rotas e interface precisam corresponder à VLAN investigada.</a:t>
            </a:r>
          </a:p>
        </p:txBody>
      </p:sp>
      <p:sp>
        <p:nvSpPr>
          <p:cNvPr id="12" name="CaixaDeTexto 11">
            <a:extLst>
              <a:ext uri="{FF2B5EF4-FFF2-40B4-BE49-F238E27FC236}">
                <a16:creationId xmlns:a16="http://schemas.microsoft.com/office/drawing/2014/main" id="{3B4E59F9-1876-47B0-9445-C055DC21E84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11 de 34. Execução em 02/10/2026.</a:t>
            </a:r>
          </a:p>
        </p:txBody>
      </p:sp>
      <p:pic>
        <p:nvPicPr>
          <p:cNvPr id="13" name="Imagem 12">
            <a:extLst>
              <a:ext uri="{FF2B5EF4-FFF2-40B4-BE49-F238E27FC236}">
                <a16:creationId xmlns:a16="http://schemas.microsoft.com/office/drawing/2014/main" id="{BE458089-D7FC-4623-9F5B-C3165C3FA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3377" y="1765300"/>
            <a:ext cx="9645245" cy="3073400"/>
          </a:xfrm>
          <a:prstGeom prst="rect">
            <a:avLst/>
          </a:prstGeom>
        </p:spPr>
      </p:pic>
    </p:spTree>
    <p:extLst>
      <p:ext uri="{BB962C8B-B14F-4D97-AF65-F5344CB8AC3E}">
        <p14:creationId xmlns:p14="http://schemas.microsoft.com/office/powerpoint/2010/main" val="24308822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60855DD1-0E7D-4CC6-AA79-289C100D106F}"/>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00DEE02D-C7E0-433D-8B0D-1156D471E887}"/>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Varredura de hosts: candidatos e limites de alcance</a:t>
            </a:r>
          </a:p>
        </p:txBody>
      </p:sp>
      <p:sp>
        <p:nvSpPr>
          <p:cNvPr id="4" name="CaixaDeTexto 3">
            <a:extLst>
              <a:ext uri="{FF2B5EF4-FFF2-40B4-BE49-F238E27FC236}">
                <a16:creationId xmlns:a16="http://schemas.microsoft.com/office/drawing/2014/main" id="{AEB479BA-4BCC-4323-9A95-44B2BF38D63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E7F775E2-AC75-4B4E-95FE-3466287355B5}"/>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83</a:t>
            </a:r>
          </a:p>
        </p:txBody>
      </p:sp>
      <p:sp>
        <p:nvSpPr>
          <p:cNvPr id="8" name="CaixaDeTexto 7">
            <a:extLst>
              <a:ext uri="{FF2B5EF4-FFF2-40B4-BE49-F238E27FC236}">
                <a16:creationId xmlns:a16="http://schemas.microsoft.com/office/drawing/2014/main" id="{92C26EEA-02E9-49E6-9ED4-94506D728B1A}"/>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34/255 candidatos responderam no CIDR avaliado.</a:t>
            </a:r>
          </a:p>
        </p:txBody>
      </p:sp>
      <p:sp>
        <p:nvSpPr>
          <p:cNvPr id="9" name="CaixaDeTexto 8">
            <a:extLst>
              <a:ext uri="{FF2B5EF4-FFF2-40B4-BE49-F238E27FC236}">
                <a16:creationId xmlns:a16="http://schemas.microsoft.com/office/drawing/2014/main" id="{154292F4-AD17-4C89-8292-F771441B541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Cinco endpoints tinham portas TCP abertas.</a:t>
            </a:r>
          </a:p>
        </p:txBody>
      </p:sp>
      <p:sp>
        <p:nvSpPr>
          <p:cNvPr id="10" name="CaixaDeTexto 9">
            <a:extLst>
              <a:ext uri="{FF2B5EF4-FFF2-40B4-BE49-F238E27FC236}">
                <a16:creationId xmlns:a16="http://schemas.microsoft.com/office/drawing/2014/main" id="{87A4A182-6B93-426F-86D8-7E4AAB099058}"/>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procedimento levou 210,2 segundos.</a:t>
            </a:r>
          </a:p>
        </p:txBody>
      </p:sp>
      <p:sp>
        <p:nvSpPr>
          <p:cNvPr id="11" name="CaixaDeTexto 10">
            <a:extLst>
              <a:ext uri="{FF2B5EF4-FFF2-40B4-BE49-F238E27FC236}">
                <a16:creationId xmlns:a16="http://schemas.microsoft.com/office/drawing/2014/main" id="{DC60E902-38FB-47AB-A28C-1D30147EF24C}"/>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Silêncio não distingue host ausente de filtragem.</a:t>
            </a:r>
          </a:p>
        </p:txBody>
      </p:sp>
      <p:sp>
        <p:nvSpPr>
          <p:cNvPr id="12" name="CaixaDeTexto 11">
            <a:extLst>
              <a:ext uri="{FF2B5EF4-FFF2-40B4-BE49-F238E27FC236}">
                <a16:creationId xmlns:a16="http://schemas.microsoft.com/office/drawing/2014/main" id="{AA358B20-677E-4A7A-86D1-32BE8132DAB4}"/>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11 de 34. Execução em 02/10/2026.</a:t>
            </a:r>
          </a:p>
        </p:txBody>
      </p:sp>
      <p:pic>
        <p:nvPicPr>
          <p:cNvPr id="13" name="Imagem 12">
            <a:extLst>
              <a:ext uri="{FF2B5EF4-FFF2-40B4-BE49-F238E27FC236}">
                <a16:creationId xmlns:a16="http://schemas.microsoft.com/office/drawing/2014/main" id="{3430D2F1-4518-440F-B28B-A4B26ABD91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569627"/>
            <a:ext cx="10820400" cy="1464746"/>
          </a:xfrm>
          <a:prstGeom prst="rect">
            <a:avLst/>
          </a:prstGeom>
        </p:spPr>
      </p:pic>
    </p:spTree>
    <p:extLst>
      <p:ext uri="{BB962C8B-B14F-4D97-AF65-F5344CB8AC3E}">
        <p14:creationId xmlns:p14="http://schemas.microsoft.com/office/powerpoint/2010/main" val="5194752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4A96DBA-E598-42B7-B331-80181E8D108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9F11822D-1391-4649-97C6-A4E107F61E42}"/>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Conclusão: agregação e validade do resultado</a:t>
            </a:r>
          </a:p>
        </p:txBody>
      </p:sp>
      <p:sp>
        <p:nvSpPr>
          <p:cNvPr id="4" name="CaixaDeTexto 3">
            <a:extLst>
              <a:ext uri="{FF2B5EF4-FFF2-40B4-BE49-F238E27FC236}">
                <a16:creationId xmlns:a16="http://schemas.microsoft.com/office/drawing/2014/main" id="{5BD76DEA-EF59-4A17-900C-C9A658BA9E0C}"/>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5C67E376-F368-4824-AB0C-CB73CCC3B11B}"/>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84</a:t>
            </a:r>
          </a:p>
        </p:txBody>
      </p:sp>
      <p:sp>
        <p:nvSpPr>
          <p:cNvPr id="8" name="CaixaDeTexto 7">
            <a:extLst>
              <a:ext uri="{FF2B5EF4-FFF2-40B4-BE49-F238E27FC236}">
                <a16:creationId xmlns:a16="http://schemas.microsoft.com/office/drawing/2014/main" id="{DAA0A243-55E1-46CE-B66E-670EA196AE0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0 falhas e 2 atenções motivam a conclusão Atenção.</a:t>
            </a:r>
          </a:p>
        </p:txBody>
      </p:sp>
      <p:sp>
        <p:nvSpPr>
          <p:cNvPr id="9" name="CaixaDeTexto 8">
            <a:extLst>
              <a:ext uri="{FF2B5EF4-FFF2-40B4-BE49-F238E27FC236}">
                <a16:creationId xmlns:a16="http://schemas.microsoft.com/office/drawing/2014/main" id="{F51C5D02-CEAA-42D1-8805-DC5ADCAE168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Uma etapa Não aplicável não representa defeito.</a:t>
            </a:r>
          </a:p>
        </p:txBody>
      </p:sp>
      <p:sp>
        <p:nvSpPr>
          <p:cNvPr id="10" name="CaixaDeTexto 9">
            <a:extLst>
              <a:ext uri="{FF2B5EF4-FFF2-40B4-BE49-F238E27FC236}">
                <a16:creationId xmlns:a16="http://schemas.microsoft.com/office/drawing/2014/main" id="{545A88C4-F0E7-413A-975A-2778BF255499}"/>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conclusão vale para alvos, blocos e janelas exercitados.</a:t>
            </a:r>
          </a:p>
        </p:txBody>
      </p:sp>
      <p:sp>
        <p:nvSpPr>
          <p:cNvPr id="11" name="CaixaDeTexto 10">
            <a:extLst>
              <a:ext uri="{FF2B5EF4-FFF2-40B4-BE49-F238E27FC236}">
                <a16:creationId xmlns:a16="http://schemas.microsoft.com/office/drawing/2014/main" id="{9CFEE71C-9AA1-4A32-8157-1095CF25B78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Nova execução com maior cobertura pode mudar o diagnóstico.</a:t>
            </a:r>
          </a:p>
        </p:txBody>
      </p:sp>
      <p:sp>
        <p:nvSpPr>
          <p:cNvPr id="12" name="CaixaDeTexto 11">
            <a:extLst>
              <a:ext uri="{FF2B5EF4-FFF2-40B4-BE49-F238E27FC236}">
                <a16:creationId xmlns:a16="http://schemas.microsoft.com/office/drawing/2014/main" id="{267D4AAA-CFD6-4461-B3C8-1672ADCCE769}"/>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15 de 34. Execução em 02/10/2026.</a:t>
            </a:r>
          </a:p>
        </p:txBody>
      </p:sp>
      <p:pic>
        <p:nvPicPr>
          <p:cNvPr id="13" name="Imagem 12">
            <a:extLst>
              <a:ext uri="{FF2B5EF4-FFF2-40B4-BE49-F238E27FC236}">
                <a16:creationId xmlns:a16="http://schemas.microsoft.com/office/drawing/2014/main" id="{48A98E35-604B-45CE-9B6C-D96F8634D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316325"/>
            <a:ext cx="10820400" cy="1971351"/>
          </a:xfrm>
          <a:prstGeom prst="rect">
            <a:avLst/>
          </a:prstGeom>
        </p:spPr>
      </p:pic>
    </p:spTree>
    <p:extLst>
      <p:ext uri="{BB962C8B-B14F-4D97-AF65-F5344CB8AC3E}">
        <p14:creationId xmlns:p14="http://schemas.microsoft.com/office/powerpoint/2010/main" val="26726085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0CA73DC7-C9DA-41AA-AFD6-9EB7EE6BF0C6}"/>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Relatório real: leitura guiada</a:t>
            </a:r>
          </a:p>
        </p:txBody>
      </p:sp>
      <p:sp>
        <p:nvSpPr>
          <p:cNvPr id="3" name="CaixaDeTexto 2">
            <a:extLst>
              <a:ext uri="{FF2B5EF4-FFF2-40B4-BE49-F238E27FC236}">
                <a16:creationId xmlns:a16="http://schemas.microsoft.com/office/drawing/2014/main" id="{5529EF62-DFB5-4DAA-B3F4-1DA9CF1B2EC9}"/>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Diagnóstico deste exemplo: síntese e próximos ensaios</a:t>
            </a:r>
          </a:p>
        </p:txBody>
      </p:sp>
      <p:sp>
        <p:nvSpPr>
          <p:cNvPr id="4" name="CaixaDeTexto 3">
            <a:extLst>
              <a:ext uri="{FF2B5EF4-FFF2-40B4-BE49-F238E27FC236}">
                <a16:creationId xmlns:a16="http://schemas.microsoft.com/office/drawing/2014/main" id="{1D282ED3-D8DA-4537-8C2D-AAA03CE0BC59}"/>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A6294B58-B0BA-41EC-9A17-F6DDD9A69A59}"/>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85</a:t>
            </a:r>
          </a:p>
        </p:txBody>
      </p:sp>
      <p:sp>
        <p:nvSpPr>
          <p:cNvPr id="8" name="CaixaDeTexto 7">
            <a:extLst>
              <a:ext uri="{FF2B5EF4-FFF2-40B4-BE49-F238E27FC236}">
                <a16:creationId xmlns:a16="http://schemas.microsoft.com/office/drawing/2014/main" id="{841C0E82-F4FA-46CB-BD4D-028DDCAF4121}"/>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O bloco local passou. Os alertas TCP não comprovam falha Modbus.</a:t>
            </a:r>
          </a:p>
        </p:txBody>
      </p:sp>
      <p:sp>
        <p:nvSpPr>
          <p:cNvPr id="9" name="CaixaDeTexto 8">
            <a:extLst>
              <a:ext uri="{FF2B5EF4-FFF2-40B4-BE49-F238E27FC236}">
                <a16:creationId xmlns:a16="http://schemas.microsoft.com/office/drawing/2014/main" id="{1DF591F2-A371-409B-8622-C59CA581C368}"/>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 NIC Ethernet não captura o alvo loopback diretamente.</a:t>
            </a:r>
          </a:p>
        </p:txBody>
      </p:sp>
      <p:sp>
        <p:nvSpPr>
          <p:cNvPr id="10" name="CaixaDeTexto 9">
            <a:extLst>
              <a:ext uri="{FF2B5EF4-FFF2-40B4-BE49-F238E27FC236}">
                <a16:creationId xmlns:a16="http://schemas.microsoft.com/office/drawing/2014/main" id="{8602C805-B947-4E37-B20D-7873801DC7CA}"/>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Incluir .200 e .202 como alvos permite validar seus blocos.</a:t>
            </a:r>
          </a:p>
        </p:txBody>
      </p:sp>
      <p:sp>
        <p:nvSpPr>
          <p:cNvPr id="11" name="CaixaDeTexto 10">
            <a:extLst>
              <a:ext uri="{FF2B5EF4-FFF2-40B4-BE49-F238E27FC236}">
                <a16:creationId xmlns:a16="http://schemas.microsoft.com/office/drawing/2014/main" id="{050D9EC7-54F1-46A1-B158-F79B32F6F8F5}"/>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Investigar .34 e a identidade dos MACs conforme autorização.</a:t>
            </a:r>
          </a:p>
        </p:txBody>
      </p:sp>
      <p:sp>
        <p:nvSpPr>
          <p:cNvPr id="12" name="CaixaDeTexto 11">
            <a:extLst>
              <a:ext uri="{FF2B5EF4-FFF2-40B4-BE49-F238E27FC236}">
                <a16:creationId xmlns:a16="http://schemas.microsoft.com/office/drawing/2014/main" id="{40D3BA33-090D-40A5-B47A-A57F8D434875}"/>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Recorte do relatório fornecido. Página 2 de 34. Execução em 02/10/2026.</a:t>
            </a:r>
          </a:p>
        </p:txBody>
      </p:sp>
      <p:pic>
        <p:nvPicPr>
          <p:cNvPr id="13" name="Imagem 12">
            <a:extLst>
              <a:ext uri="{FF2B5EF4-FFF2-40B4-BE49-F238E27FC236}">
                <a16:creationId xmlns:a16="http://schemas.microsoft.com/office/drawing/2014/main" id="{38986086-83D1-4B3F-B2C5-592E4B5BFC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175907"/>
            <a:ext cx="10820400" cy="2252185"/>
          </a:xfrm>
          <a:prstGeom prst="rect">
            <a:avLst/>
          </a:prstGeom>
        </p:spPr>
      </p:pic>
    </p:spTree>
    <p:extLst>
      <p:ext uri="{BB962C8B-B14F-4D97-AF65-F5344CB8AC3E}">
        <p14:creationId xmlns:p14="http://schemas.microsoft.com/office/powerpoint/2010/main" val="12952933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6701CF5-305B-4246-B438-964E1FAA27EA}"/>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Recursos de apoio</a:t>
            </a:r>
          </a:p>
        </p:txBody>
      </p:sp>
      <p:sp>
        <p:nvSpPr>
          <p:cNvPr id="3" name="CaixaDeTexto 2">
            <a:extLst>
              <a:ext uri="{FF2B5EF4-FFF2-40B4-BE49-F238E27FC236}">
                <a16:creationId xmlns:a16="http://schemas.microsoft.com/office/drawing/2014/main" id="{10C79406-6CB6-4BDF-A1DE-722A2CB94588}"/>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Salvar configuração: repetir a mesma bancada</a:t>
            </a:r>
          </a:p>
        </p:txBody>
      </p:sp>
      <p:sp>
        <p:nvSpPr>
          <p:cNvPr id="4" name="CaixaDeTexto 3">
            <a:extLst>
              <a:ext uri="{FF2B5EF4-FFF2-40B4-BE49-F238E27FC236}">
                <a16:creationId xmlns:a16="http://schemas.microsoft.com/office/drawing/2014/main" id="{278F173A-D714-486D-936C-0A453F421013}"/>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E31F1F3D-CAB2-41B8-B40F-4F0FE879C847}"/>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86</a:t>
            </a:r>
          </a:p>
        </p:txBody>
      </p:sp>
      <p:pic>
        <p:nvPicPr>
          <p:cNvPr id="7" name="Imagem 6">
            <a:extLst>
              <a:ext uri="{FF2B5EF4-FFF2-40B4-BE49-F238E27FC236}">
                <a16:creationId xmlns:a16="http://schemas.microsoft.com/office/drawing/2014/main" id="{F57C2090-DCDF-44B4-AFC9-E0D18C2FB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858" y="1765300"/>
            <a:ext cx="9698285" cy="3073400"/>
          </a:xfrm>
          <a:prstGeom prst="rect">
            <a:avLst/>
          </a:prstGeom>
        </p:spPr>
      </p:pic>
      <p:sp>
        <p:nvSpPr>
          <p:cNvPr id="8" name="CaixaDeTexto 7">
            <a:extLst>
              <a:ext uri="{FF2B5EF4-FFF2-40B4-BE49-F238E27FC236}">
                <a16:creationId xmlns:a16="http://schemas.microsoft.com/office/drawing/2014/main" id="{9A75C458-07C7-458E-A513-B624F7BBED98}"/>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Salvar .ffd: preserva servidor, mapas e sessões de clientes.</a:t>
            </a:r>
          </a:p>
        </p:txBody>
      </p:sp>
      <p:sp>
        <p:nvSpPr>
          <p:cNvPr id="9" name="CaixaDeTexto 8">
            <a:extLst>
              <a:ext uri="{FF2B5EF4-FFF2-40B4-BE49-F238E27FC236}">
                <a16:creationId xmlns:a16="http://schemas.microsoft.com/office/drawing/2014/main" id="{D7B2C9AF-A3DF-4486-80C7-9690EBE9B70C}"/>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Abrir .ffd: recupera a configuração sem recriar cada alvo.</a:t>
            </a:r>
          </a:p>
        </p:txBody>
      </p:sp>
      <p:sp>
        <p:nvSpPr>
          <p:cNvPr id="10" name="CaixaDeTexto 9">
            <a:extLst>
              <a:ext uri="{FF2B5EF4-FFF2-40B4-BE49-F238E27FC236}">
                <a16:creationId xmlns:a16="http://schemas.microsoft.com/office/drawing/2014/main" id="{13FDD198-73F0-4020-91FA-8F3A368E48F6}"/>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Estado em execução: exige iniciar os serviços novamente.</a:t>
            </a:r>
          </a:p>
        </p:txBody>
      </p:sp>
      <p:sp>
        <p:nvSpPr>
          <p:cNvPr id="11" name="CaixaDeTexto 10">
            <a:extLst>
              <a:ext uri="{FF2B5EF4-FFF2-40B4-BE49-F238E27FC236}">
                <a16:creationId xmlns:a16="http://schemas.microsoft.com/office/drawing/2014/main" id="{A1FD4A67-CCD5-431B-BE41-1EA9EB602EEB}"/>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Relatórios e capturas: evidências do ensaio, diferentes da configuração.</a:t>
            </a:r>
          </a:p>
        </p:txBody>
      </p:sp>
      <p:sp>
        <p:nvSpPr>
          <p:cNvPr id="12" name="CaixaDeTexto 11">
            <a:extLst>
              <a:ext uri="{FF2B5EF4-FFF2-40B4-BE49-F238E27FC236}">
                <a16:creationId xmlns:a16="http://schemas.microsoft.com/office/drawing/2014/main" id="{9A94ADBC-5F7D-4B14-BE01-B2DA96BF12C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32841056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F9117D8-1DC8-43E5-8410-547234ED2932}"/>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07 · Recursos de apoio</a:t>
            </a:r>
          </a:p>
        </p:txBody>
      </p:sp>
      <p:sp>
        <p:nvSpPr>
          <p:cNvPr id="3" name="CaixaDeTexto 2">
            <a:extLst>
              <a:ext uri="{FF2B5EF4-FFF2-40B4-BE49-F238E27FC236}">
                <a16:creationId xmlns:a16="http://schemas.microsoft.com/office/drawing/2014/main" id="{3C8C2356-E6D0-41D3-870E-8BA1B62F78F0}"/>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Ajuda e F1: consulta durante a operação</a:t>
            </a:r>
          </a:p>
        </p:txBody>
      </p:sp>
      <p:sp>
        <p:nvSpPr>
          <p:cNvPr id="4" name="CaixaDeTexto 3">
            <a:extLst>
              <a:ext uri="{FF2B5EF4-FFF2-40B4-BE49-F238E27FC236}">
                <a16:creationId xmlns:a16="http://schemas.microsoft.com/office/drawing/2014/main" id="{DA13B82D-F9B5-4F05-9F58-CF1B30258DDF}"/>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8AA871A8-2E16-47A0-AA36-7565667BE1C0}"/>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87</a:t>
            </a:r>
          </a:p>
        </p:txBody>
      </p:sp>
      <p:pic>
        <p:nvPicPr>
          <p:cNvPr id="7" name="Imagem 6">
            <a:extLst>
              <a:ext uri="{FF2B5EF4-FFF2-40B4-BE49-F238E27FC236}">
                <a16:creationId xmlns:a16="http://schemas.microsoft.com/office/drawing/2014/main" id="{67FAEC11-9CFB-4886-AA64-B916B4B11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2995" y="1765300"/>
            <a:ext cx="4706010" cy="3073400"/>
          </a:xfrm>
          <a:prstGeom prst="rect">
            <a:avLst/>
          </a:prstGeom>
        </p:spPr>
      </p:pic>
      <p:sp>
        <p:nvSpPr>
          <p:cNvPr id="8" name="CaixaDeTexto 7">
            <a:extLst>
              <a:ext uri="{FF2B5EF4-FFF2-40B4-BE49-F238E27FC236}">
                <a16:creationId xmlns:a16="http://schemas.microsoft.com/office/drawing/2014/main" id="{A6313A75-73B8-4698-8057-EC61AABB5240}"/>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Tópicos e subtópicos: organizam operação, configuração e diagnóstico.</a:t>
            </a:r>
          </a:p>
        </p:txBody>
      </p:sp>
      <p:sp>
        <p:nvSpPr>
          <p:cNvPr id="9" name="CaixaDeTexto 8">
            <a:extLst>
              <a:ext uri="{FF2B5EF4-FFF2-40B4-BE49-F238E27FC236}">
                <a16:creationId xmlns:a16="http://schemas.microsoft.com/office/drawing/2014/main" id="{9B41D322-103F-4D4D-B08F-72F44B13C42D}"/>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Pesquisa: localiza termos em títulos e conteúdo.</a:t>
            </a:r>
          </a:p>
        </p:txBody>
      </p:sp>
      <p:sp>
        <p:nvSpPr>
          <p:cNvPr id="10" name="CaixaDeTexto 9">
            <a:extLst>
              <a:ext uri="{FF2B5EF4-FFF2-40B4-BE49-F238E27FC236}">
                <a16:creationId xmlns:a16="http://schemas.microsoft.com/office/drawing/2014/main" id="{612AEBD7-F619-429C-8117-04B7162937E5}"/>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F1: abre a ajuda contextual quando houver tópico associado.</a:t>
            </a:r>
          </a:p>
        </p:txBody>
      </p:sp>
      <p:sp>
        <p:nvSpPr>
          <p:cNvPr id="11" name="CaixaDeTexto 10">
            <a:extLst>
              <a:ext uri="{FF2B5EF4-FFF2-40B4-BE49-F238E27FC236}">
                <a16:creationId xmlns:a16="http://schemas.microsoft.com/office/drawing/2014/main" id="{0377E04E-946F-4CF0-AE06-ED94588FBDF3}"/>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Referências de campos: complementam os exemplos do treinamento.</a:t>
            </a:r>
          </a:p>
        </p:txBody>
      </p:sp>
      <p:sp>
        <p:nvSpPr>
          <p:cNvPr id="12" name="CaixaDeTexto 11">
            <a:extLst>
              <a:ext uri="{FF2B5EF4-FFF2-40B4-BE49-F238E27FC236}">
                <a16:creationId xmlns:a16="http://schemas.microsoft.com/office/drawing/2014/main" id="{18465BBE-BBD3-4859-B6DD-DF504F882466}"/>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23448230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4A637E65-EC10-4A5D-B448-D79AFE4F335E}"/>
              </a:ext>
            </a:extLst>
          </p:cNvPr>
          <p:cNvSpPr txBox="1"/>
          <p:nvPr/>
        </p:nvSpPr>
        <p:spPr>
          <a:xfrm>
            <a:off x="685800" y="279399"/>
            <a:ext cx="10541000" cy="304800"/>
          </a:xfrm>
          <a:prstGeom prst="rect">
            <a:avLst/>
          </a:prstGeom>
          <a:noFill/>
        </p:spPr>
        <p:txBody>
          <a:bodyPr vert="horz" wrap="square" lIns="0" tIns="0" rIns="0" bIns="0" rtlCol="0">
            <a:noAutofit/>
          </a:bodyPr>
          <a:lstStyle/>
          <a:p>
            <a:pPr>
              <a:spcAft>
                <a:spcPts val="400"/>
              </a:spcAft>
            </a:pPr>
            <a:r>
              <a:rPr lang="pt-BR" sz="1300" b="1">
                <a:solidFill>
                  <a:srgbClr val="087E8B"/>
                </a:solidFill>
                <a:latin typeface="Segoe UI" panose="020B0502040204020203" pitchFamily="34" charset="0"/>
              </a:rPr>
              <a:t>08 · Demonstração final</a:t>
            </a:r>
          </a:p>
        </p:txBody>
      </p:sp>
      <p:sp>
        <p:nvSpPr>
          <p:cNvPr id="3" name="CaixaDeTexto 2">
            <a:extLst>
              <a:ext uri="{FF2B5EF4-FFF2-40B4-BE49-F238E27FC236}">
                <a16:creationId xmlns:a16="http://schemas.microsoft.com/office/drawing/2014/main" id="{2E155A20-40D1-42F6-BE53-B221143ED5A1}"/>
              </a:ext>
            </a:extLst>
          </p:cNvPr>
          <p:cNvSpPr txBox="1"/>
          <p:nvPr/>
        </p:nvSpPr>
        <p:spPr>
          <a:xfrm>
            <a:off x="685800" y="723899"/>
            <a:ext cx="10820400" cy="965200"/>
          </a:xfrm>
          <a:prstGeom prst="rect">
            <a:avLst/>
          </a:prstGeom>
          <a:noFill/>
        </p:spPr>
        <p:txBody>
          <a:bodyPr vert="horz" wrap="square" lIns="0" tIns="0" rIns="0" bIns="0" rtlCol="0">
            <a:noAutofit/>
          </a:bodyPr>
          <a:lstStyle/>
          <a:p>
            <a:pPr>
              <a:spcAft>
                <a:spcPts val="400"/>
              </a:spcAft>
            </a:pPr>
            <a:r>
              <a:rPr lang="pt-BR" sz="3200" b="1">
                <a:solidFill>
                  <a:srgbClr val="18354B"/>
                </a:solidFill>
                <a:latin typeface="Segoe UI" panose="020B0502040204020203" pitchFamily="34" charset="0"/>
              </a:rPr>
              <a:t>Exercício guiado: uma leitura e seu diagnóstico</a:t>
            </a:r>
          </a:p>
        </p:txBody>
      </p:sp>
      <p:sp>
        <p:nvSpPr>
          <p:cNvPr id="4" name="CaixaDeTexto 3">
            <a:extLst>
              <a:ext uri="{FF2B5EF4-FFF2-40B4-BE49-F238E27FC236}">
                <a16:creationId xmlns:a16="http://schemas.microsoft.com/office/drawing/2014/main" id="{68F2EE4A-7098-437F-A30E-5BE569239875}"/>
              </a:ext>
            </a:extLst>
          </p:cNvPr>
          <p:cNvSpPr txBox="1"/>
          <p:nvPr/>
        </p:nvSpPr>
        <p:spPr>
          <a:xfrm>
            <a:off x="685800" y="6451600"/>
            <a:ext cx="9398000" cy="228600"/>
          </a:xfrm>
          <a:prstGeom prst="rect">
            <a:avLst/>
          </a:prstGeom>
          <a:noFill/>
        </p:spPr>
        <p:txBody>
          <a:bodyPr vert="horz" wrap="square" lIns="0" tIns="0" rIns="0" bIns="0" rtlCol="0">
            <a:noAutofit/>
          </a:bodyPr>
          <a:lstStyle/>
          <a:p>
            <a:pPr>
              <a:spcAft>
                <a:spcPts val="400"/>
              </a:spcAft>
            </a:pPr>
            <a:r>
              <a:rPr lang="pt-BR" sz="1100">
                <a:solidFill>
                  <a:srgbClr val="556C7D"/>
                </a:solidFill>
                <a:latin typeface="Segoe UI" panose="020B0502040204020203" pitchFamily="34" charset="0"/>
              </a:rPr>
              <a:t>Treinamento Modbus TCP</a:t>
            </a:r>
          </a:p>
        </p:txBody>
      </p:sp>
      <p:sp>
        <p:nvSpPr>
          <p:cNvPr id="5" name="CaixaDeTexto 4">
            <a:extLst>
              <a:ext uri="{FF2B5EF4-FFF2-40B4-BE49-F238E27FC236}">
                <a16:creationId xmlns:a16="http://schemas.microsoft.com/office/drawing/2014/main" id="{DEC14CD3-3C47-4650-8C26-954C213466DF}"/>
              </a:ext>
            </a:extLst>
          </p:cNvPr>
          <p:cNvSpPr txBox="1"/>
          <p:nvPr/>
        </p:nvSpPr>
        <p:spPr>
          <a:xfrm>
            <a:off x="11061700" y="6426200"/>
            <a:ext cx="444500" cy="254000"/>
          </a:xfrm>
          <a:prstGeom prst="rect">
            <a:avLst/>
          </a:prstGeom>
          <a:noFill/>
        </p:spPr>
        <p:txBody>
          <a:bodyPr vert="horz" wrap="square" lIns="0" tIns="0" rIns="0" bIns="0" rtlCol="0">
            <a:noAutofit/>
          </a:bodyPr>
          <a:lstStyle/>
          <a:p>
            <a:pPr>
              <a:spcAft>
                <a:spcPts val="400"/>
              </a:spcAft>
            </a:pPr>
            <a:r>
              <a:rPr lang="pt-BR" sz="1200">
                <a:solidFill>
                  <a:srgbClr val="556C7D"/>
                </a:solidFill>
                <a:latin typeface="Segoe UI" panose="020B0502040204020203" pitchFamily="34" charset="0"/>
              </a:rPr>
              <a:t>88</a:t>
            </a:r>
          </a:p>
        </p:txBody>
      </p:sp>
      <p:pic>
        <p:nvPicPr>
          <p:cNvPr id="7" name="Imagem 6">
            <a:extLst>
              <a:ext uri="{FF2B5EF4-FFF2-40B4-BE49-F238E27FC236}">
                <a16:creationId xmlns:a16="http://schemas.microsoft.com/office/drawing/2014/main" id="{6C92AB75-09D0-4608-8091-18862862CD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4294" y="1765300"/>
            <a:ext cx="6163413" cy="3073400"/>
          </a:xfrm>
          <a:prstGeom prst="rect">
            <a:avLst/>
          </a:prstGeom>
        </p:spPr>
      </p:pic>
      <p:sp>
        <p:nvSpPr>
          <p:cNvPr id="8" name="CaixaDeTexto 7">
            <a:extLst>
              <a:ext uri="{FF2B5EF4-FFF2-40B4-BE49-F238E27FC236}">
                <a16:creationId xmlns:a16="http://schemas.microsoft.com/office/drawing/2014/main" id="{94F42D0F-6CF7-4F28-82CD-645AF51D800E}"/>
              </a:ext>
            </a:extLst>
          </p:cNvPr>
          <p:cNvSpPr txBox="1"/>
          <p:nvPr/>
        </p:nvSpPr>
        <p:spPr>
          <a:xfrm>
            <a:off x="6858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Bancada: servidor 127.0.0.1:1502, UID1, mapa HR0 a9.</a:t>
            </a:r>
          </a:p>
        </p:txBody>
      </p:sp>
      <p:sp>
        <p:nvSpPr>
          <p:cNvPr id="9" name="CaixaDeTexto 8">
            <a:extLst>
              <a:ext uri="{FF2B5EF4-FFF2-40B4-BE49-F238E27FC236}">
                <a16:creationId xmlns:a16="http://schemas.microsoft.com/office/drawing/2014/main" id="{B477AFD8-7F8F-4CB1-A05E-6D585E20D065}"/>
              </a:ext>
            </a:extLst>
          </p:cNvPr>
          <p:cNvSpPr txBox="1"/>
          <p:nvPr/>
        </p:nvSpPr>
        <p:spPr>
          <a:xfrm>
            <a:off x="6324600" y="5041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Cliente: FC03, início0, Qtd10. Confirmar leitura e horário.</a:t>
            </a:r>
          </a:p>
        </p:txBody>
      </p:sp>
      <p:sp>
        <p:nvSpPr>
          <p:cNvPr id="10" name="CaixaDeTexto 9">
            <a:extLst>
              <a:ext uri="{FF2B5EF4-FFF2-40B4-BE49-F238E27FC236}">
                <a16:creationId xmlns:a16="http://schemas.microsoft.com/office/drawing/2014/main" id="{07715BDB-73E8-44D0-BA8D-A72BEFC97E2E}"/>
              </a:ext>
            </a:extLst>
          </p:cNvPr>
          <p:cNvSpPr txBox="1"/>
          <p:nvPr/>
        </p:nvSpPr>
        <p:spPr>
          <a:xfrm>
            <a:off x="6858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Falha controlada: início9, Qtd2. Investigar a resposta recebida.</a:t>
            </a:r>
          </a:p>
        </p:txBody>
      </p:sp>
      <p:sp>
        <p:nvSpPr>
          <p:cNvPr id="11" name="CaixaDeTexto 10">
            <a:extLst>
              <a:ext uri="{FF2B5EF4-FFF2-40B4-BE49-F238E27FC236}">
                <a16:creationId xmlns:a16="http://schemas.microsoft.com/office/drawing/2014/main" id="{0278FACE-9B6D-41C3-B2B6-D26133738FE9}"/>
              </a:ext>
            </a:extLst>
          </p:cNvPr>
          <p:cNvSpPr txBox="1"/>
          <p:nvPr/>
        </p:nvSpPr>
        <p:spPr>
          <a:xfrm>
            <a:off x="6324600" y="5676899"/>
            <a:ext cx="5232400" cy="596900"/>
          </a:xfrm>
          <a:prstGeom prst="rect">
            <a:avLst/>
          </a:prstGeom>
          <a:noFill/>
        </p:spPr>
        <p:txBody>
          <a:bodyPr vert="horz" wrap="square" lIns="0" tIns="0" rIns="0" bIns="0" rtlCol="0">
            <a:noAutofit/>
          </a:bodyPr>
          <a:lstStyle/>
          <a:p>
            <a:pPr>
              <a:spcAft>
                <a:spcPts val="400"/>
              </a:spcAft>
            </a:pPr>
            <a:r>
              <a:rPr lang="pt-BR">
                <a:solidFill>
                  <a:srgbClr val="18354B"/>
                </a:solidFill>
                <a:latin typeface="Segoe UI" panose="020B0502040204020203" pitchFamily="34" charset="0"/>
              </a:rPr>
              <a:t>Correção: Qtd1. Repetir, comparar e exportar os resultados.</a:t>
            </a:r>
          </a:p>
        </p:txBody>
      </p:sp>
      <p:sp>
        <p:nvSpPr>
          <p:cNvPr id="12" name="CaixaDeTexto 11">
            <a:extLst>
              <a:ext uri="{FF2B5EF4-FFF2-40B4-BE49-F238E27FC236}">
                <a16:creationId xmlns:a16="http://schemas.microsoft.com/office/drawing/2014/main" id="{9A49C9CA-0022-41AC-9195-15F591670D6A}"/>
              </a:ext>
            </a:extLst>
          </p:cNvPr>
          <p:cNvSpPr txBox="1"/>
          <p:nvPr/>
        </p:nvSpPr>
        <p:spPr>
          <a:xfrm>
            <a:off x="685800" y="6311900"/>
            <a:ext cx="10160000" cy="152400"/>
          </a:xfrm>
          <a:prstGeom prst="rect">
            <a:avLst/>
          </a:prstGeom>
          <a:noFill/>
        </p:spPr>
        <p:txBody>
          <a:bodyPr vert="horz" wrap="square" lIns="0" tIns="0" rIns="0" bIns="0" rtlCol="0">
            <a:noAutofit/>
          </a:bodyPr>
          <a:lstStyle/>
          <a:p>
            <a:pPr>
              <a:spcAft>
                <a:spcPts val="400"/>
              </a:spcAft>
            </a:pPr>
            <a:r>
              <a:rPr lang="pt-BR" sz="900">
                <a:solidFill>
                  <a:srgbClr val="556C7D"/>
                </a:solidFill>
                <a:latin typeface="Segoe UI" panose="020B0502040204020203" pitchFamily="34" charset="0"/>
              </a:rPr>
              <a:t>Interface atual. Resultados de demonstração, sem ensaio real da rede.</a:t>
            </a:r>
          </a:p>
        </p:txBody>
      </p:sp>
    </p:spTree>
    <p:extLst>
      <p:ext uri="{BB962C8B-B14F-4D97-AF65-F5344CB8AC3E}">
        <p14:creationId xmlns:p14="http://schemas.microsoft.com/office/powerpoint/2010/main" val="5052908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15508</Words>
  <Application>Microsoft Office PowerPoint</Application>
  <PresentationFormat>Widescreen</PresentationFormat>
  <Paragraphs>1138</Paragraphs>
  <Slides>88</Slides>
  <Notes>88</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88</vt:i4>
      </vt:variant>
    </vt:vector>
  </HeadingPairs>
  <TitlesOfParts>
    <vt:vector size="93" baseType="lpstr">
      <vt:lpstr>Arial</vt:lpstr>
      <vt:lpstr>Calibri</vt:lpstr>
      <vt:lpstr>Calibri Light</vt:lpstr>
      <vt:lpstr>Segoe UI</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Felipe F. Delarmelina - Autvix Group</dc:creator>
  <cp:lastModifiedBy>Felipe F. Delarmelina - Autvix Group</cp:lastModifiedBy>
  <cp:revision>2</cp:revision>
  <dcterms:created xsi:type="dcterms:W3CDTF">2026-10-02T19:54:38Z</dcterms:created>
  <dcterms:modified xsi:type="dcterms:W3CDTF">2026-10-02T19:56:02Z</dcterms:modified>
</cp:coreProperties>
</file>