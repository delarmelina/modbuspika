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3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0586E-C88E-4400-91B5-86CA6FF28D4E}" type="datetimeFigureOut">
              <a:rPr lang="pt-BR" smtClean="0"/>
              <a:t>02/10/2026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89102-B46B-4350-8823-EEAC6921EB68}" type="slidenum">
              <a:rPr lang="pt-BR" smtClean="0"/>
              <a:t>‹nº›</a:t>
            </a:fld>
            <a:endParaRPr lang="pt-BR"/>
          </a:p>
        </p:txBody>
      </p:sp>
    </p:spTree>
    <p:extLst>
      <p:ext uri="{BB962C8B-B14F-4D97-AF65-F5344CB8AC3E}">
        <p14:creationId xmlns:p14="http://schemas.microsoft.com/office/powerpoint/2010/main" val="3971276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Treinamento prático. Use os prints para apresentar a função de cada tela e depois demonstre no software. Os dados nas telas de resultados são exemplos didáticos, sem captura ou sondagem real da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a:t>
            </a:fld>
            <a:endParaRPr lang="pt-BR"/>
          </a:p>
        </p:txBody>
      </p:sp>
    </p:spTree>
    <p:extLst>
      <p:ext uri="{BB962C8B-B14F-4D97-AF65-F5344CB8AC3E}">
        <p14:creationId xmlns:p14="http://schemas.microsoft.com/office/powerpoint/2010/main" val="1488985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Abra a aplicação e mostre essas quatro regiões. Diferencie seleção de visualização de serviço em execução. Cliente e servidor podem operar simultaneamente. Selecionar um item lateral não define sozinho o escopo do teste. A imagem contém cadastros demonstrativos, sem conexão iniciada.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a:t>
            </a:fld>
            <a:endParaRPr lang="pt-BR"/>
          </a:p>
        </p:txBody>
      </p:sp>
    </p:spTree>
    <p:extLst>
      <p:ext uri="{BB962C8B-B14F-4D97-AF65-F5344CB8AC3E}">
        <p14:creationId xmlns:p14="http://schemas.microsoft.com/office/powerpoint/2010/main" val="2385895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a diferença entre estação cliente e servidor-alvo. Uma estação pode manter várias sessões independentes. Excluir Alvo 1 permite trabalhar apenas como servidor ou partir de descoberta sem alvo pré-cadastrado. Se houver alvo ativo, pare sua comunicação antes de alterar o endpoint. Salvar .ffd preserva essa estrutura.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a:t>
            </a:fld>
            <a:endParaRPr lang="pt-BR"/>
          </a:p>
        </p:txBody>
      </p:sp>
    </p:spTree>
    <p:extLst>
      <p:ext uri="{BB962C8B-B14F-4D97-AF65-F5344CB8AC3E}">
        <p14:creationId xmlns:p14="http://schemas.microsoft.com/office/powerpoint/2010/main" val="1902237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Caminho: Conexões, Cliente/Mestre, configurar servidor-alvo selecionado. IP não identifica a porta automaticamente. Porta aceita 1 a 65535. Unit ID aceita 0 a 255, mas o equipamento pode restringir o uso. 0.0.0.0 não é destino apropriado. Para a bancada, use 127.0.0.1:1502 e UID 1. Configuração válida no formulário ainda exige leitura válida para comprovar comunicação.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a:t>
            </a:fld>
            <a:endParaRPr lang="pt-BR"/>
          </a:p>
        </p:txBody>
      </p:sp>
    </p:spTree>
    <p:extLst>
      <p:ext uri="{BB962C8B-B14F-4D97-AF65-F5344CB8AC3E}">
        <p14:creationId xmlns:p14="http://schemas.microsoft.com/office/powerpoint/2010/main" val="1407561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intervalo mínimo do diálogo é 100 ms. A pausa soma-se ao tempo das transações. Padrão 1000 ms e conexão persistente marcada. Compare os handshakes na captura se necessário. Desconectar para a sessão e fecha seu socket. Não interpretar a diferença entre dois blocos do mesmo ciclo como o período de polling do mesmo bloco.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5</a:t>
            </a:fld>
            <a:endParaRPr lang="pt-BR"/>
          </a:p>
        </p:txBody>
      </p:sp>
    </p:spTree>
    <p:extLst>
      <p:ext uri="{BB962C8B-B14F-4D97-AF65-F5344CB8AC3E}">
        <p14:creationId xmlns:p14="http://schemas.microsoft.com/office/powerpoint/2010/main" val="50935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Para ensaio isolado, configure 127.0.0.1:1502. 0.0.0.0 permite acesso por outras interfaces e exige avaliar exposição e firewall. Configurar não inicia o servidor automaticamente. Conflito de porta ou IP não pertencente ao notebook pode impedir a escuta. O mapa aplicado define os pontos que o simulador responderá. Não duplicar IP de PLC ativo em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6</a:t>
            </a:fld>
            <a:endParaRPr lang="pt-BR"/>
          </a:p>
        </p:txBody>
      </p:sp>
    </p:spTree>
    <p:extLst>
      <p:ext uri="{BB962C8B-B14F-4D97-AF65-F5344CB8AC3E}">
        <p14:creationId xmlns:p14="http://schemas.microsoft.com/office/powerpoint/2010/main" val="597191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Selecione um alvo no painel lateral e abra Dispositivo, Configuração do dispositivo. Intervalo e conexão persistente aparecem para o cliente. O servidor possui dados de escuta. A configuração pode ficar bloqueada durante operação ou teste. Alterar IP, porta ou ID invalida as amostras anteriores, mas preserva os blocos. Aplicar não inicia comunicação. Demonstre renomear e descartar sem iniciar serviço.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7</a:t>
            </a:fld>
            <a:endParaRPr lang="pt-BR"/>
          </a:p>
        </p:txBody>
      </p:sp>
    </p:spTree>
    <p:extLst>
      <p:ext uri="{BB962C8B-B14F-4D97-AF65-F5344CB8AC3E}">
        <p14:creationId xmlns:p14="http://schemas.microsoft.com/office/powerpoint/2010/main" val="2241455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Cada linha habilitada gera uma requisição por ciclo. FC01 lê COIL, FC02 DI, FC03 HR e FC04 IR. Endereço de 0 a 65535. Quantidade positiva, até 125 registros ou 2000 bits no protocolo básico, podendo existir limite menor no equipamento. Exemplo início 1000 e quantidade 10 lê 1000 até 1009. Confirme a edição da célula. Nome não é tag enviada ao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8</a:t>
            </a:fld>
            <a:endParaRPr lang="pt-BR"/>
          </a:p>
        </p:txBody>
      </p:sp>
    </p:spTree>
    <p:extLst>
      <p:ext uri="{BB962C8B-B14F-4D97-AF65-F5344CB8AC3E}">
        <p14:creationId xmlns:p14="http://schemas.microsoft.com/office/powerpoint/2010/main" val="404987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que os blocos da imagem estão Não lido porque não houve requisição. Valor antigo não comprova leitura atual. O bloco 2 está desabilitado. Não deve aparecer como região ativa do cliente. Explique que 40001 só corresponde a offset 0 quando o fabricante usa a convenção clássica. Valor bruto de 16 bits ainda exige escala, unidade, tipo e ordem de palavras para representar engenharia.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9</a:t>
            </a:fld>
            <a:endParaRPr lang="pt-BR"/>
          </a:p>
        </p:txBody>
      </p:sp>
    </p:spTree>
    <p:extLst>
      <p:ext uri="{BB962C8B-B14F-4D97-AF65-F5344CB8AC3E}">
        <p14:creationId xmlns:p14="http://schemas.microsoft.com/office/powerpoint/2010/main" val="4057422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navegar por HR e IR e comparar com os blocos habilitados. Regiões sobrepostas podem mostrar um endereço em mais de uma linha. Qualidade Não lido não é zero válido. R/W não representa autorização operacional. Escrita em COIL/HR usa funções próprias e modifica o destino. Durante o treinamento, somente bancada autorizada. O teste completo não usa esse popup.</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10</a:t>
            </a:fld>
            <a:endParaRPr lang="pt-BR"/>
          </a:p>
        </p:txBody>
      </p:sp>
    </p:spTree>
    <p:extLst>
      <p:ext uri="{BB962C8B-B14F-4D97-AF65-F5344CB8AC3E}">
        <p14:creationId xmlns:p14="http://schemas.microsoft.com/office/powerpoint/2010/main" val="2679282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o mesmo HR nas duas visões. A página limita a quantidade renderizada para preservar desempenho. Um hífen em ponto não lido evita apresentar um zero artificial. A forma visual não altera FC, quantidade, dados ou direitos de escrita. O mapa deve refletir os blocos atualmente habilitados.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11</a:t>
            </a:fld>
            <a:endParaRPr lang="pt-BR"/>
          </a:p>
        </p:txBody>
      </p:sp>
    </p:spTree>
    <p:extLst>
      <p:ext uri="{BB962C8B-B14F-4D97-AF65-F5344CB8AC3E}">
        <p14:creationId xmlns:p14="http://schemas.microsoft.com/office/powerpoint/2010/main" val="1569203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Configure HR início 0, Qtd 3, inicial 1000. Inc desligado produz 1000,1000,1000. Ligado produz 1000,1001,1002. Para bits, use 0/1. DI/IR continuam áreas de leitura para Modbus remoto. Soma de início e quantidade deve ser no máximo 65536. Faixas sobrepostas do mesmo tipo podem substituir pontos anteriores. O prefixo é local, não parte do protocolo.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12</a:t>
            </a:fld>
            <a:endParaRPr lang="pt-BR"/>
          </a:p>
        </p:txBody>
      </p:sp>
    </p:spTree>
    <p:extLst>
      <p:ext uri="{BB962C8B-B14F-4D97-AF65-F5344CB8AC3E}">
        <p14:creationId xmlns:p14="http://schemas.microsoft.com/office/powerpoint/2010/main" val="3380890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Aplicar mapa pode substituir valores editados em memória pelos iniciais das faixas. Edição local de DI/IR é simulação, diferente de escrita Modbus remota. Se uma leitura atravessar uma região ausente, o servidor pode responder exceção 02. Demonstre observar valores sem realizar escrita em dispositivo de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13</a:t>
            </a:fld>
            <a:endParaRPr lang="pt-BR"/>
          </a:p>
        </p:txBody>
      </p:sp>
    </p:spTree>
    <p:extLst>
      <p:ext uri="{BB962C8B-B14F-4D97-AF65-F5344CB8AC3E}">
        <p14:creationId xmlns:p14="http://schemas.microsoft.com/office/powerpoint/2010/main" val="3711013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popup é uma ação operacional, não diagnóstico automático. O exemplo permite o intervalo 0 a 1. Só demonstrar em bancada. Escrita de range pode executar sequencialmente e terminar parcialmente após uma falha. Em timeout, o destino pode ter aplicado o valor antes de a resposta se perder. Conferir o estado antes de repetir. COIL aceita estado lógico; HR aceita palavra de 16 bits. Uma marca R/W não autoriza comando de processo.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14</a:t>
            </a:fld>
            <a:endParaRPr lang="pt-BR"/>
          </a:p>
        </p:txBody>
      </p:sp>
    </p:spTree>
    <p:extLst>
      <p:ext uri="{BB962C8B-B14F-4D97-AF65-F5344CB8AC3E}">
        <p14:creationId xmlns:p14="http://schemas.microsoft.com/office/powerpoint/2010/main" val="1864051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imagem inicial não tem eventos porque não iniciamos comunicação. Na aula, faça leitura única em bancada e procure request e response. A seleção de mensagem abre o detalhamento, inclusive Hex quando disponível. Esta timeline registra eventos da aplicação, não todos os quadros Ethernet. Uma resposta de exceção confirma protocolo naquela tentativa, mas recusa a operação. Exemplo FC03 offset 9 Qtd2 quando mapa só tem 0 a 9.</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15</a:t>
            </a:fld>
            <a:endParaRPr lang="pt-BR"/>
          </a:p>
        </p:txBody>
      </p:sp>
    </p:spTree>
    <p:extLst>
      <p:ext uri="{BB962C8B-B14F-4D97-AF65-F5344CB8AC3E}">
        <p14:creationId xmlns:p14="http://schemas.microsoft.com/office/powerpoint/2010/main" val="3146788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Esses campos alteram a visualização, não a captura. Combine alvo, UID e FC para localizar o bloco. Sem resultados, primeiro limpe filtros antes de concluir ausência de comunicação. Compare contagem de mensagens visíveis com total retido. Erro inclui exceção do servidor e falha de transporte, que têm significados diferentes. Demonstre localizar o request recusado do exercício final.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16</a:t>
            </a:fld>
            <a:endParaRPr lang="pt-BR"/>
          </a:p>
        </p:txBody>
      </p:sp>
    </p:spTree>
    <p:extLst>
      <p:ext uri="{BB962C8B-B14F-4D97-AF65-F5344CB8AC3E}">
        <p14:creationId xmlns:p14="http://schemas.microsoft.com/office/powerpoint/2010/main" val="3830597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Escolha a interface adequada, não apenas a primeira da lista. O campo pode conter adaptadores virtuais. Filtrar porta 502 exclui um servidor na 1501. Somente origem pode excluir a resposta. Filtro TCP/IP/porta pode excluir ARP, ICMP, LLDP e CDP. Uma NIC sem espelhamento pode não ver comunicação entre outros dois hosts. Não iniciar captura em rede real durante produção da apresentação.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17</a:t>
            </a:fld>
            <a:endParaRPr lang="pt-BR"/>
          </a:p>
        </p:txBody>
      </p:sp>
    </p:spTree>
    <p:extLst>
      <p:ext uri="{BB962C8B-B14F-4D97-AF65-F5344CB8AC3E}">
        <p14:creationId xmlns:p14="http://schemas.microsoft.com/office/powerpoint/2010/main" val="1053237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Atualizar interfaces recarrega os dispositivos expostos pelo driver. A prévia BPF mostra a combinação dos campos. Diferencie restrição de coleta e filtragem da lista. Mostre número, tempo relativo, origem/destino, protocolo, tamanho, fase e informação. Captura vazia exige verificar interface, tráfego, filtro e Npcap antes de concluir falha Modbus.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18</a:t>
            </a:fld>
            <a:endParaRPr lang="pt-BR"/>
          </a:p>
        </p:txBody>
      </p:sp>
    </p:spTree>
    <p:extLst>
      <p:ext uri="{BB962C8B-B14F-4D97-AF65-F5344CB8AC3E}">
        <p14:creationId xmlns:p14="http://schemas.microsoft.com/office/powerpoint/2010/main" val="3768921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só fica disponível após parar a captura. O print usa 300 quadros demonstrativos distribuídos por cerca de 15 s, 90 bytes cada. Não corresponde à rede do usuário. O período Último 1 min inclui parte sem pacotes no gráfico, mas o resumo informa a duração entre o primeiro e o último quadro da amostra. Até 2000 pacotes retidos. Taxa de bytes não é utilização percentual do link nem prova de saturação. Conferir latência, descartes e contadores de NIC/switch.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19</a:t>
            </a:fld>
            <a:endParaRPr lang="pt-BR"/>
          </a:p>
        </p:txBody>
      </p:sp>
    </p:spTree>
    <p:extLst>
      <p:ext uri="{BB962C8B-B14F-4D97-AF65-F5344CB8AC3E}">
        <p14:creationId xmlns:p14="http://schemas.microsoft.com/office/powerpoint/2010/main" val="824891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amostra demonstrativa tem estatísticas de driver indisponíveis, fila zero e zero descartes da fila, sem representar saúde real da rede. Até 2000 quadros retidos. Fila zero não comprova ausência de perdas no driver ou switch. Byte/s soma tamanhos dos quadros observados e não mede banda útil nem utilização percentual do link. Conferir velocidade negociada, erros, descartes e latência para avaliar sobrecarga.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20</a:t>
            </a:fld>
            <a:endParaRPr lang="pt-BR"/>
          </a:p>
        </p:txBody>
      </p:sp>
    </p:spTree>
    <p:extLst>
      <p:ext uri="{BB962C8B-B14F-4D97-AF65-F5344CB8AC3E}">
        <p14:creationId xmlns:p14="http://schemas.microsoft.com/office/powerpoint/2010/main" val="2543044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dados demonstrativos. Um pacote A para B conta na participação de A e de B, então somar a coluna de percentuais pode exceder 100%. Na amostra de somente dois hosts, ambos participam de 100% dos quadros. Mais tráfego não implica sobrecarga. Compare função do host, comportamento esperado e impacto operacional.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21</a:t>
            </a:fld>
            <a:endParaRPr lang="pt-BR"/>
          </a:p>
        </p:txBody>
      </p:sp>
    </p:spTree>
    <p:extLst>
      <p:ext uri="{BB962C8B-B14F-4D97-AF65-F5344CB8AC3E}">
        <p14:creationId xmlns:p14="http://schemas.microsoft.com/office/powerpoint/2010/main" val="2316793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agrupamento soma os quadros de ida e volta. Retransmissões também contam como quadros. Identifique a conversa do alvo Modbus e compare com tráfego de outros serviços. O conteúdo Modbus depende de reconhecimento estrutural, não apenas do rótulo de protocolo atribuído ao exemplo. Não interpretar a captura sintética como confirmação de nenhum servidor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22</a:t>
            </a:fld>
            <a:endParaRPr lang="pt-BR"/>
          </a:p>
        </p:txBody>
      </p:sp>
    </p:spTree>
    <p:extLst>
      <p:ext uri="{BB962C8B-B14F-4D97-AF65-F5344CB8AC3E}">
        <p14:creationId xmlns:p14="http://schemas.microsoft.com/office/powerpoint/2010/main" val="381645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tela está sem dados neste print. A aula deve gerar uma falha de porta controlada e verificar o evento. Desconectar e restaurar a porta correta. O histórico global de avisos não deve ser confundido com a consolidação do Teste completo, que usa o escopo e período da execução. Número elevado de ocorrências exige conferir causa comum e assinatura, não contar cada linha como uma falha independente.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23</a:t>
            </a:fld>
            <a:endParaRPr lang="pt-BR"/>
          </a:p>
        </p:txBody>
      </p:sp>
    </p:spTree>
    <p:extLst>
      <p:ext uri="{BB962C8B-B14F-4D97-AF65-F5344CB8AC3E}">
        <p14:creationId xmlns:p14="http://schemas.microsoft.com/office/powerpoint/2010/main" val="1116307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é o centro da parte prática do treinamento. Mostre as seis subabas, todas dentro do Teste completo. A seleção lateral não restringe o teste. IP e porta dos serviços vêm do cadastro do dispositivo, não de um endpoint solto no teste. Procedimentos controlam como testar. A imagem é a interface atual com cadastros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24</a:t>
            </a:fld>
            <a:endParaRPr lang="pt-BR"/>
          </a:p>
        </p:txBody>
      </p:sp>
    </p:spTree>
    <p:extLst>
      <p:ext uri="{BB962C8B-B14F-4D97-AF65-F5344CB8AC3E}">
        <p14:creationId xmlns:p14="http://schemas.microsoft.com/office/powerpoint/2010/main" val="36007100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Os botões Revisar e executar/Cancelar e a barra de progresso ficam acima das subabas na janela geral. O print de execução destaca a área interna. Serviços previamente ativos podem continuar, incluindo polling. Cancelado não deve ser interpretado como falha de comunicação. Configure os procedimentos e revise o plano antes de executar. O teste completo não realiza escrita automática.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25</a:t>
            </a:fld>
            <a:endParaRPr lang="pt-BR"/>
          </a:p>
        </p:txBody>
      </p:sp>
    </p:spTree>
    <p:extLst>
      <p:ext uri="{BB962C8B-B14F-4D97-AF65-F5344CB8AC3E}">
        <p14:creationId xmlns:p14="http://schemas.microsoft.com/office/powerpoint/2010/main" val="16979847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conteúdo da revisão vem da configuração atual, antes de executar. Conferir autorização, IPs, portas, interface, filtros e quantidade de requests. A duração pode aumentar com timeouts, rotas, novos servidores e fallback. Uma operação já ativa pode continuar durante a referência. O print contém cadastros demonstrativos. Nenhum teste foi executado para produzi-lo.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26</a:t>
            </a:fld>
            <a:endParaRPr lang="pt-BR"/>
          </a:p>
        </p:txBody>
      </p:sp>
    </p:spTree>
    <p:extLst>
      <p:ext uri="{BB962C8B-B14F-4D97-AF65-F5344CB8AC3E}">
        <p14:creationId xmlns:p14="http://schemas.microsoft.com/office/powerpoint/2010/main" val="3303625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Desmarcar não remove o alvo nem necessariamente para seu polling. Nenhum alvo incluído permite descoberta autorizada e validação dos servidores confirmados. Sem mapa encontrado, a conclusão pode ficar limitada à confirmação de protocolo. Hosts apenas observados fora do escopo não recebem automaticamente leituras. Demonstrar incluir só o alvo de bancada e conferir o plano.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27</a:t>
            </a:fld>
            <a:endParaRPr lang="pt-BR"/>
          </a:p>
        </p:txBody>
      </p:sp>
    </p:spTree>
    <p:extLst>
      <p:ext uri="{BB962C8B-B14F-4D97-AF65-F5344CB8AC3E}">
        <p14:creationId xmlns:p14="http://schemas.microsoft.com/office/powerpoint/2010/main" val="29342068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Referência aceita 1 a 3600 s. Monitoramento aceita 1 a 86400 s. O print demonstra 12 s de referência, 30 s final e limiar 5000 pkt/s, sem recomendação universal. A referência pode conter operações previamente ativas. RST, zero window, segmentos repetidos e picos precisam de correlação. Limiar operacional não mede saturação. Para falha rara, aumentar tempo e conservar parâmetros para comparação.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28</a:t>
            </a:fld>
            <a:endParaRPr lang="pt-BR"/>
          </a:p>
        </p:txBody>
      </p:sp>
    </p:spTree>
    <p:extLst>
      <p:ext uri="{BB962C8B-B14F-4D97-AF65-F5344CB8AC3E}">
        <p14:creationId xmlns:p14="http://schemas.microsoft.com/office/powerpoint/2010/main" val="513588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Tentativas aceita 1 a 1000. Intervalo aceita 100 a 60000 ms. O print usa 15 e 1000 ms. Planejadas, tentadas e válidas são diferentes, especialmente em cancelamento. Exemplo 14 válidas em 15 tentadas = 93,3%. Falhas não entram como latência de respostas válidas. Com 15 amostras p95 pode coincidir com max. Esse intervalo não modifica o scan cadastrado do alvo. As consultas adicionais podem compartilhar socket com polling ativo.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29</a:t>
            </a:fld>
            <a:endParaRPr lang="pt-BR"/>
          </a:p>
        </p:txBody>
      </p:sp>
    </p:spTree>
    <p:extLst>
      <p:ext uri="{BB962C8B-B14F-4D97-AF65-F5344CB8AC3E}">
        <p14:creationId xmlns:p14="http://schemas.microsoft.com/office/powerpoint/2010/main" val="424018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Sondagem ativa exige autorização. CIDR IPv4 /16 a /32. Exemplo /24 inclui 254 hosts usuais, /32 apenas um. Timeout 200 a 3000 ms. Concorrência 1 a 16. Taxa 1 a 100 tentativas/s. Mais concorrência não significa mais leituras simultâneas no mesmo socket. Taxa é limite de início e não garantia de duração total. /16 pode ter dezenas de milhares de candidatos. O print usa configurações didáticas, não valores ideais universais.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30</a:t>
            </a:fld>
            <a:endParaRPr lang="pt-BR"/>
          </a:p>
        </p:txBody>
      </p:sp>
    </p:spTree>
    <p:extLst>
      <p:ext uri="{BB962C8B-B14F-4D97-AF65-F5344CB8AC3E}">
        <p14:creationId xmlns:p14="http://schemas.microsoft.com/office/powerpoint/2010/main" val="3447381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descoberta de hosts consulta as portas listadas, não todas as 65535. Alvos incluídos explicitamente também contribuem com suas portas. Se houver múltiplas redes sem escolha inequívoca, selecionar interface ou informar CIDR. Host sem resposta a ping ainda pode responder TCP. Uma porta aberta precisa de confirmação Modbus posterior. Com descoberta de mapa, os servidores confirmados podem receber sondagens de regiões. Switch silencioso pode continuar desconhecido.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31</a:t>
            </a:fld>
            <a:endParaRPr lang="pt-BR"/>
          </a:p>
        </p:txBody>
      </p:sp>
    </p:spTree>
    <p:extLst>
      <p:ext uri="{BB962C8B-B14F-4D97-AF65-F5344CB8AC3E}">
        <p14:creationId xmlns:p14="http://schemas.microsoft.com/office/powerpoint/2010/main" val="21679406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Saltos 1 a 30. Timeout 200 a 3000 ms. Alvos 1 a 32. Inicialmente 12, 500 ms e 8. Exemplo pior caso aproximado 8 vezes 12 vezes 500 ms = 48 s, além de espaçamento. ICMP timeout não prova falha TCP/Modbus. Switches L2 não aparecem no TTL. LLDP/CDP depende da recepção passiva. Não há consulta SNMP nem alteração de 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32</a:t>
            </a:fld>
            <a:endParaRPr lang="pt-BR"/>
          </a:p>
        </p:txBody>
      </p:sp>
    </p:spTree>
    <p:extLst>
      <p:ext uri="{BB962C8B-B14F-4D97-AF65-F5344CB8AC3E}">
        <p14:creationId xmlns:p14="http://schemas.microsoft.com/office/powerpoint/2010/main" val="30365939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Cliente: procura regiões por leitura nos servidores confirmados. Servidor: observa as regiões solicitadas pelos clientes externos. No modo servidor, os limites não alteram o que clientes pedem. Endereço máximo 0 a 65535. Bloco 1 a 120. Pelo menos uma FC. Máximo 100 e bloco 10 resultam em 11 janelas iniciais: 0-9 até 90-99 e 100-100. Não chamar isso de 10 leituras completas. Sem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33</a:t>
            </a:fld>
            <a:endParaRPr lang="pt-BR"/>
          </a:p>
        </p:txBody>
      </p:sp>
    </p:spTree>
    <p:extLst>
      <p:ext uri="{BB962C8B-B14F-4D97-AF65-F5344CB8AC3E}">
        <p14:creationId xmlns:p14="http://schemas.microsoft.com/office/powerpoint/2010/main" val="4166661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Sem varredura de IDs, usa o UID pertinente ao cadastro ou à confirmação. Máximo100/bloco10, quatro funções e dez UIDs dão até 440 janelas iniciais por endpoint antes de fallback/interrupções. Função não suportada ou duas falhas consecutivas de transporte podem encurtar o percurso. Um ponto não consultado não é automaticamente inválido. Nomes de tags, escalas e direitos de escrita não são descobertos por esse método.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34</a:t>
            </a:fld>
            <a:endParaRPr lang="pt-BR"/>
          </a:p>
        </p:txBody>
      </p:sp>
    </p:spTree>
    <p:extLst>
      <p:ext uri="{BB962C8B-B14F-4D97-AF65-F5344CB8AC3E}">
        <p14:creationId xmlns:p14="http://schemas.microsoft.com/office/powerpoint/2010/main" val="940160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estados e texto didáticos. Nunca apresentá-lo como ensaio real. No software, clique uma etapa de leitura e confira tentativas, respostas e falhas. Clique referência passiva e compare cobertura. A ordem e a quantidade de etapas não são universais, pois alvos geram validações específicas. Resultado e recomendação devem orientar uma próxima ação verificável.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35</a:t>
            </a:fld>
            <a:endParaRPr lang="pt-BR"/>
          </a:p>
        </p:txBody>
      </p:sp>
    </p:spTree>
    <p:extLst>
      <p:ext uri="{BB962C8B-B14F-4D97-AF65-F5344CB8AC3E}">
        <p14:creationId xmlns:p14="http://schemas.microsoft.com/office/powerpoint/2010/main" val="18915386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Verde OK, amarelo atenção, vermelho falha, azul execução e cinza pendência. Inconclusivo tem cor de atenção mas exige interpretação de cobertura, sem equivaler a falha do processo. OK não certifica estabilidade futura. O estado global considera os resultados do plano. Dados da imagem são didáticos e não têm finalidade de validar o software ou 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36</a:t>
            </a:fld>
            <a:endParaRPr lang="pt-BR"/>
          </a:p>
        </p:txBody>
      </p:sp>
    </p:spTree>
    <p:extLst>
      <p:ext uri="{BB962C8B-B14F-4D97-AF65-F5344CB8AC3E}">
        <p14:creationId xmlns:p14="http://schemas.microsoft.com/office/powerpoint/2010/main" val="40039979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Comece a interpretação por esta aba antes de ler todas as etapas. Um alerta de p95 próximo ao scan exige revisar ciclo e quantidade de blocos. Uma captura sem driver disponível limita a análise TCP e não prova que o Modbus falhou. Compare janelas inicial/final, amostras e alterações. Os estados do print são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37</a:t>
            </a:fld>
            <a:endParaRPr lang="pt-BR"/>
          </a:p>
        </p:txBody>
      </p:sp>
    </p:spTree>
    <p:extLst>
      <p:ext uri="{BB962C8B-B14F-4D97-AF65-F5344CB8AC3E}">
        <p14:creationId xmlns:p14="http://schemas.microsoft.com/office/powerpoint/2010/main" val="6248022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Ordenação de IPv4 é numérica. ARP informa associação IP/MAC, não identifica um PLC nem comprova atividade atual. IP local e loopback podem representar o mesmo computador. Um host atrás de roteador pode não ter MAC próprio na tabela ARP local. Cliente observado pode não ter um listener para responder sondagem. O print tem dois hosts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38</a:t>
            </a:fld>
            <a:endParaRPr lang="pt-BR"/>
          </a:p>
        </p:txBody>
      </p:sp>
    </p:spTree>
    <p:extLst>
      <p:ext uri="{BB962C8B-B14F-4D97-AF65-F5344CB8AC3E}">
        <p14:creationId xmlns:p14="http://schemas.microsoft.com/office/powerpoint/2010/main" val="40881036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porta precisa estar no escopo ou ser explicitamente verificada. Para adicionar um descoberto, conferir endpoint e UID. Mapa observado não comprova todo o mapa remoto. Sem mapa, o fluxo oferece encontrar mapa quando pertinente. Tráfego de Internet ou ARP não autoriza sondagem fora do escopo. Adicionar alvo cria cadastro e não prova conexão persistente.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39</a:t>
            </a:fld>
            <a:endParaRPr lang="pt-BR"/>
          </a:p>
        </p:txBody>
      </p:sp>
    </p:spTree>
    <p:extLst>
      <p:ext uri="{BB962C8B-B14F-4D97-AF65-F5344CB8AC3E}">
        <p14:creationId xmlns:p14="http://schemas.microsoft.com/office/powerpoint/2010/main" val="33365819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do diagrama são demonstrativos. Nunca inferir que há um switch específico sem anúncio ou consulta que sustente a identidade. TTL não mostra switches L2. O diagrama filtra a relevância Modbus e pode agrupar outros hosts. Leia cobertura acima do diagrama. Caminho físico e saúde do switch exigem inventário e verificações autorizadas adicionais.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40</a:t>
            </a:fld>
            <a:endParaRPr lang="pt-BR"/>
          </a:p>
        </p:txBody>
      </p:sp>
    </p:spTree>
    <p:extLst>
      <p:ext uri="{BB962C8B-B14F-4D97-AF65-F5344CB8AC3E}">
        <p14:creationId xmlns:p14="http://schemas.microsoft.com/office/powerpoint/2010/main" val="8493096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tabela explicita a base do diagrama. No print, 300 é uma contagem demonstrativa. Não equivale a 300 leituras aceitas, pois quadros e operações são métricas diferentes. Correlação com request/response e UID ajuda a separar protocolo, sessão e host. Uma conversa observada não revela sozinha as portas físicas de 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41</a:t>
            </a:fld>
            <a:endParaRPr lang="pt-BR"/>
          </a:p>
        </p:txBody>
      </p:sp>
    </p:spTree>
    <p:extLst>
      <p:ext uri="{BB962C8B-B14F-4D97-AF65-F5344CB8AC3E}">
        <p14:creationId xmlns:p14="http://schemas.microsoft.com/office/powerpoint/2010/main" val="14183522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demonstrativo com destino alcançado no primeiro salto. Hosts da mesma sub-rede podem responder diretamente mesmo atravessando switch físico. Timeout de ICMP não comprova interrupção do TCP. O caminho de retorno pode diferir. Limites de saltos/alvos e filtro devem constar da cobertura. Não interpretar o tempo ICMP como tempo de processamento do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42</a:t>
            </a:fld>
            <a:endParaRPr lang="pt-BR"/>
          </a:p>
        </p:txBody>
      </p:sp>
    </p:spTree>
    <p:extLst>
      <p:ext uri="{BB962C8B-B14F-4D97-AF65-F5344CB8AC3E}">
        <p14:creationId xmlns:p14="http://schemas.microsoft.com/office/powerpoint/2010/main" val="36869648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lista do print está vazia. Isso não comprova ausência de switch. O dispositivo pode não emitir anúncio, a captura pode estar no ponto errado ou BPF pode ter excluído LLDP/CDP. O software não executa consulta SNMP nem configuração de infraestrutura. Nome/porta anunciados não certificam saúde do switch, contadores ou cabeamento.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43</a:t>
            </a:fld>
            <a:endParaRPr lang="pt-BR"/>
          </a:p>
        </p:txBody>
      </p:sp>
    </p:spTree>
    <p:extLst>
      <p:ext uri="{BB962C8B-B14F-4D97-AF65-F5344CB8AC3E}">
        <p14:creationId xmlns:p14="http://schemas.microsoft.com/office/powerpoint/2010/main" val="7895885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print demonstra FC03 offsets0 a9 quantidade10. Na descoberta ativa, Qtd = fim-início+1. Range validado teve resposta aceita. Range requisitado só prova a solicitação e pode ter gerado exceção. Trechos pequenos válidos não garantem que a união deles seja aceita em bloco maior. Região ausente pode estar fora do máximo, em outra FC/UID ou não ter sido consultada. Descoberta não determina engenharia nem direitos de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44</a:t>
            </a:fld>
            <a:endParaRPr lang="pt-BR"/>
          </a:p>
        </p:txBody>
      </p:sp>
    </p:spTree>
    <p:extLst>
      <p:ext uri="{BB962C8B-B14F-4D97-AF65-F5344CB8AC3E}">
        <p14:creationId xmlns:p14="http://schemas.microsoft.com/office/powerpoint/2010/main" val="18754791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texto da imagem é didático, não resultado real. Demonstre exportar sem executar sondagem adicional. O completo inclui inventário, mapa e topologia conforme dados disponíveis. Em Markdown, imagens auxiliares devem acompanhar o arquivo. PDF reúne material para consulta. Confirme período, papel, endpoints e versão antes de compartilhar.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45</a:t>
            </a:fld>
            <a:endParaRPr lang="pt-BR"/>
          </a:p>
        </p:txBody>
      </p:sp>
    </p:spTree>
    <p:extLst>
      <p:ext uri="{BB962C8B-B14F-4D97-AF65-F5344CB8AC3E}">
        <p14:creationId xmlns:p14="http://schemas.microsoft.com/office/powerpoint/2010/main" val="35291234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Exemplo 15/15 válidas só comprova aquelas tentativas. P95 alto pede comparar com scan e ciclo total. Uma exceção02 repetida aponta função/range, sem perda total de conexão. Uma janela curta não caracteriza falha rara. Diagnóstico reproduzível inclui configuração, versão, interface, BPF, tempos e mapa documentado. Explicar à turma que mais texto não torna a conclusão automaticamente mais forte.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46</a:t>
            </a:fld>
            <a:endParaRPr lang="pt-BR"/>
          </a:p>
        </p:txBody>
      </p:sp>
    </p:spTree>
    <p:extLst>
      <p:ext uri="{BB962C8B-B14F-4D97-AF65-F5344CB8AC3E}">
        <p14:creationId xmlns:p14="http://schemas.microsoft.com/office/powerpoint/2010/main" val="1830795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os comandos Arquivo/Salvar/Abrir disponíveis na versão. Preservar o original antes de introduzir erros de laboratório. .ffd não garante restauração de conexões ativas nem representa um dump do PLC. Conferir IPs e portas antes de reutilizar em outra rede. O print mostra a estação com os cadastros que seriam persistidos, não uma janela de arquivo.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47</a:t>
            </a:fld>
            <a:endParaRPr lang="pt-BR"/>
          </a:p>
        </p:txBody>
      </p:sp>
    </p:spTree>
    <p:extLst>
      <p:ext uri="{BB962C8B-B14F-4D97-AF65-F5344CB8AC3E}">
        <p14:creationId xmlns:p14="http://schemas.microsoft.com/office/powerpoint/2010/main" val="13352136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pesquisar Unit ID, CIDR, exceção02 e p95. O manual é integrado e não abre um PDF longo. Se o contexto não tiver associação específica, a ajuda geral continua disponível. Usar o manual para domínio/limites de cada campo. Screenshots e nomes dependem da versão atual. Registrar dúvidas não resolvidas para revisão posterior.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48</a:t>
            </a:fld>
            <a:endParaRPr lang="pt-BR"/>
          </a:p>
        </p:txBody>
      </p:sp>
    </p:spTree>
    <p:extLst>
      <p:ext uri="{BB962C8B-B14F-4D97-AF65-F5344CB8AC3E}">
        <p14:creationId xmlns:p14="http://schemas.microsoft.com/office/powerpoint/2010/main" val="3237492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Exercício exclusivo em laboratório. Configure referência12s, monitoramento30s, quinze tentativas e intervalo1000ms como exemplo, sem descoberta ativa de rede de produção. Primeiro confirmar mapa aplicado. No erro, fim=9+2-1=10, além de HR9, podendo retornar exceção02. Modificar somente quantidade para1 permite atribuir recuperação ao ajuste. Pedir à turma que encontre evidência na Execução, Resumo e Relatório. Concluir com próximos passos e dúvidas.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DAE89102-B46B-4350-8823-EEAC6921EB68}" type="slidenum">
              <a:rPr lang="pt-BR" smtClean="0"/>
              <a:t>49</a:t>
            </a:fld>
            <a:endParaRPr lang="pt-BR"/>
          </a:p>
        </p:txBody>
      </p:sp>
    </p:spTree>
    <p:extLst>
      <p:ext uri="{BB962C8B-B14F-4D97-AF65-F5344CB8AC3E}">
        <p14:creationId xmlns:p14="http://schemas.microsoft.com/office/powerpoint/2010/main" val="2606596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7FFD1B-3A9C-407A-B8C6-FF6A80B4E1D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60AF3839-2D25-4919-BCD0-FF9155136D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EA6E266-FBC6-4048-9BD9-4630CEAC9ED2}"/>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5D27A982-4B5F-41A6-850C-486873C1A32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43561AB-43AB-427D-BF6D-A3EF4352593C}"/>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1060363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74A11C-7D26-4B7C-A3DC-F1F0854E188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907D7F8-2B8F-406A-809E-039472A8483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AF18B59-2E30-43ED-B4D8-BE4C209E2ED4}"/>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A64A8C7D-2D74-46F8-BBFA-8C3D1EC3D53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16B7F8D-BCB5-4093-9114-91B651F01548}"/>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278411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82C35-49FB-4869-BA6F-CDFD39229C0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2F2A767-44D6-4FD8-8242-357F88B60E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4A0388F-75A1-40E5-9C11-3B2A0B70D054}"/>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F8598914-8FD2-407C-BF64-EB17267059D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943CF74-3A9A-4E01-AEA8-2E9E2F2E3446}"/>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2754188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8584E9-49BD-4962-937E-0858AD3C612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B343A76-2C33-4984-B116-20F36143D16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3A98B1B4-02C8-4BF3-A7CD-B7FCA3A81CD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18F33F6-A345-4DB8-8268-8F0AB18E020C}"/>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F8CFBDE2-BE83-48FF-B941-6ABDA60648B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34435C6-6D11-48ED-8F28-DC53B54328A2}"/>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115968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DD6C7C-077D-4697-8D06-35FD6EF66196}"/>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8F6C43FA-B07B-44AA-9601-AE00ABF5A9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874EBB3F-B282-45FF-8C4C-B324F55561C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7BCFF0B-11FF-4C4E-8CA6-7F0E326B2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98100D7F-FDF3-4516-B48D-157CDDA5889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77F1234F-4134-4D0C-9F00-71FB570CBFF8}"/>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8" name="Espaço Reservado para Rodapé 7">
            <a:extLst>
              <a:ext uri="{FF2B5EF4-FFF2-40B4-BE49-F238E27FC236}">
                <a16:creationId xmlns:a16="http://schemas.microsoft.com/office/drawing/2014/main" id="{5A597B72-BB2A-429E-9F0A-6EC9A5DC54E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4B57FF3-F672-440C-8231-CBE0135B205E}"/>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554587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0F4CB1-7653-4FBE-A524-621410C2B30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4443D7D-D981-4797-8400-8593BDD44C5F}"/>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4" name="Espaço Reservado para Rodapé 3">
            <a:extLst>
              <a:ext uri="{FF2B5EF4-FFF2-40B4-BE49-F238E27FC236}">
                <a16:creationId xmlns:a16="http://schemas.microsoft.com/office/drawing/2014/main" id="{A4D7610E-7C2B-42E0-BB83-CDC20DFC6516}"/>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764318B4-D02A-40A1-AE30-4DC9D9D0FB2F}"/>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1846993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6B00299-2078-4E1F-8B1B-45557E2DC672}"/>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3" name="Espaço Reservado para Rodapé 2">
            <a:extLst>
              <a:ext uri="{FF2B5EF4-FFF2-40B4-BE49-F238E27FC236}">
                <a16:creationId xmlns:a16="http://schemas.microsoft.com/office/drawing/2014/main" id="{64CA58DF-5B80-440D-ACA7-367E223967D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79126ED6-02D4-464F-AB2D-BA8F3C2798D4}"/>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412301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DA6E6-27C4-4399-91F8-8A45430A4AAC}"/>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D51F6B59-334C-438C-90A9-6BA6D4308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7AEF5C8A-9CE1-43EA-8D16-5FF80E0F9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E105209-F508-46A8-A6AC-59976AE0EF3E}"/>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A769EDD9-1AE6-4224-B97C-27F3BEE0168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E7D8322-C8F8-4972-B405-D25673F660B7}"/>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81063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4B266-A8FE-4E16-8507-ACA72B637FA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F2D1951-4100-4609-AEAE-006AD1C7FE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33E68100-3A99-46DA-80F4-D3A590203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94D97DF-DAC0-4306-8574-DE807383F544}"/>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6" name="Espaço Reservado para Rodapé 5">
            <a:extLst>
              <a:ext uri="{FF2B5EF4-FFF2-40B4-BE49-F238E27FC236}">
                <a16:creationId xmlns:a16="http://schemas.microsoft.com/office/drawing/2014/main" id="{C5F2AE91-BFAE-4B81-8FF7-71A8852C876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3F785D1-A68E-4FF2-A961-C6C4C143E63E}"/>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331993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FB1BA0-F07F-40C3-B6EB-377734E46E3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D114B60-0E01-492B-B3E1-AE81E283AAD3}"/>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8416109-D5B3-4E66-B38F-CF8E5E3FDF01}"/>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6E0724B8-A8C0-4E99-9279-023D4DB67B7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BC921C4-F756-495C-BBA6-AA405F2DE5E7}"/>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834130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0AE6396-ECB5-42C5-89EC-C3E3CAA359F9}"/>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06C82AE1-64CB-4EB4-967B-EED5D89DB0F5}"/>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364D291-3F69-4A70-B666-319E9D7DF263}"/>
              </a:ext>
            </a:extLst>
          </p:cNvPr>
          <p:cNvSpPr>
            <a:spLocks noGrp="1"/>
          </p:cNvSpPr>
          <p:nvPr>
            <p:ph type="dt" sz="half" idx="10"/>
          </p:nvPr>
        </p:nvSpPr>
        <p:spPr/>
        <p:txBody>
          <a:body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5CD5E805-77EA-49D0-99A4-55193F674C7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2B29BF8-84BF-4077-B04F-678BD2FC8163}"/>
              </a:ext>
            </a:extLst>
          </p:cNvPr>
          <p:cNvSpPr>
            <a:spLocks noGrp="1"/>
          </p:cNvSpPr>
          <p:nvPr>
            <p:ph type="sldNum" sz="quarter" idx="12"/>
          </p:nvPr>
        </p:nvSpPr>
        <p:spPr/>
        <p:txBody>
          <a:bodyPr/>
          <a:lstStyle/>
          <a:p>
            <a:fld id="{1523C349-801A-4237-8AA6-F3C4D391805E}" type="slidenum">
              <a:rPr lang="pt-BR" smtClean="0"/>
              <a:t>‹nº›</a:t>
            </a:fld>
            <a:endParaRPr lang="pt-BR"/>
          </a:p>
        </p:txBody>
      </p:sp>
    </p:spTree>
    <p:extLst>
      <p:ext uri="{BB962C8B-B14F-4D97-AF65-F5344CB8AC3E}">
        <p14:creationId xmlns:p14="http://schemas.microsoft.com/office/powerpoint/2010/main" val="2651639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34AD0A6-9812-4C86-9E16-3471F785A3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546475A5-F45F-4DDB-93CE-C7B9D5322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A4CFE34-E593-43BA-9E20-71D3E6CA24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59DA4-41AA-44FE-8581-E7FE4D8BC7C3}" type="datetimeFigureOut">
              <a:rPr lang="pt-BR" smtClean="0"/>
              <a:t>02/10/2026</a:t>
            </a:fld>
            <a:endParaRPr lang="pt-BR"/>
          </a:p>
        </p:txBody>
      </p:sp>
      <p:sp>
        <p:nvSpPr>
          <p:cNvPr id="5" name="Espaço Reservado para Rodapé 4">
            <a:extLst>
              <a:ext uri="{FF2B5EF4-FFF2-40B4-BE49-F238E27FC236}">
                <a16:creationId xmlns:a16="http://schemas.microsoft.com/office/drawing/2014/main" id="{CE694B46-09AD-47A2-A786-C08C0E6E6D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1A4819CF-67AD-4D42-98F4-66ED9704B5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23C349-801A-4237-8AA6-F3C4D391805E}" type="slidenum">
              <a:rPr lang="pt-BR" smtClean="0"/>
              <a:t>‹nº›</a:t>
            </a:fld>
            <a:endParaRPr lang="pt-BR"/>
          </a:p>
        </p:txBody>
      </p:sp>
    </p:spTree>
    <p:extLst>
      <p:ext uri="{BB962C8B-B14F-4D97-AF65-F5344CB8AC3E}">
        <p14:creationId xmlns:p14="http://schemas.microsoft.com/office/powerpoint/2010/main" val="4202797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12143904-D6D5-4CD3-BF2C-0F7D49773F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CaixaDeTexto 3">
            <a:extLst>
              <a:ext uri="{FF2B5EF4-FFF2-40B4-BE49-F238E27FC236}">
                <a16:creationId xmlns:a16="http://schemas.microsoft.com/office/drawing/2014/main" id="{757CE1F6-A7E0-48C4-920E-B89E30586402}"/>
              </a:ext>
            </a:extLst>
          </p:cNvPr>
          <p:cNvSpPr txBox="1"/>
          <p:nvPr/>
        </p:nvSpPr>
        <p:spPr>
          <a:xfrm>
            <a:off x="685800" y="1841499"/>
            <a:ext cx="5842000" cy="1905000"/>
          </a:xfrm>
          <a:prstGeom prst="rect">
            <a:avLst/>
          </a:prstGeom>
          <a:noFill/>
        </p:spPr>
        <p:txBody>
          <a:bodyPr vert="horz" wrap="square" lIns="0" tIns="0" rIns="0" bIns="0" rtlCol="0">
            <a:noAutofit/>
          </a:bodyPr>
          <a:lstStyle/>
          <a:p>
            <a:pPr>
              <a:spcAft>
                <a:spcPts val="400"/>
              </a:spcAft>
            </a:pPr>
            <a:r>
              <a:rPr lang="pt-BR" sz="4400" b="1">
                <a:solidFill>
                  <a:srgbClr val="FFFFFF"/>
                </a:solidFill>
                <a:latin typeface="Segoe UI" panose="020B0502040204020203" pitchFamily="34" charset="0"/>
              </a:rPr>
              <a:t>Modbus TCP
na prática</a:t>
            </a:r>
          </a:p>
        </p:txBody>
      </p:sp>
      <p:sp>
        <p:nvSpPr>
          <p:cNvPr id="5" name="CaixaDeTexto 4">
            <a:extLst>
              <a:ext uri="{FF2B5EF4-FFF2-40B4-BE49-F238E27FC236}">
                <a16:creationId xmlns:a16="http://schemas.microsoft.com/office/drawing/2014/main" id="{84850499-9F60-4BE1-B692-45012E20FEA0}"/>
              </a:ext>
            </a:extLst>
          </p:cNvPr>
          <p:cNvSpPr txBox="1"/>
          <p:nvPr/>
        </p:nvSpPr>
        <p:spPr>
          <a:xfrm>
            <a:off x="711200" y="4152899"/>
            <a:ext cx="5524500" cy="1104900"/>
          </a:xfrm>
          <a:prstGeom prst="rect">
            <a:avLst/>
          </a:prstGeom>
          <a:noFill/>
        </p:spPr>
        <p:txBody>
          <a:bodyPr vert="horz" wrap="square" lIns="0" tIns="0" rIns="0" bIns="0" rtlCol="0">
            <a:noAutofit/>
          </a:bodyPr>
          <a:lstStyle/>
          <a:p>
            <a:pPr>
              <a:spcAft>
                <a:spcPts val="400"/>
              </a:spcAft>
            </a:pPr>
            <a:r>
              <a:rPr lang="pt-BR" sz="2000">
                <a:solidFill>
                  <a:srgbClr val="FFFFFF"/>
                </a:solidFill>
                <a:latin typeface="Segoe UI" panose="020B0502040204020203" pitchFamily="34" charset="0"/>
              </a:rPr>
              <a:t>Guia de operação do software
Telas, configurações e interpretação dos testes</a:t>
            </a:r>
          </a:p>
        </p:txBody>
      </p:sp>
      <p:sp>
        <p:nvSpPr>
          <p:cNvPr id="6" name="CaixaDeTexto 5">
            <a:extLst>
              <a:ext uri="{FF2B5EF4-FFF2-40B4-BE49-F238E27FC236}">
                <a16:creationId xmlns:a16="http://schemas.microsoft.com/office/drawing/2014/main" id="{CA087E5E-8B9F-44BA-99D3-1E7DCC78806B}"/>
              </a:ext>
            </a:extLst>
          </p:cNvPr>
          <p:cNvSpPr txBox="1"/>
          <p:nvPr/>
        </p:nvSpPr>
        <p:spPr>
          <a:xfrm>
            <a:off x="711200" y="5905499"/>
            <a:ext cx="5334000" cy="317500"/>
          </a:xfrm>
          <a:prstGeom prst="rect">
            <a:avLst/>
          </a:prstGeom>
          <a:noFill/>
        </p:spPr>
        <p:txBody>
          <a:bodyPr vert="horz" wrap="square" lIns="0" tIns="0" rIns="0" bIns="0" rtlCol="0">
            <a:noAutofit/>
          </a:bodyPr>
          <a:lstStyle/>
          <a:p>
            <a:pPr>
              <a:spcAft>
                <a:spcPts val="400"/>
              </a:spcAft>
            </a:pPr>
            <a:r>
              <a:rPr lang="pt-BR" sz="1300" b="1">
                <a:solidFill>
                  <a:srgbClr val="70D0D8"/>
                </a:solidFill>
                <a:latin typeface="Segoe UI" panose="020B0502040204020203" pitchFamily="34" charset="0"/>
              </a:rPr>
              <a:t>03 OUTUBRO 2026</a:t>
            </a:r>
          </a:p>
        </p:txBody>
      </p:sp>
    </p:spTree>
    <p:extLst>
      <p:ext uri="{BB962C8B-B14F-4D97-AF65-F5344CB8AC3E}">
        <p14:creationId xmlns:p14="http://schemas.microsoft.com/office/powerpoint/2010/main" val="3017671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23B0712-B489-41F5-AA5D-C01F8B35A9C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01 · Navegação</a:t>
            </a:r>
          </a:p>
        </p:txBody>
      </p:sp>
      <p:sp>
        <p:nvSpPr>
          <p:cNvPr id="3" name="CaixaDeTexto 2">
            <a:extLst>
              <a:ext uri="{FF2B5EF4-FFF2-40B4-BE49-F238E27FC236}">
                <a16:creationId xmlns:a16="http://schemas.microsoft.com/office/drawing/2014/main" id="{B3C6B187-8375-48E2-91F1-06A19C7CC4B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Visão geral: onde cada atividade acontece</a:t>
            </a:r>
          </a:p>
        </p:txBody>
      </p:sp>
      <p:sp>
        <p:nvSpPr>
          <p:cNvPr id="4" name="CaixaDeTexto 3">
            <a:extLst>
              <a:ext uri="{FF2B5EF4-FFF2-40B4-BE49-F238E27FC236}">
                <a16:creationId xmlns:a16="http://schemas.microsoft.com/office/drawing/2014/main" id="{714C3432-9D6B-49B1-95ED-1BDBAA6C0C4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8951275-7CD2-46D4-BABD-BF87AA3625C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02</a:t>
            </a:r>
          </a:p>
        </p:txBody>
      </p:sp>
      <p:pic>
        <p:nvPicPr>
          <p:cNvPr id="7" name="Imagem 6">
            <a:extLst>
              <a:ext uri="{FF2B5EF4-FFF2-40B4-BE49-F238E27FC236}">
                <a16:creationId xmlns:a16="http://schemas.microsoft.com/office/drawing/2014/main" id="{ED010848-AAF4-45D0-82F9-F1E1D0B581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6E0218C7-140E-4BC4-A688-7734E9443A5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Painel lateral: seleciona a estação, um alvo ou o servidor local.</a:t>
            </a:r>
          </a:p>
        </p:txBody>
      </p:sp>
      <p:sp>
        <p:nvSpPr>
          <p:cNvPr id="9" name="CaixaDeTexto 8">
            <a:extLst>
              <a:ext uri="{FF2B5EF4-FFF2-40B4-BE49-F238E27FC236}">
                <a16:creationId xmlns:a16="http://schemas.microsoft.com/office/drawing/2014/main" id="{36D0CB6E-276E-4F27-822F-583A51D72E8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Dispositivo: configuração e mapa do item selecionado.</a:t>
            </a:r>
          </a:p>
        </p:txBody>
      </p:sp>
      <p:sp>
        <p:nvSpPr>
          <p:cNvPr id="10" name="CaixaDeTexto 9">
            <a:extLst>
              <a:ext uri="{FF2B5EF4-FFF2-40B4-BE49-F238E27FC236}">
                <a16:creationId xmlns:a16="http://schemas.microsoft.com/office/drawing/2014/main" id="{AD37560C-E787-4496-95B3-1355C489BC5D}"/>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do tempo e Avisos: acompanham comunicação e eventos.</a:t>
            </a:r>
          </a:p>
        </p:txBody>
      </p:sp>
      <p:sp>
        <p:nvSpPr>
          <p:cNvPr id="11" name="CaixaDeTexto 10">
            <a:extLst>
              <a:ext uri="{FF2B5EF4-FFF2-40B4-BE49-F238E27FC236}">
                <a16:creationId xmlns:a16="http://schemas.microsoft.com/office/drawing/2014/main" id="{763BD5EF-3917-4089-8655-C43E2C49508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Teste completo: ambiente próprio, com papel e alvos independentes.</a:t>
            </a:r>
          </a:p>
        </p:txBody>
      </p:sp>
      <p:sp>
        <p:nvSpPr>
          <p:cNvPr id="12" name="CaixaDeTexto 11">
            <a:extLst>
              <a:ext uri="{FF2B5EF4-FFF2-40B4-BE49-F238E27FC236}">
                <a16:creationId xmlns:a16="http://schemas.microsoft.com/office/drawing/2014/main" id="{71B6A982-DF37-448C-9B68-FA47EE6459D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34468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3B72D3B-4B97-4B17-A5DD-EB25E198B0D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428A63F0-AB09-4364-B3B8-3F6743216A8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Estação cliente: lista de servidores-alvo</a:t>
            </a:r>
          </a:p>
        </p:txBody>
      </p:sp>
      <p:sp>
        <p:nvSpPr>
          <p:cNvPr id="4" name="CaixaDeTexto 3">
            <a:extLst>
              <a:ext uri="{FF2B5EF4-FFF2-40B4-BE49-F238E27FC236}">
                <a16:creationId xmlns:a16="http://schemas.microsoft.com/office/drawing/2014/main" id="{7D188F9A-F190-4343-86BA-D9F216C9C4F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5F3EDD9-1E1E-433D-9258-6E1D01C97AC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03</a:t>
            </a:r>
          </a:p>
        </p:txBody>
      </p:sp>
      <p:pic>
        <p:nvPicPr>
          <p:cNvPr id="7" name="Imagem 6">
            <a:extLst>
              <a:ext uri="{FF2B5EF4-FFF2-40B4-BE49-F238E27FC236}">
                <a16:creationId xmlns:a16="http://schemas.microsoft.com/office/drawing/2014/main" id="{7855F8DA-4933-4945-9719-C55B3E485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957BE5BC-3D39-4B8D-8FBD-FF8E7C2CF9F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alvo tem nome, IP:porta, Unit ID, mapa e política TCP próprios.</a:t>
            </a:r>
          </a:p>
        </p:txBody>
      </p:sp>
      <p:sp>
        <p:nvSpPr>
          <p:cNvPr id="9" name="CaixaDeTexto 8">
            <a:extLst>
              <a:ext uri="{FF2B5EF4-FFF2-40B4-BE49-F238E27FC236}">
                <a16:creationId xmlns:a16="http://schemas.microsoft.com/office/drawing/2014/main" id="{8F00D8FC-4A58-4718-9B8B-EDB79735A2E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excluir: alteram o cadastro da estação.</a:t>
            </a:r>
          </a:p>
        </p:txBody>
      </p:sp>
      <p:sp>
        <p:nvSpPr>
          <p:cNvPr id="10" name="CaixaDeTexto 9">
            <a:extLst>
              <a:ext uri="{FF2B5EF4-FFF2-40B4-BE49-F238E27FC236}">
                <a16:creationId xmlns:a16="http://schemas.microsoft.com/office/drawing/2014/main" id="{5A826921-70FE-4DF6-AD62-D5178300DF2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Selecionar um alvo: abre suas configurações e seu mapa.</a:t>
            </a:r>
          </a:p>
        </p:txBody>
      </p:sp>
      <p:sp>
        <p:nvSpPr>
          <p:cNvPr id="11" name="CaixaDeTexto 10">
            <a:extLst>
              <a:ext uri="{FF2B5EF4-FFF2-40B4-BE49-F238E27FC236}">
                <a16:creationId xmlns:a16="http://schemas.microsoft.com/office/drawing/2014/main" id="{23492D3B-9D2D-4C86-9DE7-5C5C2A9275A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indica a operação daquela sessão, não de todos os alvos.</a:t>
            </a:r>
          </a:p>
        </p:txBody>
      </p:sp>
      <p:sp>
        <p:nvSpPr>
          <p:cNvPr id="12" name="CaixaDeTexto 11">
            <a:extLst>
              <a:ext uri="{FF2B5EF4-FFF2-40B4-BE49-F238E27FC236}">
                <a16:creationId xmlns:a16="http://schemas.microsoft.com/office/drawing/2014/main" id="{B9BD48E0-F937-4938-B1AC-6EB201B1C26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48791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083D26F-02CF-403C-A525-63474AB3127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61CDD65C-4540-4F55-AA0F-4DBEB6F8C89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destino da comunicação</a:t>
            </a:r>
          </a:p>
        </p:txBody>
      </p:sp>
      <p:sp>
        <p:nvSpPr>
          <p:cNvPr id="4" name="CaixaDeTexto 3">
            <a:extLst>
              <a:ext uri="{FF2B5EF4-FFF2-40B4-BE49-F238E27FC236}">
                <a16:creationId xmlns:a16="http://schemas.microsoft.com/office/drawing/2014/main" id="{66F5A335-150D-40F2-9B16-96981A0D626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27C261C-DD85-49AD-92A8-257DB699322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04</a:t>
            </a:r>
          </a:p>
        </p:txBody>
      </p:sp>
      <p:pic>
        <p:nvPicPr>
          <p:cNvPr id="7" name="Imagem 6">
            <a:extLst>
              <a:ext uri="{FF2B5EF4-FFF2-40B4-BE49-F238E27FC236}">
                <a16:creationId xmlns:a16="http://schemas.microsoft.com/office/drawing/2014/main" id="{6885DCA3-4754-48A4-A84B-C09E51025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72384A0E-25B5-487D-8B76-A6BA554A4A74}"/>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IP: servidor remoto. 127.0.0.1 consulta o próprio notebook.</a:t>
            </a:r>
          </a:p>
        </p:txBody>
      </p:sp>
      <p:sp>
        <p:nvSpPr>
          <p:cNvPr id="9" name="CaixaDeTexto 8">
            <a:extLst>
              <a:ext uri="{FF2B5EF4-FFF2-40B4-BE49-F238E27FC236}">
                <a16:creationId xmlns:a16="http://schemas.microsoft.com/office/drawing/2014/main" id="{0EEC958D-AC73-4E1C-81DF-978F218EFA8D}"/>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de serviço: porta real do listener. Exemplo: 1502.</a:t>
            </a:r>
          </a:p>
        </p:txBody>
      </p:sp>
      <p:sp>
        <p:nvSpPr>
          <p:cNvPr id="10" name="CaixaDeTexto 9">
            <a:extLst>
              <a:ext uri="{FF2B5EF4-FFF2-40B4-BE49-F238E27FC236}">
                <a16:creationId xmlns:a16="http://schemas.microsoft.com/office/drawing/2014/main" id="{46C404D0-68CB-455E-B887-E7F0EE56740C}"/>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destino lógico no MBAP, conforme a documentação.</a:t>
            </a:r>
          </a:p>
        </p:txBody>
      </p:sp>
      <p:sp>
        <p:nvSpPr>
          <p:cNvPr id="11" name="CaixaDeTexto 10">
            <a:extLst>
              <a:ext uri="{FF2B5EF4-FFF2-40B4-BE49-F238E27FC236}">
                <a16:creationId xmlns:a16="http://schemas.microsoft.com/office/drawing/2014/main" id="{23DB2381-0975-44D8-AABB-C11954567A23}"/>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confirma os campos. Cancelar mantém a configuração anterior.</a:t>
            </a:r>
          </a:p>
        </p:txBody>
      </p:sp>
      <p:sp>
        <p:nvSpPr>
          <p:cNvPr id="12" name="CaixaDeTexto 11">
            <a:extLst>
              <a:ext uri="{FF2B5EF4-FFF2-40B4-BE49-F238E27FC236}">
                <a16:creationId xmlns:a16="http://schemas.microsoft.com/office/drawing/2014/main" id="{C9403671-4C60-4837-9EB1-2CE3D407B6B7}"/>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46869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3855AB0-EED7-49A2-80C7-49B3812F011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77D1F711-A172-40F8-9B99-CB611D6F3F1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ciclo e conexão TCP</a:t>
            </a:r>
          </a:p>
        </p:txBody>
      </p:sp>
      <p:sp>
        <p:nvSpPr>
          <p:cNvPr id="4" name="CaixaDeTexto 3">
            <a:extLst>
              <a:ext uri="{FF2B5EF4-FFF2-40B4-BE49-F238E27FC236}">
                <a16:creationId xmlns:a16="http://schemas.microsoft.com/office/drawing/2014/main" id="{6F5583CE-B7A4-4DEE-BD0D-1A44BB312A0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5E1A8C2-B84D-42B8-B55A-F14D20EE5DA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05</a:t>
            </a:r>
          </a:p>
        </p:txBody>
      </p:sp>
      <p:pic>
        <p:nvPicPr>
          <p:cNvPr id="7" name="Imagem 6">
            <a:extLst>
              <a:ext uri="{FF2B5EF4-FFF2-40B4-BE49-F238E27FC236}">
                <a16:creationId xmlns:a16="http://schemas.microsoft.com/office/drawing/2014/main" id="{11B4759B-90FA-4E12-AE2B-4A05EA6F48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AA346730-C88E-4770-9D5E-4A9017B70783}"/>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de leitura: pausa em ms entre os ciclos de blocos.</a:t>
            </a:r>
          </a:p>
        </p:txBody>
      </p:sp>
      <p:sp>
        <p:nvSpPr>
          <p:cNvPr id="9" name="CaixaDeTexto 8">
            <a:extLst>
              <a:ext uri="{FF2B5EF4-FFF2-40B4-BE49-F238E27FC236}">
                <a16:creationId xmlns:a16="http://schemas.microsoft.com/office/drawing/2014/main" id="{49123659-CC2F-4B8F-A752-79082113F5BC}"/>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Marcado: mantém um socket TCP entre as requisições.</a:t>
            </a:r>
          </a:p>
        </p:txBody>
      </p:sp>
      <p:sp>
        <p:nvSpPr>
          <p:cNvPr id="10" name="CaixaDeTexto 9">
            <a:extLst>
              <a:ext uri="{FF2B5EF4-FFF2-40B4-BE49-F238E27FC236}">
                <a16:creationId xmlns:a16="http://schemas.microsoft.com/office/drawing/2014/main" id="{BE9EA5EA-2D92-49AB-A6D8-578DB736D407}"/>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Desmarcado: conecta e desconecta a cada requisição.</a:t>
            </a:r>
          </a:p>
        </p:txBody>
      </p:sp>
      <p:sp>
        <p:nvSpPr>
          <p:cNvPr id="11" name="CaixaDeTexto 10">
            <a:extLst>
              <a:ext uri="{FF2B5EF4-FFF2-40B4-BE49-F238E27FC236}">
                <a16:creationId xmlns:a16="http://schemas.microsoft.com/office/drawing/2014/main" id="{F119A685-DD6C-4C12-87C2-232C0BBDFD74}"/>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Conectar inicia leitura cíclica. Leitura única executa uma rodada.</a:t>
            </a:r>
          </a:p>
        </p:txBody>
      </p:sp>
      <p:sp>
        <p:nvSpPr>
          <p:cNvPr id="12" name="CaixaDeTexto 11">
            <a:extLst>
              <a:ext uri="{FF2B5EF4-FFF2-40B4-BE49-F238E27FC236}">
                <a16:creationId xmlns:a16="http://schemas.microsoft.com/office/drawing/2014/main" id="{3ED7E34D-05B4-4B69-9EE3-8E6CFD0C41CE}"/>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82244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4600E74-6E55-4AFF-B799-41FFC5B3088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7E0F39A4-60B4-4562-A66E-04518314D49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servidor: serviço local de simulação</a:t>
            </a:r>
          </a:p>
        </p:txBody>
      </p:sp>
      <p:sp>
        <p:nvSpPr>
          <p:cNvPr id="4" name="CaixaDeTexto 3">
            <a:extLst>
              <a:ext uri="{FF2B5EF4-FFF2-40B4-BE49-F238E27FC236}">
                <a16:creationId xmlns:a16="http://schemas.microsoft.com/office/drawing/2014/main" id="{9B1012E5-6BE0-4EAF-8353-AB5A4FCAEC8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721E639-DB42-4953-B494-22BDED42947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06</a:t>
            </a:r>
          </a:p>
        </p:txBody>
      </p:sp>
      <p:pic>
        <p:nvPicPr>
          <p:cNvPr id="7" name="Imagem 6">
            <a:extLst>
              <a:ext uri="{FF2B5EF4-FFF2-40B4-BE49-F238E27FC236}">
                <a16:creationId xmlns:a16="http://schemas.microsoft.com/office/drawing/2014/main" id="{81E3EEFF-6A0D-434F-AB19-1D78B74E6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69502"/>
            <a:ext cx="6350000" cy="3960395"/>
          </a:xfrm>
          <a:prstGeom prst="rect">
            <a:avLst/>
          </a:prstGeom>
        </p:spPr>
      </p:pic>
      <p:sp>
        <p:nvSpPr>
          <p:cNvPr id="8" name="CaixaDeTexto 7">
            <a:extLst>
              <a:ext uri="{FF2B5EF4-FFF2-40B4-BE49-F238E27FC236}">
                <a16:creationId xmlns:a16="http://schemas.microsoft.com/office/drawing/2014/main" id="{F6A93786-A480-47A4-BF38-FA4FFB40F47D}"/>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de escuta: IP local onde o serviço aceitará conexões.</a:t>
            </a:r>
          </a:p>
        </p:txBody>
      </p:sp>
      <p:sp>
        <p:nvSpPr>
          <p:cNvPr id="9" name="CaixaDeTexto 8">
            <a:extLst>
              <a:ext uri="{FF2B5EF4-FFF2-40B4-BE49-F238E27FC236}">
                <a16:creationId xmlns:a16="http://schemas.microsoft.com/office/drawing/2014/main" id="{E212DE5E-1592-4FDD-BB0A-E0662551F64E}"/>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0.0.0.0: escuta nas interfaces locais disponíveis.</a:t>
            </a:r>
          </a:p>
        </p:txBody>
      </p:sp>
      <p:sp>
        <p:nvSpPr>
          <p:cNvPr id="10" name="CaixaDeTexto 9">
            <a:extLst>
              <a:ext uri="{FF2B5EF4-FFF2-40B4-BE49-F238E27FC236}">
                <a16:creationId xmlns:a16="http://schemas.microsoft.com/office/drawing/2014/main" id="{15687DEE-7CD9-4C88-BB03-A743F674999E}"/>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Unit ID: parâmetros que os clientes deverão utilizar.</a:t>
            </a:r>
          </a:p>
        </p:txBody>
      </p:sp>
      <p:sp>
        <p:nvSpPr>
          <p:cNvPr id="11" name="CaixaDeTexto 10">
            <a:extLst>
              <a:ext uri="{FF2B5EF4-FFF2-40B4-BE49-F238E27FC236}">
                <a16:creationId xmlns:a16="http://schemas.microsoft.com/office/drawing/2014/main" id="{E49DEE67-E30C-49FF-869E-DEF3F2310FA7}"/>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servidor abre o listener. Parar servidor encerra o serviço.</a:t>
            </a:r>
          </a:p>
        </p:txBody>
      </p:sp>
      <p:sp>
        <p:nvSpPr>
          <p:cNvPr id="12" name="CaixaDeTexto 11">
            <a:extLst>
              <a:ext uri="{FF2B5EF4-FFF2-40B4-BE49-F238E27FC236}">
                <a16:creationId xmlns:a16="http://schemas.microsoft.com/office/drawing/2014/main" id="{F78F5B42-5FD0-43F7-9BB2-9C689DF2C3A3}"/>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323638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B421A22-3E0B-4535-AE90-E264DCABA01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B0D0B2A9-C8FC-49A0-A8B0-88D86792140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 editar o cadastro selecionado</a:t>
            </a:r>
          </a:p>
        </p:txBody>
      </p:sp>
      <p:sp>
        <p:nvSpPr>
          <p:cNvPr id="4" name="CaixaDeTexto 3">
            <a:extLst>
              <a:ext uri="{FF2B5EF4-FFF2-40B4-BE49-F238E27FC236}">
                <a16:creationId xmlns:a16="http://schemas.microsoft.com/office/drawing/2014/main" id="{A271AB79-B691-4F07-AAC0-858CF3DF6C1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BF8AEE8-9B62-4068-A7F2-B051C3B9A2D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07</a:t>
            </a:r>
          </a:p>
        </p:txBody>
      </p:sp>
      <p:pic>
        <p:nvPicPr>
          <p:cNvPr id="7" name="Imagem 6">
            <a:extLst>
              <a:ext uri="{FF2B5EF4-FFF2-40B4-BE49-F238E27FC236}">
                <a16:creationId xmlns:a16="http://schemas.microsoft.com/office/drawing/2014/main" id="{E6FF416A-4FE7-4F33-BAFB-6AE202FBC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333" y="1765300"/>
            <a:ext cx="6477335" cy="3073400"/>
          </a:xfrm>
          <a:prstGeom prst="rect">
            <a:avLst/>
          </a:prstGeom>
        </p:spPr>
      </p:pic>
      <p:sp>
        <p:nvSpPr>
          <p:cNvPr id="8" name="CaixaDeTexto 7">
            <a:extLst>
              <a:ext uri="{FF2B5EF4-FFF2-40B4-BE49-F238E27FC236}">
                <a16:creationId xmlns:a16="http://schemas.microsoft.com/office/drawing/2014/main" id="{C8D2FAE6-4ACF-4D97-94DC-D41B5C5B4A8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identificação local para facilitar a operação.</a:t>
            </a:r>
          </a:p>
        </p:txBody>
      </p:sp>
      <p:sp>
        <p:nvSpPr>
          <p:cNvPr id="9" name="CaixaDeTexto 8">
            <a:extLst>
              <a:ext uri="{FF2B5EF4-FFF2-40B4-BE49-F238E27FC236}">
                <a16:creationId xmlns:a16="http://schemas.microsoft.com/office/drawing/2014/main" id="{E9056114-4135-4040-BD7F-125A91FE0AD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porta e ID: endpoint e unidade deste alvo.</a:t>
            </a:r>
          </a:p>
        </p:txBody>
      </p:sp>
      <p:sp>
        <p:nvSpPr>
          <p:cNvPr id="10" name="CaixaDeTexto 9">
            <a:extLst>
              <a:ext uri="{FF2B5EF4-FFF2-40B4-BE49-F238E27FC236}">
                <a16:creationId xmlns:a16="http://schemas.microsoft.com/office/drawing/2014/main" id="{D06FC9A9-4674-4393-BD54-EF983824E3F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configuração: valida e salva os campos editados.</a:t>
            </a:r>
          </a:p>
        </p:txBody>
      </p:sp>
      <p:sp>
        <p:nvSpPr>
          <p:cNvPr id="11" name="CaixaDeTexto 10">
            <a:extLst>
              <a:ext uri="{FF2B5EF4-FFF2-40B4-BE49-F238E27FC236}">
                <a16:creationId xmlns:a16="http://schemas.microsoft.com/office/drawing/2014/main" id="{71085B2F-800A-471B-BCA7-01C52409679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Descartar alterações: restaura os valores antes da edição.</a:t>
            </a:r>
          </a:p>
        </p:txBody>
      </p:sp>
      <p:sp>
        <p:nvSpPr>
          <p:cNvPr id="12" name="CaixaDeTexto 11">
            <a:extLst>
              <a:ext uri="{FF2B5EF4-FFF2-40B4-BE49-F238E27FC236}">
                <a16:creationId xmlns:a16="http://schemas.microsoft.com/office/drawing/2014/main" id="{F97177D7-AAD8-42E2-8AD4-2054819E8DE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96210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AA3B75D-49A7-4842-B293-3557783489A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9080B468-B769-437E-B35C-38734E07E5F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o que será lido</a:t>
            </a:r>
          </a:p>
        </p:txBody>
      </p:sp>
      <p:sp>
        <p:nvSpPr>
          <p:cNvPr id="4" name="CaixaDeTexto 3">
            <a:extLst>
              <a:ext uri="{FF2B5EF4-FFF2-40B4-BE49-F238E27FC236}">
                <a16:creationId xmlns:a16="http://schemas.microsoft.com/office/drawing/2014/main" id="{CD2AFA48-7AEB-4DEA-AFF7-6C6254CA9CE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66EA1E7-8652-4315-AA73-5D870CEBC95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08</a:t>
            </a:r>
          </a:p>
        </p:txBody>
      </p:sp>
      <p:pic>
        <p:nvPicPr>
          <p:cNvPr id="7" name="Imagem 6">
            <a:extLst>
              <a:ext uri="{FF2B5EF4-FFF2-40B4-BE49-F238E27FC236}">
                <a16:creationId xmlns:a16="http://schemas.microsoft.com/office/drawing/2014/main" id="{B7813E4D-58EB-4350-AE30-43F5409509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E9A4563A-A407-4795-8023-29628D823BB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inclui o bloco no ciclo de leitura.</a:t>
            </a:r>
          </a:p>
        </p:txBody>
      </p:sp>
      <p:sp>
        <p:nvSpPr>
          <p:cNvPr id="9" name="CaixaDeTexto 8">
            <a:extLst>
              <a:ext uri="{FF2B5EF4-FFF2-40B4-BE49-F238E27FC236}">
                <a16:creationId xmlns:a16="http://schemas.microsoft.com/office/drawing/2014/main" id="{B07FB4A3-4D9D-4F95-BEC8-B74FABEB6C2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rótulo local. FC: define COIL, DI, HR ou IR.</a:t>
            </a:r>
          </a:p>
        </p:txBody>
      </p:sp>
      <p:sp>
        <p:nvSpPr>
          <p:cNvPr id="10" name="CaixaDeTexto 9">
            <a:extLst>
              <a:ext uri="{FF2B5EF4-FFF2-40B4-BE49-F238E27FC236}">
                <a16:creationId xmlns:a16="http://schemas.microsoft.com/office/drawing/2014/main" id="{2D61ADBA-F0EC-4A4C-9973-A060CD4BAAD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offset base zero. Qtd: pontos na requisição.</a:t>
            </a:r>
          </a:p>
        </p:txBody>
      </p:sp>
      <p:sp>
        <p:nvSpPr>
          <p:cNvPr id="11" name="CaixaDeTexto 10">
            <a:extLst>
              <a:ext uri="{FF2B5EF4-FFF2-40B4-BE49-F238E27FC236}">
                <a16:creationId xmlns:a16="http://schemas.microsoft.com/office/drawing/2014/main" id="{4481A4F2-F014-4283-A19E-806AFFACEF6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remover linha: modificam o mapa de leitura.</a:t>
            </a:r>
          </a:p>
        </p:txBody>
      </p:sp>
      <p:sp>
        <p:nvSpPr>
          <p:cNvPr id="12" name="CaixaDeTexto 11">
            <a:extLst>
              <a:ext uri="{FF2B5EF4-FFF2-40B4-BE49-F238E27FC236}">
                <a16:creationId xmlns:a16="http://schemas.microsoft.com/office/drawing/2014/main" id="{77B92C4F-EFDC-4409-8908-CAE1CE2F23D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82981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896442E-D575-440F-9177-E36B7E08680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2E76B191-F0C1-4B26-862B-C0475D781F2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retorno e atualidade</a:t>
            </a:r>
          </a:p>
        </p:txBody>
      </p:sp>
      <p:sp>
        <p:nvSpPr>
          <p:cNvPr id="4" name="CaixaDeTexto 3">
            <a:extLst>
              <a:ext uri="{FF2B5EF4-FFF2-40B4-BE49-F238E27FC236}">
                <a16:creationId xmlns:a16="http://schemas.microsoft.com/office/drawing/2014/main" id="{8BCE26E7-802F-46F6-902C-9363FE853FC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9429291-0299-4A84-A96C-F801F8589A8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09</a:t>
            </a:r>
          </a:p>
        </p:txBody>
      </p:sp>
      <p:pic>
        <p:nvPicPr>
          <p:cNvPr id="7" name="Imagem 6">
            <a:extLst>
              <a:ext uri="{FF2B5EF4-FFF2-40B4-BE49-F238E27FC236}">
                <a16:creationId xmlns:a16="http://schemas.microsoft.com/office/drawing/2014/main" id="{1D9AB26C-D527-4FDF-AC9A-5EC50C2BB1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FB850AD7-7FCF-456C-9F76-3C9A769BDFE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Último valor: sequência de amostras do bloco, na ordem dos offsets.</a:t>
            </a:r>
          </a:p>
        </p:txBody>
      </p:sp>
      <p:sp>
        <p:nvSpPr>
          <p:cNvPr id="9" name="CaixaDeTexto 8">
            <a:extLst>
              <a:ext uri="{FF2B5EF4-FFF2-40B4-BE49-F238E27FC236}">
                <a16:creationId xmlns:a16="http://schemas.microsoft.com/office/drawing/2014/main" id="{8F67E49E-19C1-42C0-8656-0F67F43D933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resultado da leitura, inclusive exceção ou falha.</a:t>
            </a:r>
          </a:p>
        </p:txBody>
      </p:sp>
      <p:sp>
        <p:nvSpPr>
          <p:cNvPr id="10" name="CaixaDeTexto 9">
            <a:extLst>
              <a:ext uri="{FF2B5EF4-FFF2-40B4-BE49-F238E27FC236}">
                <a16:creationId xmlns:a16="http://schemas.microsoft.com/office/drawing/2014/main" id="{A9B81BF1-421F-48F9-995B-3F1C196A7CC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instante do resultado mais recente.</a:t>
            </a:r>
          </a:p>
        </p:txBody>
      </p:sp>
      <p:sp>
        <p:nvSpPr>
          <p:cNvPr id="11" name="CaixaDeTexto 10">
            <a:extLst>
              <a:ext uri="{FF2B5EF4-FFF2-40B4-BE49-F238E27FC236}">
                <a16:creationId xmlns:a16="http://schemas.microsoft.com/office/drawing/2014/main" id="{3DE1EFDF-9F1B-4817-8F68-D35914A1CDF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Alterar função ou faixa reconstrói o mapa e invalida dados antigos.</a:t>
            </a:r>
          </a:p>
        </p:txBody>
      </p:sp>
      <p:sp>
        <p:nvSpPr>
          <p:cNvPr id="12" name="CaixaDeTexto 11">
            <a:extLst>
              <a:ext uri="{FF2B5EF4-FFF2-40B4-BE49-F238E27FC236}">
                <a16:creationId xmlns:a16="http://schemas.microsoft.com/office/drawing/2014/main" id="{2AD4509C-E3B2-4C9E-AE99-EFE06D29C48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06035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4F27869-CD7F-4979-8182-0D2415E8B3E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0ED0C321-09D7-4F77-9FD0-5E6DDAE70C9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comunicação: pontos por área</a:t>
            </a:r>
          </a:p>
        </p:txBody>
      </p:sp>
      <p:sp>
        <p:nvSpPr>
          <p:cNvPr id="4" name="CaixaDeTexto 3">
            <a:extLst>
              <a:ext uri="{FF2B5EF4-FFF2-40B4-BE49-F238E27FC236}">
                <a16:creationId xmlns:a16="http://schemas.microsoft.com/office/drawing/2014/main" id="{234D5999-BDEF-4A21-AD89-FE541CA8F11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9E504C9-0DD6-47EA-B6FB-F57A1085AB9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10</a:t>
            </a:r>
          </a:p>
        </p:txBody>
      </p:sp>
      <p:pic>
        <p:nvPicPr>
          <p:cNvPr id="7" name="Imagem 6">
            <a:extLst>
              <a:ext uri="{FF2B5EF4-FFF2-40B4-BE49-F238E27FC236}">
                <a16:creationId xmlns:a16="http://schemas.microsoft.com/office/drawing/2014/main" id="{CB317735-38EE-4EC1-9973-2A2D5D1A5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504" y="1765300"/>
            <a:ext cx="10402993" cy="3073400"/>
          </a:xfrm>
          <a:prstGeom prst="rect">
            <a:avLst/>
          </a:prstGeom>
        </p:spPr>
      </p:pic>
      <p:sp>
        <p:nvSpPr>
          <p:cNvPr id="8" name="CaixaDeTexto 7">
            <a:extLst>
              <a:ext uri="{FF2B5EF4-FFF2-40B4-BE49-F238E27FC236}">
                <a16:creationId xmlns:a16="http://schemas.microsoft.com/office/drawing/2014/main" id="{B548DDE7-E143-43AA-B531-570131BF04A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HR, IR, COIL e DISCRETE: separam as áreas de dados.</a:t>
            </a:r>
          </a:p>
        </p:txBody>
      </p:sp>
      <p:sp>
        <p:nvSpPr>
          <p:cNvPr id="9" name="CaixaDeTexto 8">
            <a:extLst>
              <a:ext uri="{FF2B5EF4-FFF2-40B4-BE49-F238E27FC236}">
                <a16:creationId xmlns:a16="http://schemas.microsoft.com/office/drawing/2014/main" id="{38C6BBE6-B6F0-4F19-ABAE-DA41AA15539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e endereço: mostram qual bloco originou o ponto.</a:t>
            </a:r>
          </a:p>
        </p:txBody>
      </p:sp>
      <p:sp>
        <p:nvSpPr>
          <p:cNvPr id="10" name="CaixaDeTexto 9">
            <a:extLst>
              <a:ext uri="{FF2B5EF4-FFF2-40B4-BE49-F238E27FC236}">
                <a16:creationId xmlns:a16="http://schemas.microsoft.com/office/drawing/2014/main" id="{6EDBA204-C9A5-4A7D-A0D4-933D911ACC5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qualidade e hora: precisam ser avaliados em conjunto.</a:t>
            </a:r>
          </a:p>
        </p:txBody>
      </p:sp>
      <p:sp>
        <p:nvSpPr>
          <p:cNvPr id="11" name="CaixaDeTexto 10">
            <a:extLst>
              <a:ext uri="{FF2B5EF4-FFF2-40B4-BE49-F238E27FC236}">
                <a16:creationId xmlns:a16="http://schemas.microsoft.com/office/drawing/2014/main" id="{BAF806A4-AC31-477B-9E2E-7B74D13B876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Duplo clique: abre escrita manual apenas quando permitida.</a:t>
            </a:r>
          </a:p>
        </p:txBody>
      </p:sp>
      <p:sp>
        <p:nvSpPr>
          <p:cNvPr id="12" name="CaixaDeTexto 11">
            <a:extLst>
              <a:ext uri="{FF2B5EF4-FFF2-40B4-BE49-F238E27FC236}">
                <a16:creationId xmlns:a16="http://schemas.microsoft.com/office/drawing/2014/main" id="{7C9BEEE2-3F56-42BE-A20C-8A794DF60D3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81232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74B40D1-8AAF-42C9-A49A-5EDEE99F96D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0701107A-9E26-42E8-AAE7-DA2F145FDB8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endereços: visão visual e paginação</a:t>
            </a:r>
          </a:p>
        </p:txBody>
      </p:sp>
      <p:sp>
        <p:nvSpPr>
          <p:cNvPr id="4" name="CaixaDeTexto 3">
            <a:extLst>
              <a:ext uri="{FF2B5EF4-FFF2-40B4-BE49-F238E27FC236}">
                <a16:creationId xmlns:a16="http://schemas.microsoft.com/office/drawing/2014/main" id="{CFED79D4-3573-46A2-A809-F6C2F18F4A1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D9020E7-D192-4A9B-A721-134B5A92C50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11</a:t>
            </a:r>
          </a:p>
        </p:txBody>
      </p:sp>
      <p:pic>
        <p:nvPicPr>
          <p:cNvPr id="7" name="Imagem 6">
            <a:extLst>
              <a:ext uri="{FF2B5EF4-FFF2-40B4-BE49-F238E27FC236}">
                <a16:creationId xmlns:a16="http://schemas.microsoft.com/office/drawing/2014/main" id="{34991E76-885E-4A49-A2F5-DCC58498A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110" y="1765300"/>
            <a:ext cx="8173781" cy="3073400"/>
          </a:xfrm>
          <a:prstGeom prst="rect">
            <a:avLst/>
          </a:prstGeom>
        </p:spPr>
      </p:pic>
      <p:sp>
        <p:nvSpPr>
          <p:cNvPr id="8" name="CaixaDeTexto 7">
            <a:extLst>
              <a:ext uri="{FF2B5EF4-FFF2-40B4-BE49-F238E27FC236}">
                <a16:creationId xmlns:a16="http://schemas.microsoft.com/office/drawing/2014/main" id="{04190338-99BC-4B1F-8884-DD48D6879B6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Área: escolhe o tipo de dado que será apresentado.</a:t>
            </a:r>
          </a:p>
        </p:txBody>
      </p:sp>
      <p:sp>
        <p:nvSpPr>
          <p:cNvPr id="9" name="CaixaDeTexto 8">
            <a:extLst>
              <a:ext uri="{FF2B5EF4-FFF2-40B4-BE49-F238E27FC236}">
                <a16:creationId xmlns:a16="http://schemas.microsoft.com/office/drawing/2014/main" id="{7FDCF495-9F0A-41EB-A5D0-9DF78298603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posição mostra endereço, valor e estado da amostra.</a:t>
            </a:r>
          </a:p>
        </p:txBody>
      </p:sp>
      <p:sp>
        <p:nvSpPr>
          <p:cNvPr id="10" name="CaixaDeTexto 9">
            <a:extLst>
              <a:ext uri="{FF2B5EF4-FFF2-40B4-BE49-F238E27FC236}">
                <a16:creationId xmlns:a16="http://schemas.microsoft.com/office/drawing/2014/main" id="{0E6E71B2-A371-4BE2-8E6B-7228E21F6AA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Localização e páginas: ajudam a navegar em mapas grandes.</a:t>
            </a:r>
          </a:p>
        </p:txBody>
      </p:sp>
      <p:sp>
        <p:nvSpPr>
          <p:cNvPr id="11" name="CaixaDeTexto 10">
            <a:extLst>
              <a:ext uri="{FF2B5EF4-FFF2-40B4-BE49-F238E27FC236}">
                <a16:creationId xmlns:a16="http://schemas.microsoft.com/office/drawing/2014/main" id="{75BEC14A-2FC0-4657-9D1F-43F6539F340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Ativar um ponto: usa a mesma regra de escrita do mapa em tabela.</a:t>
            </a:r>
          </a:p>
        </p:txBody>
      </p:sp>
      <p:sp>
        <p:nvSpPr>
          <p:cNvPr id="12" name="CaixaDeTexto 11">
            <a:extLst>
              <a:ext uri="{FF2B5EF4-FFF2-40B4-BE49-F238E27FC236}">
                <a16:creationId xmlns:a16="http://schemas.microsoft.com/office/drawing/2014/main" id="{0DB6BD81-4DEA-4251-9901-58CC3159679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82671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9AA08E9-BF45-47DD-B08A-AB3EF869C66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666F7EC2-364F-4AB0-9CA2-CDC38010397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Faixas do servidor: regiões disponibilizadas</a:t>
            </a:r>
          </a:p>
        </p:txBody>
      </p:sp>
      <p:sp>
        <p:nvSpPr>
          <p:cNvPr id="4" name="CaixaDeTexto 3">
            <a:extLst>
              <a:ext uri="{FF2B5EF4-FFF2-40B4-BE49-F238E27FC236}">
                <a16:creationId xmlns:a16="http://schemas.microsoft.com/office/drawing/2014/main" id="{D3AEAA97-F0C0-41C4-9C5D-9C0331D5467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DC81D70-757C-47BA-A2E9-7DBE7913B17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12</a:t>
            </a:r>
          </a:p>
        </p:txBody>
      </p:sp>
      <p:pic>
        <p:nvPicPr>
          <p:cNvPr id="7" name="Imagem 6">
            <a:extLst>
              <a:ext uri="{FF2B5EF4-FFF2-40B4-BE49-F238E27FC236}">
                <a16:creationId xmlns:a16="http://schemas.microsoft.com/office/drawing/2014/main" id="{079CDB20-E559-4A8B-915E-36442335B1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00512"/>
            <a:ext cx="10820400" cy="3002976"/>
          </a:xfrm>
          <a:prstGeom prst="rect">
            <a:avLst/>
          </a:prstGeom>
        </p:spPr>
      </p:pic>
      <p:sp>
        <p:nvSpPr>
          <p:cNvPr id="8" name="CaixaDeTexto 7">
            <a:extLst>
              <a:ext uri="{FF2B5EF4-FFF2-40B4-BE49-F238E27FC236}">
                <a16:creationId xmlns:a16="http://schemas.microsoft.com/office/drawing/2014/main" id="{05357C9D-96D5-4AC8-9D98-C39A967E8B1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e Tipo: escolhem as regiões presentes no mapa local.</a:t>
            </a:r>
          </a:p>
        </p:txBody>
      </p:sp>
      <p:sp>
        <p:nvSpPr>
          <p:cNvPr id="9" name="CaixaDeTexto 8">
            <a:extLst>
              <a:ext uri="{FF2B5EF4-FFF2-40B4-BE49-F238E27FC236}">
                <a16:creationId xmlns:a16="http://schemas.microsoft.com/office/drawing/2014/main" id="{7F04CDAD-53C4-4221-B6DD-686596D98AC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Prefixo: identifica os pontos. Início e Qtd: definem o range.</a:t>
            </a:r>
          </a:p>
        </p:txBody>
      </p:sp>
      <p:sp>
        <p:nvSpPr>
          <p:cNvPr id="10" name="CaixaDeTexto 9">
            <a:extLst>
              <a:ext uri="{FF2B5EF4-FFF2-40B4-BE49-F238E27FC236}">
                <a16:creationId xmlns:a16="http://schemas.microsoft.com/office/drawing/2014/main" id="{3BB0373F-93E6-4092-9182-C61FB1FAB0C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inicial: conteúdo de partida. Inc: incrementa por posição.</a:t>
            </a:r>
          </a:p>
        </p:txBody>
      </p:sp>
      <p:sp>
        <p:nvSpPr>
          <p:cNvPr id="11" name="CaixaDeTexto 10">
            <a:extLst>
              <a:ext uri="{FF2B5EF4-FFF2-40B4-BE49-F238E27FC236}">
                <a16:creationId xmlns:a16="http://schemas.microsoft.com/office/drawing/2014/main" id="{663D1E31-88B0-4F5E-A5EB-4E66BB9B3F8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R/W: permite escrita remota em COIL e HR.</a:t>
            </a:r>
          </a:p>
        </p:txBody>
      </p:sp>
      <p:sp>
        <p:nvSpPr>
          <p:cNvPr id="12" name="CaixaDeTexto 11">
            <a:extLst>
              <a:ext uri="{FF2B5EF4-FFF2-40B4-BE49-F238E27FC236}">
                <a16:creationId xmlns:a16="http://schemas.microsoft.com/office/drawing/2014/main" id="{A010A2B8-C1F7-4E7B-8136-4BC7ECC9A6B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122512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9A07FDE-E760-47D1-84CC-FBD1D1951DD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2B5558B5-D277-4529-9DF7-09675162C74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Servidor: aplicar mapa e editar valores</a:t>
            </a:r>
          </a:p>
        </p:txBody>
      </p:sp>
      <p:sp>
        <p:nvSpPr>
          <p:cNvPr id="4" name="CaixaDeTexto 3">
            <a:extLst>
              <a:ext uri="{FF2B5EF4-FFF2-40B4-BE49-F238E27FC236}">
                <a16:creationId xmlns:a16="http://schemas.microsoft.com/office/drawing/2014/main" id="{3CDA325A-E145-4C82-B643-54BC7FF90C8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6A79E86-81FB-4B48-B2A5-4DA8E9B222E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13</a:t>
            </a:r>
          </a:p>
        </p:txBody>
      </p:sp>
      <p:pic>
        <p:nvPicPr>
          <p:cNvPr id="7" name="Imagem 6">
            <a:extLst>
              <a:ext uri="{FF2B5EF4-FFF2-40B4-BE49-F238E27FC236}">
                <a16:creationId xmlns:a16="http://schemas.microsoft.com/office/drawing/2014/main" id="{EDA43289-E573-40D0-AD1F-4DBE17E327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827" y="1765300"/>
            <a:ext cx="9278346" cy="3073400"/>
          </a:xfrm>
          <a:prstGeom prst="rect">
            <a:avLst/>
          </a:prstGeom>
        </p:spPr>
      </p:pic>
      <p:sp>
        <p:nvSpPr>
          <p:cNvPr id="8" name="CaixaDeTexto 7">
            <a:extLst>
              <a:ext uri="{FF2B5EF4-FFF2-40B4-BE49-F238E27FC236}">
                <a16:creationId xmlns:a16="http://schemas.microsoft.com/office/drawing/2014/main" id="{DC1B57F5-F7A4-465E-B285-51F3EE03C21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mapa recompõe a memória a partir das faixas habilitadas.</a:t>
            </a:r>
          </a:p>
        </p:txBody>
      </p:sp>
      <p:sp>
        <p:nvSpPr>
          <p:cNvPr id="9" name="CaixaDeTexto 8">
            <a:extLst>
              <a:ext uri="{FF2B5EF4-FFF2-40B4-BE49-F238E27FC236}">
                <a16:creationId xmlns:a16="http://schemas.microsoft.com/office/drawing/2014/main" id="{408300F8-B55A-4580-9281-C3A6D2387F3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Tipo, endereço e nome: identificam o ponto efetivo.</a:t>
            </a:r>
          </a:p>
        </p:txBody>
      </p:sp>
      <p:sp>
        <p:nvSpPr>
          <p:cNvPr id="10" name="CaixaDeTexto 9">
            <a:extLst>
              <a:ext uri="{FF2B5EF4-FFF2-40B4-BE49-F238E27FC236}">
                <a16:creationId xmlns:a16="http://schemas.microsoft.com/office/drawing/2014/main" id="{AC424A02-A336-4194-8FE5-69A2F7C410F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conteúdo que o simulador retorna aos clientes.</a:t>
            </a:r>
          </a:p>
        </p:txBody>
      </p:sp>
      <p:sp>
        <p:nvSpPr>
          <p:cNvPr id="11" name="CaixaDeTexto 10">
            <a:extLst>
              <a:ext uri="{FF2B5EF4-FFF2-40B4-BE49-F238E27FC236}">
                <a16:creationId xmlns:a16="http://schemas.microsoft.com/office/drawing/2014/main" id="{A8558BAF-B248-4790-91D2-F18E5C77BAD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Acesso e atualizado: permissão remota e horário da alteração.</a:t>
            </a:r>
          </a:p>
        </p:txBody>
      </p:sp>
      <p:sp>
        <p:nvSpPr>
          <p:cNvPr id="12" name="CaixaDeTexto 11">
            <a:extLst>
              <a:ext uri="{FF2B5EF4-FFF2-40B4-BE49-F238E27FC236}">
                <a16:creationId xmlns:a16="http://schemas.microsoft.com/office/drawing/2014/main" id="{8DBC29D6-B1A4-4267-8C28-3678FB7F2D7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0090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81D5143-4166-4B31-936F-F867AB7C25E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7844FBBD-065D-495C-A597-8E2A971C173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Popup de escrita: operação manual controlada</a:t>
            </a:r>
          </a:p>
        </p:txBody>
      </p:sp>
      <p:sp>
        <p:nvSpPr>
          <p:cNvPr id="4" name="CaixaDeTexto 3">
            <a:extLst>
              <a:ext uri="{FF2B5EF4-FFF2-40B4-BE49-F238E27FC236}">
                <a16:creationId xmlns:a16="http://schemas.microsoft.com/office/drawing/2014/main" id="{C2272F97-7C3D-45B3-833E-E0EA7B53C48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FA27222-9787-4030-8BA5-31EEF84113C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14</a:t>
            </a:r>
          </a:p>
        </p:txBody>
      </p:sp>
      <p:pic>
        <p:nvPicPr>
          <p:cNvPr id="7" name="Imagem 6">
            <a:extLst>
              <a:ext uri="{FF2B5EF4-FFF2-40B4-BE49-F238E27FC236}">
                <a16:creationId xmlns:a16="http://schemas.microsoft.com/office/drawing/2014/main" id="{87BAB32C-7919-4FB4-A832-433DC57B6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574" y="1841499"/>
            <a:ext cx="4760452" cy="4216401"/>
          </a:xfrm>
          <a:prstGeom prst="rect">
            <a:avLst/>
          </a:prstGeom>
        </p:spPr>
      </p:pic>
      <p:sp>
        <p:nvSpPr>
          <p:cNvPr id="8" name="CaixaDeTexto 7">
            <a:extLst>
              <a:ext uri="{FF2B5EF4-FFF2-40B4-BE49-F238E27FC236}">
                <a16:creationId xmlns:a16="http://schemas.microsoft.com/office/drawing/2014/main" id="{EF21A406-0E96-4E9A-93CF-5E40E22970C8}"/>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região: conferem onde a alteração ocorrerá.</a:t>
            </a:r>
          </a:p>
        </p:txBody>
      </p:sp>
      <p:sp>
        <p:nvSpPr>
          <p:cNvPr id="9" name="CaixaDeTexto 8">
            <a:extLst>
              <a:ext uri="{FF2B5EF4-FFF2-40B4-BE49-F238E27FC236}">
                <a16:creationId xmlns:a16="http://schemas.microsoft.com/office/drawing/2014/main" id="{58EADBCD-F68A-4BE8-831D-96D4BD3EF01E}"/>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inicial e final: delimitam o intervalo inclusivo.</a:t>
            </a:r>
          </a:p>
        </p:txBody>
      </p:sp>
      <p:sp>
        <p:nvSpPr>
          <p:cNvPr id="10" name="CaixaDeTexto 9">
            <a:extLst>
              <a:ext uri="{FF2B5EF4-FFF2-40B4-BE49-F238E27FC236}">
                <a16:creationId xmlns:a16="http://schemas.microsoft.com/office/drawing/2014/main" id="{E5DB1C7A-8C5F-4652-AC2C-C00DE5B0674C}"/>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novo dado que a operação enviará.</a:t>
            </a:r>
          </a:p>
        </p:txBody>
      </p:sp>
      <p:sp>
        <p:nvSpPr>
          <p:cNvPr id="11" name="CaixaDeTexto 10">
            <a:extLst>
              <a:ext uri="{FF2B5EF4-FFF2-40B4-BE49-F238E27FC236}">
                <a16:creationId xmlns:a16="http://schemas.microsoft.com/office/drawing/2014/main" id="{95C401DE-AEE2-4016-AA79-3EE93DDE2AE6}"/>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executa a escrita. Cancelar fecha sem enviar.</a:t>
            </a:r>
          </a:p>
        </p:txBody>
      </p:sp>
      <p:sp>
        <p:nvSpPr>
          <p:cNvPr id="12" name="CaixaDeTexto 11">
            <a:extLst>
              <a:ext uri="{FF2B5EF4-FFF2-40B4-BE49-F238E27FC236}">
                <a16:creationId xmlns:a16="http://schemas.microsoft.com/office/drawing/2014/main" id="{F6329BE3-37D9-4073-B2BF-728B424223B4}"/>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97244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E42B0DC-7115-412D-BE49-8223D858153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C84A7C5C-41C2-4706-BEEC-78904DCD374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cada operação do software</a:t>
            </a:r>
          </a:p>
        </p:txBody>
      </p:sp>
      <p:sp>
        <p:nvSpPr>
          <p:cNvPr id="4" name="CaixaDeTexto 3">
            <a:extLst>
              <a:ext uri="{FF2B5EF4-FFF2-40B4-BE49-F238E27FC236}">
                <a16:creationId xmlns:a16="http://schemas.microsoft.com/office/drawing/2014/main" id="{63984B24-94C4-40C4-82A4-92257EE0A6B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3DAE59D-D6C6-4B8B-B821-800F8D4167D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15</a:t>
            </a:r>
          </a:p>
        </p:txBody>
      </p:sp>
      <p:pic>
        <p:nvPicPr>
          <p:cNvPr id="7" name="Imagem 6">
            <a:extLst>
              <a:ext uri="{FF2B5EF4-FFF2-40B4-BE49-F238E27FC236}">
                <a16:creationId xmlns:a16="http://schemas.microsoft.com/office/drawing/2014/main" id="{9CBAFBBA-9903-4C97-801A-DA3BDCFF2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8E9591F7-C92B-490E-ABBF-83D794725C6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sessão, tipo e endpoint: identificam o evento.</a:t>
            </a:r>
          </a:p>
        </p:txBody>
      </p:sp>
      <p:sp>
        <p:nvSpPr>
          <p:cNvPr id="9" name="CaixaDeTexto 8">
            <a:extLst>
              <a:ext uri="{FF2B5EF4-FFF2-40B4-BE49-F238E27FC236}">
                <a16:creationId xmlns:a16="http://schemas.microsoft.com/office/drawing/2014/main" id="{CC0BBD66-8959-4306-9073-56205F5260C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TID e UID: associam transação e destino lógico.</a:t>
            </a:r>
          </a:p>
        </p:txBody>
      </p:sp>
      <p:sp>
        <p:nvSpPr>
          <p:cNvPr id="10" name="CaixaDeTexto 9">
            <a:extLst>
              <a:ext uri="{FF2B5EF4-FFF2-40B4-BE49-F238E27FC236}">
                <a16:creationId xmlns:a16="http://schemas.microsoft.com/office/drawing/2014/main" id="{26E3F769-4624-441B-AB12-B289147C87E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 endereço e quantidade: descrevem a operação solicitada.</a:t>
            </a:r>
          </a:p>
        </p:txBody>
      </p:sp>
      <p:sp>
        <p:nvSpPr>
          <p:cNvPr id="11" name="CaixaDeTexto 10">
            <a:extLst>
              <a:ext uri="{FF2B5EF4-FFF2-40B4-BE49-F238E27FC236}">
                <a16:creationId xmlns:a16="http://schemas.microsoft.com/office/drawing/2014/main" id="{4B1F73D5-D599-4287-9BD9-8C40F6028F7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descreve dados, exceções e falhas de comunicação.</a:t>
            </a:r>
          </a:p>
        </p:txBody>
      </p:sp>
      <p:sp>
        <p:nvSpPr>
          <p:cNvPr id="12" name="CaixaDeTexto 11">
            <a:extLst>
              <a:ext uri="{FF2B5EF4-FFF2-40B4-BE49-F238E27FC236}">
                <a16:creationId xmlns:a16="http://schemas.microsoft.com/office/drawing/2014/main" id="{F7D6FB0F-39C4-4240-A8C1-803BCE22E30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140009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9D5EE39-306E-47A3-BF0E-D076D4D0534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05C54023-66FB-4091-9E14-E7719BFFD0A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localizar uma operação</a:t>
            </a:r>
          </a:p>
        </p:txBody>
      </p:sp>
      <p:sp>
        <p:nvSpPr>
          <p:cNvPr id="4" name="CaixaDeTexto 3">
            <a:extLst>
              <a:ext uri="{FF2B5EF4-FFF2-40B4-BE49-F238E27FC236}">
                <a16:creationId xmlns:a16="http://schemas.microsoft.com/office/drawing/2014/main" id="{4290043B-880A-4541-8274-949A9F001DD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7AE05C0-DFC9-4DE3-9C49-8D1F14D4A54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16</a:t>
            </a:r>
          </a:p>
        </p:txBody>
      </p:sp>
      <p:pic>
        <p:nvPicPr>
          <p:cNvPr id="7" name="Imagem 6">
            <a:extLst>
              <a:ext uri="{FF2B5EF4-FFF2-40B4-BE49-F238E27FC236}">
                <a16:creationId xmlns:a16="http://schemas.microsoft.com/office/drawing/2014/main" id="{40236692-F8E0-4ABD-B699-A3B29A9B58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049656F1-AA61-4528-BBF6-E74D9DABD0B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Sessão/alvo: limita a lista ao participante pesquisado.</a:t>
            </a:r>
          </a:p>
        </p:txBody>
      </p:sp>
      <p:sp>
        <p:nvSpPr>
          <p:cNvPr id="9" name="CaixaDeTexto 8">
            <a:extLst>
              <a:ext uri="{FF2B5EF4-FFF2-40B4-BE49-F238E27FC236}">
                <a16:creationId xmlns:a16="http://schemas.microsoft.com/office/drawing/2014/main" id="{281D9100-DA5D-400E-8B06-2669106DEBE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e Função: restringem o destino lógico e a operação.</a:t>
            </a:r>
          </a:p>
        </p:txBody>
      </p:sp>
      <p:sp>
        <p:nvSpPr>
          <p:cNvPr id="10" name="CaixaDeTexto 9">
            <a:extLst>
              <a:ext uri="{FF2B5EF4-FFF2-40B4-BE49-F238E27FC236}">
                <a16:creationId xmlns:a16="http://schemas.microsoft.com/office/drawing/2014/main" id="{E292283A-793F-4415-99CE-8C36F846C94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Somente erros: mostra exceções e mensagens de falha/timeout.</a:t>
            </a:r>
          </a:p>
        </p:txBody>
      </p:sp>
      <p:sp>
        <p:nvSpPr>
          <p:cNvPr id="11" name="CaixaDeTexto 10">
            <a:extLst>
              <a:ext uri="{FF2B5EF4-FFF2-40B4-BE49-F238E27FC236}">
                <a16:creationId xmlns:a16="http://schemas.microsoft.com/office/drawing/2014/main" id="{637EEFE7-4E38-4C4A-958F-BB4843A044A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Limpar filtros: volta a apresentar as mensagens retidas.</a:t>
            </a:r>
          </a:p>
        </p:txBody>
      </p:sp>
      <p:sp>
        <p:nvSpPr>
          <p:cNvPr id="12" name="CaixaDeTexto 11">
            <a:extLst>
              <a:ext uri="{FF2B5EF4-FFF2-40B4-BE49-F238E27FC236}">
                <a16:creationId xmlns:a16="http://schemas.microsoft.com/office/drawing/2014/main" id="{25BB8B93-7771-41AF-8DAC-B5994A55A53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32859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5C3B58B-7ED8-4AD6-B8BC-8B88DFDB6F9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49A3C8EA-5ED7-4EB7-9B35-9623CE26544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configuração da captura</a:t>
            </a:r>
          </a:p>
        </p:txBody>
      </p:sp>
      <p:sp>
        <p:nvSpPr>
          <p:cNvPr id="4" name="CaixaDeTexto 3">
            <a:extLst>
              <a:ext uri="{FF2B5EF4-FFF2-40B4-BE49-F238E27FC236}">
                <a16:creationId xmlns:a16="http://schemas.microsoft.com/office/drawing/2014/main" id="{D9E05588-7484-43AD-9224-CA74B95B762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61C9C7B-01C4-47EF-9582-1EFB41C9721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17</a:t>
            </a:r>
          </a:p>
        </p:txBody>
      </p:sp>
      <p:pic>
        <p:nvPicPr>
          <p:cNvPr id="7" name="Imagem 6">
            <a:extLst>
              <a:ext uri="{FF2B5EF4-FFF2-40B4-BE49-F238E27FC236}">
                <a16:creationId xmlns:a16="http://schemas.microsoft.com/office/drawing/2014/main" id="{97EA4DD0-92CC-40A1-AD6A-34876AF1B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27297B9E-C0C1-44F4-9CEF-CAC7969D5E3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Interface: placa da rede industrial ou loopback para 127.0.0.1.</a:t>
            </a:r>
          </a:p>
        </p:txBody>
      </p:sp>
      <p:sp>
        <p:nvSpPr>
          <p:cNvPr id="9" name="CaixaDeTexto 8">
            <a:extLst>
              <a:ext uri="{FF2B5EF4-FFF2-40B4-BE49-F238E27FC236}">
                <a16:creationId xmlns:a16="http://schemas.microsoft.com/office/drawing/2014/main" id="{19EACC0B-C9A7-4266-9991-3172A40FD53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define quais quadros poderão chegar à análise.</a:t>
            </a:r>
          </a:p>
        </p:txBody>
      </p:sp>
      <p:sp>
        <p:nvSpPr>
          <p:cNvPr id="10" name="CaixaDeTexto 9">
            <a:extLst>
              <a:ext uri="{FF2B5EF4-FFF2-40B4-BE49-F238E27FC236}">
                <a16:creationId xmlns:a16="http://schemas.microsoft.com/office/drawing/2014/main" id="{E9EDD3F5-C838-4757-AE61-128979B4370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direção: restringem o host e o sentido observado.</a:t>
            </a:r>
          </a:p>
        </p:txBody>
      </p:sp>
      <p:sp>
        <p:nvSpPr>
          <p:cNvPr id="11" name="CaixaDeTexto 10">
            <a:extLst>
              <a:ext uri="{FF2B5EF4-FFF2-40B4-BE49-F238E27FC236}">
                <a16:creationId xmlns:a16="http://schemas.microsoft.com/office/drawing/2014/main" id="{82C92093-19EF-4E5C-A019-603AABCE592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direção: restringem o serviço, preservando ambos os sentidos.</a:t>
            </a:r>
          </a:p>
        </p:txBody>
      </p:sp>
      <p:sp>
        <p:nvSpPr>
          <p:cNvPr id="12" name="CaixaDeTexto 11">
            <a:extLst>
              <a:ext uri="{FF2B5EF4-FFF2-40B4-BE49-F238E27FC236}">
                <a16:creationId xmlns:a16="http://schemas.microsoft.com/office/drawing/2014/main" id="{F234DD69-90AB-42D2-A671-D0E03F7064C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954540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FABE92B-6358-4F39-AC6F-D4B13230940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92FC04D3-F62B-4364-ACD6-4576B68982D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captura e filtro de apresentação</a:t>
            </a:r>
          </a:p>
        </p:txBody>
      </p:sp>
      <p:sp>
        <p:nvSpPr>
          <p:cNvPr id="4" name="CaixaDeTexto 3">
            <a:extLst>
              <a:ext uri="{FF2B5EF4-FFF2-40B4-BE49-F238E27FC236}">
                <a16:creationId xmlns:a16="http://schemas.microsoft.com/office/drawing/2014/main" id="{6BFA3785-4C5A-4D77-9C84-3523DAF4CD5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3BDD74A-8BB6-4D8E-8756-ADF65F4501A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18</a:t>
            </a:r>
          </a:p>
        </p:txBody>
      </p:sp>
      <p:pic>
        <p:nvPicPr>
          <p:cNvPr id="7" name="Imagem 6">
            <a:extLst>
              <a:ext uri="{FF2B5EF4-FFF2-40B4-BE49-F238E27FC236}">
                <a16:creationId xmlns:a16="http://schemas.microsoft.com/office/drawing/2014/main" id="{C5A2D50F-0B3F-4725-9087-146C9A85F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28ABC3EE-B134-4E3E-9373-FA7A3EEC4E4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BPF: filtro do driver, antes de o pacote entrar na aplicação.</a:t>
            </a:r>
          </a:p>
        </p:txBody>
      </p:sp>
      <p:sp>
        <p:nvSpPr>
          <p:cNvPr id="9" name="CaixaDeTexto 8">
            <a:extLst>
              <a:ext uri="{FF2B5EF4-FFF2-40B4-BE49-F238E27FC236}">
                <a16:creationId xmlns:a16="http://schemas.microsoft.com/office/drawing/2014/main" id="{3448EDA3-7988-4948-A7D3-6AFC004349B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filtro: atualiza os critérios da captura ativa.</a:t>
            </a:r>
          </a:p>
        </p:txBody>
      </p:sp>
      <p:sp>
        <p:nvSpPr>
          <p:cNvPr id="10" name="CaixaDeTexto 9">
            <a:extLst>
              <a:ext uri="{FF2B5EF4-FFF2-40B4-BE49-F238E27FC236}">
                <a16:creationId xmlns:a16="http://schemas.microsoft.com/office/drawing/2014/main" id="{F0D98609-F44C-4639-8A72-E25E8B18BEF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Filtros da lista: refinam a visualização dos pacotes já capturados.</a:t>
            </a:r>
          </a:p>
        </p:txBody>
      </p:sp>
      <p:sp>
        <p:nvSpPr>
          <p:cNvPr id="11" name="CaixaDeTexto 10">
            <a:extLst>
              <a:ext uri="{FF2B5EF4-FFF2-40B4-BE49-F238E27FC236}">
                <a16:creationId xmlns:a16="http://schemas.microsoft.com/office/drawing/2014/main" id="{5CE4F2E4-88C5-425C-86C2-D23BEB86998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e parar captura: controlam a coleta, não o polling dos alvos.</a:t>
            </a:r>
          </a:p>
        </p:txBody>
      </p:sp>
      <p:sp>
        <p:nvSpPr>
          <p:cNvPr id="12" name="CaixaDeTexto 11">
            <a:extLst>
              <a:ext uri="{FF2B5EF4-FFF2-40B4-BE49-F238E27FC236}">
                <a16:creationId xmlns:a16="http://schemas.microsoft.com/office/drawing/2014/main" id="{95F1CE0D-4F0E-4C5D-A158-076AD082495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84693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CC222E4-0259-48A1-B5D3-82328FFC86D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22FE8016-2AEB-4480-B0D6-50BC4404967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taxas e gráficos após parar a captura</a:t>
            </a:r>
          </a:p>
        </p:txBody>
      </p:sp>
      <p:sp>
        <p:nvSpPr>
          <p:cNvPr id="4" name="CaixaDeTexto 3">
            <a:extLst>
              <a:ext uri="{FF2B5EF4-FFF2-40B4-BE49-F238E27FC236}">
                <a16:creationId xmlns:a16="http://schemas.microsoft.com/office/drawing/2014/main" id="{F7173AB0-0F19-45D4-BDFB-47B2A8A526C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CE6F84B-8FCE-49F6-84A7-B319CF73F0B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19</a:t>
            </a:r>
          </a:p>
        </p:txBody>
      </p:sp>
      <p:pic>
        <p:nvPicPr>
          <p:cNvPr id="7" name="Imagem 6">
            <a:extLst>
              <a:ext uri="{FF2B5EF4-FFF2-40B4-BE49-F238E27FC236}">
                <a16:creationId xmlns:a16="http://schemas.microsoft.com/office/drawing/2014/main" id="{536917E0-A098-43F0-B1A9-FF09634BD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8886" y="1765300"/>
            <a:ext cx="8034229" cy="3073400"/>
          </a:xfrm>
          <a:prstGeom prst="rect">
            <a:avLst/>
          </a:prstGeom>
        </p:spPr>
      </p:pic>
      <p:sp>
        <p:nvSpPr>
          <p:cNvPr id="8" name="CaixaDeTexto 7">
            <a:extLst>
              <a:ext uri="{FF2B5EF4-FFF2-40B4-BE49-F238E27FC236}">
                <a16:creationId xmlns:a16="http://schemas.microsoft.com/office/drawing/2014/main" id="{108FEE81-A81A-4EDD-8EEC-3F29C0CF861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Período: escolhe a janela dentro da amostra retida.</a:t>
            </a:r>
          </a:p>
        </p:txBody>
      </p:sp>
      <p:sp>
        <p:nvSpPr>
          <p:cNvPr id="9" name="CaixaDeTexto 8">
            <a:extLst>
              <a:ext uri="{FF2B5EF4-FFF2-40B4-BE49-F238E27FC236}">
                <a16:creationId xmlns:a16="http://schemas.microsoft.com/office/drawing/2014/main" id="{360457FD-CFEA-4432-ADF0-D9C45139A63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Pacotes e volume: contagens dos quadros observados.</a:t>
            </a:r>
          </a:p>
        </p:txBody>
      </p:sp>
      <p:sp>
        <p:nvSpPr>
          <p:cNvPr id="10" name="CaixaDeTexto 9">
            <a:extLst>
              <a:ext uri="{FF2B5EF4-FFF2-40B4-BE49-F238E27FC236}">
                <a16:creationId xmlns:a16="http://schemas.microsoft.com/office/drawing/2014/main" id="{BB3B94E7-ADF3-4D33-9287-B6FF6D97864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Médias e picos: taxas no período, incluindo o pico em 1 segundo.</a:t>
            </a:r>
          </a:p>
        </p:txBody>
      </p:sp>
      <p:sp>
        <p:nvSpPr>
          <p:cNvPr id="11" name="CaixaDeTexto 10">
            <a:extLst>
              <a:ext uri="{FF2B5EF4-FFF2-40B4-BE49-F238E27FC236}">
                <a16:creationId xmlns:a16="http://schemas.microsoft.com/office/drawing/2014/main" id="{7F924B52-BF3E-453D-A8B5-15703156B30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Qualidade da captura: mostra limites, fila e descartes disponíveis.</a:t>
            </a:r>
          </a:p>
        </p:txBody>
      </p:sp>
      <p:sp>
        <p:nvSpPr>
          <p:cNvPr id="12" name="CaixaDeTexto 11">
            <a:extLst>
              <a:ext uri="{FF2B5EF4-FFF2-40B4-BE49-F238E27FC236}">
                <a16:creationId xmlns:a16="http://schemas.microsoft.com/office/drawing/2014/main" id="{C2EF1F6F-FE28-441A-9DF8-679E5DA469E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946214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EC9EC13-AA33-4ED3-A600-E64F0DA8F98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5BE24F41-02BF-4599-BEB5-F3E81BF5507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qualidade e limites da amostra</a:t>
            </a:r>
          </a:p>
        </p:txBody>
      </p:sp>
      <p:sp>
        <p:nvSpPr>
          <p:cNvPr id="4" name="CaixaDeTexto 3">
            <a:extLst>
              <a:ext uri="{FF2B5EF4-FFF2-40B4-BE49-F238E27FC236}">
                <a16:creationId xmlns:a16="http://schemas.microsoft.com/office/drawing/2014/main" id="{EA1C3DA7-14D9-4CBD-9090-EAD9AA9FA4D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A66D950-5CB3-4D2A-8891-455674D3561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20</a:t>
            </a:r>
          </a:p>
        </p:txBody>
      </p:sp>
      <p:pic>
        <p:nvPicPr>
          <p:cNvPr id="7" name="Imagem 6">
            <a:extLst>
              <a:ext uri="{FF2B5EF4-FFF2-40B4-BE49-F238E27FC236}">
                <a16:creationId xmlns:a16="http://schemas.microsoft.com/office/drawing/2014/main" id="{46F8E565-A459-4980-AF73-92BE2DA6E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79741"/>
            <a:ext cx="10820400" cy="1044518"/>
          </a:xfrm>
          <a:prstGeom prst="rect">
            <a:avLst/>
          </a:prstGeom>
        </p:spPr>
      </p:pic>
      <p:sp>
        <p:nvSpPr>
          <p:cNvPr id="8" name="CaixaDeTexto 7">
            <a:extLst>
              <a:ext uri="{FF2B5EF4-FFF2-40B4-BE49-F238E27FC236}">
                <a16:creationId xmlns:a16="http://schemas.microsoft.com/office/drawing/2014/main" id="{482C5F7C-3743-43E3-9F7F-C8C4B93D3F7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Driver: estatísticas podem estar indisponíveis para a interface.</a:t>
            </a:r>
          </a:p>
        </p:txBody>
      </p:sp>
      <p:sp>
        <p:nvSpPr>
          <p:cNvPr id="9" name="CaixaDeTexto 8">
            <a:extLst>
              <a:ext uri="{FF2B5EF4-FFF2-40B4-BE49-F238E27FC236}">
                <a16:creationId xmlns:a16="http://schemas.microsoft.com/office/drawing/2014/main" id="{8DF84FCE-F3A6-4AE7-B581-50A9DD66D71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Fila pendente: pacotes aguardando exibição na aplicação.</a:t>
            </a:r>
          </a:p>
        </p:txBody>
      </p:sp>
      <p:sp>
        <p:nvSpPr>
          <p:cNvPr id="10" name="CaixaDeTexto 9">
            <a:extLst>
              <a:ext uri="{FF2B5EF4-FFF2-40B4-BE49-F238E27FC236}">
                <a16:creationId xmlns:a16="http://schemas.microsoft.com/office/drawing/2014/main" id="{85A6F983-041C-423C-A137-7AD3EFB6B3A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Descartes e retenção: podem limitar o volume usado na análise.</a:t>
            </a:r>
          </a:p>
        </p:txBody>
      </p:sp>
      <p:sp>
        <p:nvSpPr>
          <p:cNvPr id="11" name="CaixaDeTexto 10">
            <a:extLst>
              <a:ext uri="{FF2B5EF4-FFF2-40B4-BE49-F238E27FC236}">
                <a16:creationId xmlns:a16="http://schemas.microsoft.com/office/drawing/2014/main" id="{170C1493-8E0E-4204-B270-7F3313F7773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Saturação: exige comparar taxas com velocidade e contadores de porta.</a:t>
            </a:r>
          </a:p>
        </p:txBody>
      </p:sp>
      <p:sp>
        <p:nvSpPr>
          <p:cNvPr id="12" name="CaixaDeTexto 11">
            <a:extLst>
              <a:ext uri="{FF2B5EF4-FFF2-40B4-BE49-F238E27FC236}">
                <a16:creationId xmlns:a16="http://schemas.microsoft.com/office/drawing/2014/main" id="{BC0829C7-D972-4E67-9BA1-84B2E43EBAE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997249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ADCBB5F-9333-4690-8308-D5843D6E4EE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31059B43-22C1-414D-ABAF-D9DBB721807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dispositivos com mais tráfego</a:t>
            </a:r>
          </a:p>
        </p:txBody>
      </p:sp>
      <p:sp>
        <p:nvSpPr>
          <p:cNvPr id="4" name="CaixaDeTexto 3">
            <a:extLst>
              <a:ext uri="{FF2B5EF4-FFF2-40B4-BE49-F238E27FC236}">
                <a16:creationId xmlns:a16="http://schemas.microsoft.com/office/drawing/2014/main" id="{BA9EC05C-9EB7-492B-AACD-32EAC46F8B3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871B4A7-EBFC-4C26-93D0-24B204BEA8A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21</a:t>
            </a:r>
          </a:p>
        </p:txBody>
      </p:sp>
      <p:pic>
        <p:nvPicPr>
          <p:cNvPr id="7" name="Imagem 6">
            <a:extLst>
              <a:ext uri="{FF2B5EF4-FFF2-40B4-BE49-F238E27FC236}">
                <a16:creationId xmlns:a16="http://schemas.microsoft.com/office/drawing/2014/main" id="{673F0655-576D-4A68-9D7A-ECF104987D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DA854978-8820-4BC1-99FC-59AA9FD670D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Enviados e recebidos: contribuição do IP em cada direção.</a:t>
            </a:r>
          </a:p>
        </p:txBody>
      </p:sp>
      <p:sp>
        <p:nvSpPr>
          <p:cNvPr id="9" name="CaixaDeTexto 8">
            <a:extLst>
              <a:ext uri="{FF2B5EF4-FFF2-40B4-BE49-F238E27FC236}">
                <a16:creationId xmlns:a16="http://schemas.microsoft.com/office/drawing/2014/main" id="{70088641-C0FF-47EA-923B-1E3274C2989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enviados e recebidos: volume dos quadros visíveis.</a:t>
            </a:r>
          </a:p>
        </p:txBody>
      </p:sp>
      <p:sp>
        <p:nvSpPr>
          <p:cNvPr id="10" name="CaixaDeTexto 9">
            <a:extLst>
              <a:ext uri="{FF2B5EF4-FFF2-40B4-BE49-F238E27FC236}">
                <a16:creationId xmlns:a16="http://schemas.microsoft.com/office/drawing/2014/main" id="{D693C5BB-C4E3-4E16-B7F8-77D1180FCBD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Participação: percentual dos pacotes que envolvem aquele IP.</a:t>
            </a:r>
          </a:p>
        </p:txBody>
      </p:sp>
      <p:sp>
        <p:nvSpPr>
          <p:cNvPr id="11" name="CaixaDeTexto 10">
            <a:extLst>
              <a:ext uri="{FF2B5EF4-FFF2-40B4-BE49-F238E27FC236}">
                <a16:creationId xmlns:a16="http://schemas.microsoft.com/office/drawing/2014/main" id="{BBAAA796-89B8-4B16-97FE-18728B8D42D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observado: maior atividade do participante em 1 segundo.</a:t>
            </a:r>
          </a:p>
        </p:txBody>
      </p:sp>
      <p:sp>
        <p:nvSpPr>
          <p:cNvPr id="12" name="CaixaDeTexto 11">
            <a:extLst>
              <a:ext uri="{FF2B5EF4-FFF2-40B4-BE49-F238E27FC236}">
                <a16:creationId xmlns:a16="http://schemas.microsoft.com/office/drawing/2014/main" id="{2892D800-BEB4-49BD-8B31-37053BD4A3B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726597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81D1797-4E1A-4A41-9960-3A8689600D7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2CCC4ADD-8009-4D16-B972-9B4BF30604E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conversas entre endpoints</a:t>
            </a:r>
          </a:p>
        </p:txBody>
      </p:sp>
      <p:sp>
        <p:nvSpPr>
          <p:cNvPr id="4" name="CaixaDeTexto 3">
            <a:extLst>
              <a:ext uri="{FF2B5EF4-FFF2-40B4-BE49-F238E27FC236}">
                <a16:creationId xmlns:a16="http://schemas.microsoft.com/office/drawing/2014/main" id="{FFF2515E-6E20-4C3C-B781-1B3B451FD46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E49A2C5-9687-4053-91ED-9A291EFBEBF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22</a:t>
            </a:r>
          </a:p>
        </p:txBody>
      </p:sp>
      <p:pic>
        <p:nvPicPr>
          <p:cNvPr id="7" name="Imagem 6">
            <a:extLst>
              <a:ext uri="{FF2B5EF4-FFF2-40B4-BE49-F238E27FC236}">
                <a16:creationId xmlns:a16="http://schemas.microsoft.com/office/drawing/2014/main" id="{A61640B6-7D5F-42DF-8A7D-9BDBB5C7CE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8A016306-8137-4244-B9B7-FB4CCD0B10D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A e B: par IP:porta, agrupado nos dois sentidos.</a:t>
            </a:r>
          </a:p>
        </p:txBody>
      </p:sp>
      <p:sp>
        <p:nvSpPr>
          <p:cNvPr id="9" name="CaixaDeTexto 8">
            <a:extLst>
              <a:ext uri="{FF2B5EF4-FFF2-40B4-BE49-F238E27FC236}">
                <a16:creationId xmlns:a16="http://schemas.microsoft.com/office/drawing/2014/main" id="{D74E2D1C-33C9-4AE8-9DDD-7E658BB974F1}"/>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Protocolos e pacotes: tipo de tráfego e volume da conversa.</a:t>
            </a:r>
          </a:p>
        </p:txBody>
      </p:sp>
      <p:sp>
        <p:nvSpPr>
          <p:cNvPr id="10" name="CaixaDeTexto 9">
            <a:extLst>
              <a:ext uri="{FF2B5EF4-FFF2-40B4-BE49-F238E27FC236}">
                <a16:creationId xmlns:a16="http://schemas.microsoft.com/office/drawing/2014/main" id="{756C6EA2-0E6E-4C37-A5B2-5F889B8FEC4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 participação: peso daquela conversa na amostra.</a:t>
            </a:r>
          </a:p>
        </p:txBody>
      </p:sp>
      <p:sp>
        <p:nvSpPr>
          <p:cNvPr id="11" name="CaixaDeTexto 10">
            <a:extLst>
              <a:ext uri="{FF2B5EF4-FFF2-40B4-BE49-F238E27FC236}">
                <a16:creationId xmlns:a16="http://schemas.microsoft.com/office/drawing/2014/main" id="{AD0171B8-D83C-4193-A02E-5C67BDFC209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em 1 s: momento de maior atividade do par.</a:t>
            </a:r>
          </a:p>
        </p:txBody>
      </p:sp>
      <p:sp>
        <p:nvSpPr>
          <p:cNvPr id="12" name="CaixaDeTexto 11">
            <a:extLst>
              <a:ext uri="{FF2B5EF4-FFF2-40B4-BE49-F238E27FC236}">
                <a16:creationId xmlns:a16="http://schemas.microsoft.com/office/drawing/2014/main" id="{B206CE4D-9DB2-4211-B59D-C96377F872D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650973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5F59B9C-A1D4-4D03-B309-690FD9A1791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2D6F1FCF-1F3F-4E26-B19E-FA2D0941358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Avisos: eventos, recorrência e checklist</a:t>
            </a:r>
          </a:p>
        </p:txBody>
      </p:sp>
      <p:sp>
        <p:nvSpPr>
          <p:cNvPr id="4" name="CaixaDeTexto 3">
            <a:extLst>
              <a:ext uri="{FF2B5EF4-FFF2-40B4-BE49-F238E27FC236}">
                <a16:creationId xmlns:a16="http://schemas.microsoft.com/office/drawing/2014/main" id="{2AA28521-6489-44E8-9398-5592BFB8908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2D1E9D0-AD40-4F3C-8495-3190392E076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23</a:t>
            </a:r>
          </a:p>
        </p:txBody>
      </p:sp>
      <p:pic>
        <p:nvPicPr>
          <p:cNvPr id="7" name="Imagem 6">
            <a:extLst>
              <a:ext uri="{FF2B5EF4-FFF2-40B4-BE49-F238E27FC236}">
                <a16:creationId xmlns:a16="http://schemas.microsoft.com/office/drawing/2014/main" id="{C339BD66-7BB1-4F6B-9B2D-70BA2AEDB7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482" y="1765300"/>
            <a:ext cx="9949035" cy="3073400"/>
          </a:xfrm>
          <a:prstGeom prst="rect">
            <a:avLst/>
          </a:prstGeom>
        </p:spPr>
      </p:pic>
      <p:sp>
        <p:nvSpPr>
          <p:cNvPr id="8" name="CaixaDeTexto 7">
            <a:extLst>
              <a:ext uri="{FF2B5EF4-FFF2-40B4-BE49-F238E27FC236}">
                <a16:creationId xmlns:a16="http://schemas.microsoft.com/office/drawing/2014/main" id="{DCBC6283-0D6F-462D-992B-DBE07A077C7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Todos: eventos com hora, nível, mensagem e recomendação.</a:t>
            </a:r>
          </a:p>
        </p:txBody>
      </p:sp>
      <p:sp>
        <p:nvSpPr>
          <p:cNvPr id="9" name="CaixaDeTexto 8">
            <a:extLst>
              <a:ext uri="{FF2B5EF4-FFF2-40B4-BE49-F238E27FC236}">
                <a16:creationId xmlns:a16="http://schemas.microsoft.com/office/drawing/2014/main" id="{94B04ABB-7683-4AE4-95B4-C2B59C73D76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Avisos importantes: agrupa recorrências do mesmo achado.</a:t>
            </a:r>
          </a:p>
        </p:txBody>
      </p:sp>
      <p:sp>
        <p:nvSpPr>
          <p:cNvPr id="10" name="CaixaDeTexto 9">
            <a:extLst>
              <a:ext uri="{FF2B5EF4-FFF2-40B4-BE49-F238E27FC236}">
                <a16:creationId xmlns:a16="http://schemas.microsoft.com/office/drawing/2014/main" id="{31B405B2-6472-4F4C-B83A-F3D1858E4F6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Checklist: apresenta verificações e seu estado mais recente.</a:t>
            </a:r>
          </a:p>
        </p:txBody>
      </p:sp>
      <p:sp>
        <p:nvSpPr>
          <p:cNvPr id="11" name="CaixaDeTexto 10">
            <a:extLst>
              <a:ext uri="{FF2B5EF4-FFF2-40B4-BE49-F238E27FC236}">
                <a16:creationId xmlns:a16="http://schemas.microsoft.com/office/drawing/2014/main" id="{05C778F0-62E9-4460-8817-76A2BE6401C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Contexto: confirme sessão, endpoint e horário antes de usar um aviso.</a:t>
            </a:r>
          </a:p>
        </p:txBody>
      </p:sp>
      <p:sp>
        <p:nvSpPr>
          <p:cNvPr id="12" name="CaixaDeTexto 11">
            <a:extLst>
              <a:ext uri="{FF2B5EF4-FFF2-40B4-BE49-F238E27FC236}">
                <a16:creationId xmlns:a16="http://schemas.microsoft.com/office/drawing/2014/main" id="{29359FDE-814A-42FD-B355-C05D844F340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498873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79F838F-C809-454F-B434-ACC59D7F988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022C7067-92E8-457E-9FFF-92603FE1AAC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Teste completo: um ambiente independente</a:t>
            </a:r>
          </a:p>
        </p:txBody>
      </p:sp>
      <p:sp>
        <p:nvSpPr>
          <p:cNvPr id="4" name="CaixaDeTexto 3">
            <a:extLst>
              <a:ext uri="{FF2B5EF4-FFF2-40B4-BE49-F238E27FC236}">
                <a16:creationId xmlns:a16="http://schemas.microsoft.com/office/drawing/2014/main" id="{72F0AD99-DF72-4B83-A1BF-C3A9182548D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9328D9B-8FDF-4C7B-88E1-53E4C12C4A2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24</a:t>
            </a:r>
          </a:p>
        </p:txBody>
      </p:sp>
      <p:pic>
        <p:nvPicPr>
          <p:cNvPr id="7" name="Imagem 6">
            <a:extLst>
              <a:ext uri="{FF2B5EF4-FFF2-40B4-BE49-F238E27FC236}">
                <a16:creationId xmlns:a16="http://schemas.microsoft.com/office/drawing/2014/main" id="{579A1B47-0FB4-46A5-B06A-DDDAE7CD5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603" y="1765300"/>
            <a:ext cx="4642795" cy="3073400"/>
          </a:xfrm>
          <a:prstGeom prst="rect">
            <a:avLst/>
          </a:prstGeom>
        </p:spPr>
      </p:pic>
      <p:sp>
        <p:nvSpPr>
          <p:cNvPr id="8" name="CaixaDeTexto 7">
            <a:extLst>
              <a:ext uri="{FF2B5EF4-FFF2-40B4-BE49-F238E27FC236}">
                <a16:creationId xmlns:a16="http://schemas.microsoft.com/office/drawing/2014/main" id="{0976E08A-1374-45B0-A653-A3FFAB4360B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Execução: configura o papel e acompanha as etapas.</a:t>
            </a:r>
          </a:p>
        </p:txBody>
      </p:sp>
      <p:sp>
        <p:nvSpPr>
          <p:cNvPr id="9" name="CaixaDeTexto 8">
            <a:extLst>
              <a:ext uri="{FF2B5EF4-FFF2-40B4-BE49-F238E27FC236}">
                <a16:creationId xmlns:a16="http://schemas.microsoft.com/office/drawing/2014/main" id="{574763E9-FADF-4E12-BA4B-EEC30875A71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e Dispositivos/rede: apresentam achados e inventário.</a:t>
            </a:r>
          </a:p>
        </p:txBody>
      </p:sp>
      <p:sp>
        <p:nvSpPr>
          <p:cNvPr id="10" name="CaixaDeTexto 9">
            <a:extLst>
              <a:ext uri="{FF2B5EF4-FFF2-40B4-BE49-F238E27FC236}">
                <a16:creationId xmlns:a16="http://schemas.microsoft.com/office/drawing/2014/main" id="{568ACEE1-88F8-4BF9-8FF9-9393F9FDA63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Topologia e Mapa descoberto: reúnem as evidências específicas.</a:t>
            </a:r>
          </a:p>
        </p:txBody>
      </p:sp>
      <p:sp>
        <p:nvSpPr>
          <p:cNvPr id="11" name="CaixaDeTexto 10">
            <a:extLst>
              <a:ext uri="{FF2B5EF4-FFF2-40B4-BE49-F238E27FC236}">
                <a16:creationId xmlns:a16="http://schemas.microsoft.com/office/drawing/2014/main" id="{5A79F697-CCA2-4EB5-8724-FD2FA0A75D7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 consulta e exporta os resultados da execução.</a:t>
            </a:r>
          </a:p>
        </p:txBody>
      </p:sp>
      <p:sp>
        <p:nvSpPr>
          <p:cNvPr id="12" name="CaixaDeTexto 11">
            <a:extLst>
              <a:ext uri="{FF2B5EF4-FFF2-40B4-BE49-F238E27FC236}">
                <a16:creationId xmlns:a16="http://schemas.microsoft.com/office/drawing/2014/main" id="{90DC2D7C-0C74-44FA-A439-AA6E392E77B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62097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C48D951-DDA7-4B93-BD2B-6D6A7F59837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1C4878E4-728A-433A-92BA-D2EAE5D2656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papel do ensaio e ações</a:t>
            </a:r>
          </a:p>
        </p:txBody>
      </p:sp>
      <p:sp>
        <p:nvSpPr>
          <p:cNvPr id="4" name="CaixaDeTexto 3">
            <a:extLst>
              <a:ext uri="{FF2B5EF4-FFF2-40B4-BE49-F238E27FC236}">
                <a16:creationId xmlns:a16="http://schemas.microsoft.com/office/drawing/2014/main" id="{0FF27E50-B8FE-468E-81C2-767E5CAB5A9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D06CCCC-2526-44BB-9046-0C82B29A9E1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25</a:t>
            </a:r>
          </a:p>
        </p:txBody>
      </p:sp>
      <p:pic>
        <p:nvPicPr>
          <p:cNvPr id="7" name="Imagem 6">
            <a:extLst>
              <a:ext uri="{FF2B5EF4-FFF2-40B4-BE49-F238E27FC236}">
                <a16:creationId xmlns:a16="http://schemas.microsoft.com/office/drawing/2014/main" id="{BE4FE9FD-FF29-453E-9335-4E6975489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FEF282A9-FD7A-412A-A83B-2A3A7171DED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Cliente/Mestre: consulta servidores-alvo ou descobre no escopo.</a:t>
            </a:r>
          </a:p>
        </p:txBody>
      </p:sp>
      <p:sp>
        <p:nvSpPr>
          <p:cNvPr id="9" name="CaixaDeTexto 8">
            <a:extLst>
              <a:ext uri="{FF2B5EF4-FFF2-40B4-BE49-F238E27FC236}">
                <a16:creationId xmlns:a16="http://schemas.microsoft.com/office/drawing/2014/main" id="{2857C310-84E1-4661-B9DD-3FF17045A49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Servidor/Escravo: analisa o serviço local e os requests recebidos.</a:t>
            </a:r>
          </a:p>
        </p:txBody>
      </p:sp>
      <p:sp>
        <p:nvSpPr>
          <p:cNvPr id="10" name="CaixaDeTexto 9">
            <a:extLst>
              <a:ext uri="{FF2B5EF4-FFF2-40B4-BE49-F238E27FC236}">
                <a16:creationId xmlns:a16="http://schemas.microsoft.com/office/drawing/2014/main" id="{4CBBEBEE-FD20-4914-9DF2-F2D6DAC8602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Revisar e executar: abre a confirmação antes de iniciar o plano.</a:t>
            </a:r>
          </a:p>
        </p:txBody>
      </p:sp>
      <p:sp>
        <p:nvSpPr>
          <p:cNvPr id="11" name="CaixaDeTexto 10">
            <a:extLst>
              <a:ext uri="{FF2B5EF4-FFF2-40B4-BE49-F238E27FC236}">
                <a16:creationId xmlns:a16="http://schemas.microsoft.com/office/drawing/2014/main" id="{210F1318-2F43-4BAC-A562-DE37D4134CD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Cancelar: interrompe o ensaio e preserva a evidência coletada.</a:t>
            </a:r>
          </a:p>
        </p:txBody>
      </p:sp>
      <p:sp>
        <p:nvSpPr>
          <p:cNvPr id="12" name="CaixaDeTexto 11">
            <a:extLst>
              <a:ext uri="{FF2B5EF4-FFF2-40B4-BE49-F238E27FC236}">
                <a16:creationId xmlns:a16="http://schemas.microsoft.com/office/drawing/2014/main" id="{E41A5687-6A7E-4D45-9732-14232CBD106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642879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9889C21-871D-47F0-B628-915E03707FC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813C7417-9583-49A6-8F84-D31C7602CD8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Revisão: confirmação antes do início</a:t>
            </a:r>
          </a:p>
        </p:txBody>
      </p:sp>
      <p:sp>
        <p:nvSpPr>
          <p:cNvPr id="4" name="CaixaDeTexto 3">
            <a:extLst>
              <a:ext uri="{FF2B5EF4-FFF2-40B4-BE49-F238E27FC236}">
                <a16:creationId xmlns:a16="http://schemas.microsoft.com/office/drawing/2014/main" id="{8B91782D-18E7-4E98-9356-E3AF39622D7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3E52EE5-6E44-4EF2-835F-2ACA688B5AC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26</a:t>
            </a:r>
          </a:p>
        </p:txBody>
      </p:sp>
      <p:pic>
        <p:nvPicPr>
          <p:cNvPr id="7" name="Imagem 6">
            <a:extLst>
              <a:ext uri="{FF2B5EF4-FFF2-40B4-BE49-F238E27FC236}">
                <a16:creationId xmlns:a16="http://schemas.microsoft.com/office/drawing/2014/main" id="{91C833B5-3145-4688-9204-58ED7448B1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3874" y="1841501"/>
            <a:ext cx="4853851" cy="4216399"/>
          </a:xfrm>
          <a:prstGeom prst="rect">
            <a:avLst/>
          </a:prstGeom>
        </p:spPr>
      </p:pic>
      <p:sp>
        <p:nvSpPr>
          <p:cNvPr id="8" name="CaixaDeTexto 7">
            <a:extLst>
              <a:ext uri="{FF2B5EF4-FFF2-40B4-BE49-F238E27FC236}">
                <a16:creationId xmlns:a16="http://schemas.microsoft.com/office/drawing/2014/main" id="{41BF61ED-701B-4321-AB45-5CF1BE7DD7F0}"/>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e alvos: conferem quais serviços receberão validação.</a:t>
            </a:r>
          </a:p>
        </p:txBody>
      </p:sp>
      <p:sp>
        <p:nvSpPr>
          <p:cNvPr id="9" name="CaixaDeTexto 8">
            <a:extLst>
              <a:ext uri="{FF2B5EF4-FFF2-40B4-BE49-F238E27FC236}">
                <a16:creationId xmlns:a16="http://schemas.microsoft.com/office/drawing/2014/main" id="{231D7EF6-EDE0-417F-800C-CD05A4A37044}"/>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Captura e descoberta: mostram a cobertura e as sondagens previstas.</a:t>
            </a:r>
          </a:p>
        </p:txBody>
      </p:sp>
      <p:sp>
        <p:nvSpPr>
          <p:cNvPr id="10" name="CaixaDeTexto 9">
            <a:extLst>
              <a:ext uri="{FF2B5EF4-FFF2-40B4-BE49-F238E27FC236}">
                <a16:creationId xmlns:a16="http://schemas.microsoft.com/office/drawing/2014/main" id="{7D27F5C9-5C32-4347-91DE-7505B86F1ABB}"/>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Estimativa mínima: explica parte da duração, sem prometer término.</a:t>
            </a:r>
          </a:p>
        </p:txBody>
      </p:sp>
      <p:sp>
        <p:nvSpPr>
          <p:cNvPr id="11" name="CaixaDeTexto 10">
            <a:extLst>
              <a:ext uri="{FF2B5EF4-FFF2-40B4-BE49-F238E27FC236}">
                <a16:creationId xmlns:a16="http://schemas.microsoft.com/office/drawing/2014/main" id="{2160E256-2AF6-4DF3-BAD8-1928FD88FCE9}"/>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Voltar ajusta a configuração. Confirmar e executar inicia o teste.</a:t>
            </a:r>
          </a:p>
        </p:txBody>
      </p:sp>
      <p:sp>
        <p:nvSpPr>
          <p:cNvPr id="12" name="CaixaDeTexto 11">
            <a:extLst>
              <a:ext uri="{FF2B5EF4-FFF2-40B4-BE49-F238E27FC236}">
                <a16:creationId xmlns:a16="http://schemas.microsoft.com/office/drawing/2014/main" id="{A5ECFCF0-F42B-4AE2-91AE-D50F479AE133}"/>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72239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034736A-9420-49EC-B20E-6FB63CB84D6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ABE1D12D-4534-4052-BB76-22A6900BC4C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Selecionar alvos: inclusão no teste cliente</a:t>
            </a:r>
          </a:p>
        </p:txBody>
      </p:sp>
      <p:sp>
        <p:nvSpPr>
          <p:cNvPr id="4" name="CaixaDeTexto 3">
            <a:extLst>
              <a:ext uri="{FF2B5EF4-FFF2-40B4-BE49-F238E27FC236}">
                <a16:creationId xmlns:a16="http://schemas.microsoft.com/office/drawing/2014/main" id="{BC2F8BCF-7F17-4A84-8303-76218A26013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079DE8C-636D-427E-BDE0-95DEB0B5202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27</a:t>
            </a:r>
          </a:p>
        </p:txBody>
      </p:sp>
      <p:pic>
        <p:nvPicPr>
          <p:cNvPr id="7" name="Imagem 6">
            <a:extLst>
              <a:ext uri="{FF2B5EF4-FFF2-40B4-BE49-F238E27FC236}">
                <a16:creationId xmlns:a16="http://schemas.microsoft.com/office/drawing/2014/main" id="{43DD7A46-F02A-46E4-8ECE-E0740F93CE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92802"/>
            <a:ext cx="6350000" cy="3513796"/>
          </a:xfrm>
          <a:prstGeom prst="rect">
            <a:avLst/>
          </a:prstGeom>
        </p:spPr>
      </p:pic>
      <p:sp>
        <p:nvSpPr>
          <p:cNvPr id="8" name="CaixaDeTexto 7">
            <a:extLst>
              <a:ext uri="{FF2B5EF4-FFF2-40B4-BE49-F238E27FC236}">
                <a16:creationId xmlns:a16="http://schemas.microsoft.com/office/drawing/2014/main" id="{5E3E1DD9-DD7B-4BEC-896E-6BA67794EC08}"/>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Incluir: marca as sessões que receberão validações específicas.</a:t>
            </a:r>
          </a:p>
        </p:txBody>
      </p:sp>
      <p:sp>
        <p:nvSpPr>
          <p:cNvPr id="9" name="CaixaDeTexto 8">
            <a:extLst>
              <a:ext uri="{FF2B5EF4-FFF2-40B4-BE49-F238E27FC236}">
                <a16:creationId xmlns:a16="http://schemas.microsoft.com/office/drawing/2014/main" id="{A838CF02-91B8-4766-9A51-399C99E4791A}"/>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e endpoint: identificam o cadastro IP:porta.</a:t>
            </a:r>
          </a:p>
        </p:txBody>
      </p:sp>
      <p:sp>
        <p:nvSpPr>
          <p:cNvPr id="10" name="CaixaDeTexto 9">
            <a:extLst>
              <a:ext uri="{FF2B5EF4-FFF2-40B4-BE49-F238E27FC236}">
                <a16:creationId xmlns:a16="http://schemas.microsoft.com/office/drawing/2014/main" id="{73A35366-DA51-4C86-BFD0-B03E34A79C20}"/>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ID e estado: mostram unidade e situação operacional.</a:t>
            </a:r>
          </a:p>
        </p:txBody>
      </p:sp>
      <p:sp>
        <p:nvSpPr>
          <p:cNvPr id="11" name="CaixaDeTexto 10">
            <a:extLst>
              <a:ext uri="{FF2B5EF4-FFF2-40B4-BE49-F238E27FC236}">
                <a16:creationId xmlns:a16="http://schemas.microsoft.com/office/drawing/2014/main" id="{BD4D3FBF-2D03-43A5-8753-68927AB3600B}"/>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Confirmar seleção: altera o próximo teste, sem excluir cadastros.</a:t>
            </a:r>
          </a:p>
        </p:txBody>
      </p:sp>
      <p:sp>
        <p:nvSpPr>
          <p:cNvPr id="12" name="CaixaDeTexto 11">
            <a:extLst>
              <a:ext uri="{FF2B5EF4-FFF2-40B4-BE49-F238E27FC236}">
                <a16:creationId xmlns:a16="http://schemas.microsoft.com/office/drawing/2014/main" id="{CA5AE9E1-72B8-407B-AACF-9316E330AD7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4274978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2FD9377-0871-43B3-A687-C22779E8A02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78FFEE78-4FAC-4659-98E4-137657024C5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janelas de observação TCP</a:t>
            </a:r>
          </a:p>
        </p:txBody>
      </p:sp>
      <p:sp>
        <p:nvSpPr>
          <p:cNvPr id="4" name="CaixaDeTexto 3">
            <a:extLst>
              <a:ext uri="{FF2B5EF4-FFF2-40B4-BE49-F238E27FC236}">
                <a16:creationId xmlns:a16="http://schemas.microsoft.com/office/drawing/2014/main" id="{80E7A969-BE05-42F5-9F2A-349DA015669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0756640-F017-4FC2-83EA-52B54CF0638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28</a:t>
            </a:r>
          </a:p>
        </p:txBody>
      </p:sp>
      <p:pic>
        <p:nvPicPr>
          <p:cNvPr id="7" name="Imagem 6">
            <a:extLst>
              <a:ext uri="{FF2B5EF4-FFF2-40B4-BE49-F238E27FC236}">
                <a16:creationId xmlns:a16="http://schemas.microsoft.com/office/drawing/2014/main" id="{B710D6B9-6D70-4EC6-9C24-AB34295F7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894936"/>
            <a:ext cx="6350000" cy="2109528"/>
          </a:xfrm>
          <a:prstGeom prst="rect">
            <a:avLst/>
          </a:prstGeom>
        </p:spPr>
      </p:pic>
      <p:sp>
        <p:nvSpPr>
          <p:cNvPr id="8" name="CaixaDeTexto 7">
            <a:extLst>
              <a:ext uri="{FF2B5EF4-FFF2-40B4-BE49-F238E27FC236}">
                <a16:creationId xmlns:a16="http://schemas.microsoft.com/office/drawing/2014/main" id="{2E55176D-44CB-48F6-A901-9F55A3F066F3}"/>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passiva: segundos observados antes das novas sondagens.</a:t>
            </a:r>
          </a:p>
        </p:txBody>
      </p:sp>
      <p:sp>
        <p:nvSpPr>
          <p:cNvPr id="9" name="CaixaDeTexto 8">
            <a:extLst>
              <a:ext uri="{FF2B5EF4-FFF2-40B4-BE49-F238E27FC236}">
                <a16:creationId xmlns:a16="http://schemas.microsoft.com/office/drawing/2014/main" id="{E16BC425-C2C9-4FE5-B518-C3CE363C9946}"/>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Monitoramento TCP: duração da observação operacional final.</a:t>
            </a:r>
          </a:p>
        </p:txBody>
      </p:sp>
      <p:sp>
        <p:nvSpPr>
          <p:cNvPr id="10" name="CaixaDeTexto 9">
            <a:extLst>
              <a:ext uri="{FF2B5EF4-FFF2-40B4-BE49-F238E27FC236}">
                <a16:creationId xmlns:a16="http://schemas.microsoft.com/office/drawing/2014/main" id="{97BE6A42-D79F-4312-9EF4-E54FB951B3DB}"/>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Avisar se pico ultrapassar: limiar em pacotes por segundo.</a:t>
            </a:r>
          </a:p>
        </p:txBody>
      </p:sp>
      <p:sp>
        <p:nvSpPr>
          <p:cNvPr id="11" name="CaixaDeTexto 10">
            <a:extLst>
              <a:ext uri="{FF2B5EF4-FFF2-40B4-BE49-F238E27FC236}">
                <a16:creationId xmlns:a16="http://schemas.microsoft.com/office/drawing/2014/main" id="{2A65964D-031A-4D7E-BA5B-B03E61A32D38}"/>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Interface e BPF: determinam a cobertura dessas janelas.</a:t>
            </a:r>
          </a:p>
        </p:txBody>
      </p:sp>
      <p:sp>
        <p:nvSpPr>
          <p:cNvPr id="12" name="CaixaDeTexto 11">
            <a:extLst>
              <a:ext uri="{FF2B5EF4-FFF2-40B4-BE49-F238E27FC236}">
                <a16:creationId xmlns:a16="http://schemas.microsoft.com/office/drawing/2014/main" id="{F5C9707A-58F9-4514-83D4-6CB13F8E7A9B}"/>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746036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2C993DC-F0A2-41D9-B5AE-5923B30E851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259B6027-A3F3-4E58-BB90-7AC4B7BFC72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leituras repetidas por bloco</a:t>
            </a:r>
          </a:p>
        </p:txBody>
      </p:sp>
      <p:sp>
        <p:nvSpPr>
          <p:cNvPr id="4" name="CaixaDeTexto 3">
            <a:extLst>
              <a:ext uri="{FF2B5EF4-FFF2-40B4-BE49-F238E27FC236}">
                <a16:creationId xmlns:a16="http://schemas.microsoft.com/office/drawing/2014/main" id="{B2673038-813A-42C5-B89C-E581756F917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441E74E-A675-480F-BAF8-4AF83D085C5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29</a:t>
            </a:r>
          </a:p>
        </p:txBody>
      </p:sp>
      <p:pic>
        <p:nvPicPr>
          <p:cNvPr id="7" name="Imagem 6">
            <a:extLst>
              <a:ext uri="{FF2B5EF4-FFF2-40B4-BE49-F238E27FC236}">
                <a16:creationId xmlns:a16="http://schemas.microsoft.com/office/drawing/2014/main" id="{9936C711-5944-4D17-B673-DFAB5DC51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157288"/>
            <a:ext cx="6350000" cy="1584823"/>
          </a:xfrm>
          <a:prstGeom prst="rect">
            <a:avLst/>
          </a:prstGeom>
        </p:spPr>
      </p:pic>
      <p:sp>
        <p:nvSpPr>
          <p:cNvPr id="8" name="CaixaDeTexto 7">
            <a:extLst>
              <a:ext uri="{FF2B5EF4-FFF2-40B4-BE49-F238E27FC236}">
                <a16:creationId xmlns:a16="http://schemas.microsoft.com/office/drawing/2014/main" id="{F85D15F7-6CEA-4B37-A0DB-203C14DC780A}"/>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Tentativas: número de leituras planejadas por bloco ativo.</a:t>
            </a:r>
          </a:p>
        </p:txBody>
      </p:sp>
      <p:sp>
        <p:nvSpPr>
          <p:cNvPr id="9" name="CaixaDeTexto 8">
            <a:extLst>
              <a:ext uri="{FF2B5EF4-FFF2-40B4-BE49-F238E27FC236}">
                <a16:creationId xmlns:a16="http://schemas.microsoft.com/office/drawing/2014/main" id="{954E8737-9D2E-47B3-994A-90DCBBC0FF46}"/>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adicional: pausa em ms entre os ciclos do teste.</a:t>
            </a:r>
          </a:p>
        </p:txBody>
      </p:sp>
      <p:sp>
        <p:nvSpPr>
          <p:cNvPr id="10" name="CaixaDeTexto 9">
            <a:extLst>
              <a:ext uri="{FF2B5EF4-FFF2-40B4-BE49-F238E27FC236}">
                <a16:creationId xmlns:a16="http://schemas.microsoft.com/office/drawing/2014/main" id="{64569971-2E35-4897-9DA4-FAC2CD833EB6}"/>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Válidas/tentadas: taxa de sucesso da operação efetivamente iniciada.</a:t>
            </a:r>
          </a:p>
        </p:txBody>
      </p:sp>
      <p:sp>
        <p:nvSpPr>
          <p:cNvPr id="11" name="CaixaDeTexto 10">
            <a:extLst>
              <a:ext uri="{FF2B5EF4-FFF2-40B4-BE49-F238E27FC236}">
                <a16:creationId xmlns:a16="http://schemas.microsoft.com/office/drawing/2014/main" id="{163D07AE-C195-4483-99AA-B61F59CE9129}"/>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Min, mediana, p95 e max: distribuição das respostas válidas.</a:t>
            </a:r>
          </a:p>
        </p:txBody>
      </p:sp>
      <p:sp>
        <p:nvSpPr>
          <p:cNvPr id="12" name="CaixaDeTexto 11">
            <a:extLst>
              <a:ext uri="{FF2B5EF4-FFF2-40B4-BE49-F238E27FC236}">
                <a16:creationId xmlns:a16="http://schemas.microsoft.com/office/drawing/2014/main" id="{A07C7417-12BE-4CE0-959E-DAAA35E15A88}"/>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529504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2B40C70-B778-49AC-8EEC-618E600A96D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5CA609F4-7A68-4FCD-97B3-EF3A524D846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sondagem da sub-rede</a:t>
            </a:r>
          </a:p>
        </p:txBody>
      </p:sp>
      <p:sp>
        <p:nvSpPr>
          <p:cNvPr id="4" name="CaixaDeTexto 3">
            <a:extLst>
              <a:ext uri="{FF2B5EF4-FFF2-40B4-BE49-F238E27FC236}">
                <a16:creationId xmlns:a16="http://schemas.microsoft.com/office/drawing/2014/main" id="{AAF0172B-D8AC-474F-ABF0-0EACED989C0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DB943E4-E13A-4B05-96DB-19BB7734B6A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30</a:t>
            </a:r>
          </a:p>
        </p:txBody>
      </p:sp>
      <p:pic>
        <p:nvPicPr>
          <p:cNvPr id="7" name="Imagem 6">
            <a:extLst>
              <a:ext uri="{FF2B5EF4-FFF2-40B4-BE49-F238E27FC236}">
                <a16:creationId xmlns:a16="http://schemas.microsoft.com/office/drawing/2014/main" id="{554F539D-B704-46ED-9D03-73D6909B88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07542"/>
            <a:ext cx="6350000" cy="2484317"/>
          </a:xfrm>
          <a:prstGeom prst="rect">
            <a:avLst/>
          </a:prstGeom>
        </p:spPr>
      </p:pic>
      <p:sp>
        <p:nvSpPr>
          <p:cNvPr id="8" name="CaixaDeTexto 7">
            <a:extLst>
              <a:ext uri="{FF2B5EF4-FFF2-40B4-BE49-F238E27FC236}">
                <a16:creationId xmlns:a16="http://schemas.microsoft.com/office/drawing/2014/main" id="{549381D8-734A-4F4C-AE04-7B76981B6A80}"/>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Descobrir equipamentos: habilita a enumeração ativa da faixa.</a:t>
            </a:r>
          </a:p>
        </p:txBody>
      </p:sp>
      <p:sp>
        <p:nvSpPr>
          <p:cNvPr id="9" name="CaixaDeTexto 8">
            <a:extLst>
              <a:ext uri="{FF2B5EF4-FFF2-40B4-BE49-F238E27FC236}">
                <a16:creationId xmlns:a16="http://schemas.microsoft.com/office/drawing/2014/main" id="{CD4497CE-3EF1-4EF1-9DAC-E96810256379}"/>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CIDR: define a rede manual quando o modo automático está desligado.</a:t>
            </a:r>
          </a:p>
        </p:txBody>
      </p:sp>
      <p:sp>
        <p:nvSpPr>
          <p:cNvPr id="10" name="CaixaDeTexto 9">
            <a:extLst>
              <a:ext uri="{FF2B5EF4-FFF2-40B4-BE49-F238E27FC236}">
                <a16:creationId xmlns:a16="http://schemas.microsoft.com/office/drawing/2014/main" id="{6EE094D3-6D91-42E6-9581-E49BBE2A3823}"/>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TCP: espera por tentativa de descoberta.</a:t>
            </a:r>
          </a:p>
        </p:txBody>
      </p:sp>
      <p:sp>
        <p:nvSpPr>
          <p:cNvPr id="11" name="CaixaDeTexto 10">
            <a:extLst>
              <a:ext uri="{FF2B5EF4-FFF2-40B4-BE49-F238E27FC236}">
                <a16:creationId xmlns:a16="http://schemas.microsoft.com/office/drawing/2014/main" id="{617F0B85-42E1-45D8-B61E-5603506FDF30}"/>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Concorrência e taxa: limitam paralelismo e início de sondagens.</a:t>
            </a:r>
          </a:p>
        </p:txBody>
      </p:sp>
      <p:sp>
        <p:nvSpPr>
          <p:cNvPr id="12" name="CaixaDeTexto 11">
            <a:extLst>
              <a:ext uri="{FF2B5EF4-FFF2-40B4-BE49-F238E27FC236}">
                <a16:creationId xmlns:a16="http://schemas.microsoft.com/office/drawing/2014/main" id="{EBA70CF8-6D59-4331-8FCF-F1620D7809E2}"/>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559418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3FDD525-D20A-435F-948A-A08CF15E9DA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4D35ABFB-4D16-4C16-BCAA-55485DE4AE5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identificação e portas Modbus</a:t>
            </a:r>
          </a:p>
        </p:txBody>
      </p:sp>
      <p:sp>
        <p:nvSpPr>
          <p:cNvPr id="4" name="CaixaDeTexto 3">
            <a:extLst>
              <a:ext uri="{FF2B5EF4-FFF2-40B4-BE49-F238E27FC236}">
                <a16:creationId xmlns:a16="http://schemas.microsoft.com/office/drawing/2014/main" id="{39E0E34D-7518-4607-BED8-486C77E6C1C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C94F717-7A7C-490B-9935-4A2650CB2D7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31</a:t>
            </a:r>
          </a:p>
        </p:txBody>
      </p:sp>
      <p:pic>
        <p:nvPicPr>
          <p:cNvPr id="7" name="Imagem 6">
            <a:extLst>
              <a:ext uri="{FF2B5EF4-FFF2-40B4-BE49-F238E27FC236}">
                <a16:creationId xmlns:a16="http://schemas.microsoft.com/office/drawing/2014/main" id="{8F2EF426-8F5E-4BEA-90D1-F0FA3AEB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975248"/>
            <a:ext cx="6350000" cy="1948904"/>
          </a:xfrm>
          <a:prstGeom prst="rect">
            <a:avLst/>
          </a:prstGeom>
        </p:spPr>
      </p:pic>
      <p:sp>
        <p:nvSpPr>
          <p:cNvPr id="8" name="CaixaDeTexto 7">
            <a:extLst>
              <a:ext uri="{FF2B5EF4-FFF2-40B4-BE49-F238E27FC236}">
                <a16:creationId xmlns:a16="http://schemas.microsoft.com/office/drawing/2014/main" id="{CC8CB77A-572C-4AB9-870B-89587247247E}"/>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Automático: resolve a sub-rede pertinente à interface local.</a:t>
            </a:r>
          </a:p>
        </p:txBody>
      </p:sp>
      <p:sp>
        <p:nvSpPr>
          <p:cNvPr id="9" name="CaixaDeTexto 8">
            <a:extLst>
              <a:ext uri="{FF2B5EF4-FFF2-40B4-BE49-F238E27FC236}">
                <a16:creationId xmlns:a16="http://schemas.microsoft.com/office/drawing/2014/main" id="{6BF73A17-EE02-4D05-B2FE-6D7F1B04E87B}"/>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Desmarcado: usa o CIDR configurado manualmente.</a:t>
            </a:r>
          </a:p>
        </p:txBody>
      </p:sp>
      <p:sp>
        <p:nvSpPr>
          <p:cNvPr id="10" name="CaixaDeTexto 9">
            <a:extLst>
              <a:ext uri="{FF2B5EF4-FFF2-40B4-BE49-F238E27FC236}">
                <a16:creationId xmlns:a16="http://schemas.microsoft.com/office/drawing/2014/main" id="{D47539FE-890B-406D-92AB-A901C407011B}"/>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Portas TCP: lista separada por vírgulas, até 16 portas.</a:t>
            </a:r>
          </a:p>
        </p:txBody>
      </p:sp>
      <p:sp>
        <p:nvSpPr>
          <p:cNvPr id="11" name="CaixaDeTexto 10">
            <a:extLst>
              <a:ext uri="{FF2B5EF4-FFF2-40B4-BE49-F238E27FC236}">
                <a16:creationId xmlns:a16="http://schemas.microsoft.com/office/drawing/2014/main" id="{259FB2CE-07F3-4A32-B5EE-5983EE8EE72C}"/>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502,1501,1502: exemplo que contempla serviços fora da porta padrão.</a:t>
            </a:r>
          </a:p>
        </p:txBody>
      </p:sp>
      <p:sp>
        <p:nvSpPr>
          <p:cNvPr id="12" name="CaixaDeTexto 11">
            <a:extLst>
              <a:ext uri="{FF2B5EF4-FFF2-40B4-BE49-F238E27FC236}">
                <a16:creationId xmlns:a16="http://schemas.microsoft.com/office/drawing/2014/main" id="{48D8E1C0-90EE-409C-BF4E-40FD0BF0A4E7}"/>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413326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AACA00F-1F2B-4A25-A791-063B7E6C1DE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F7312FAC-87F0-4FD1-B1AA-34A2784FAC1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rastreamento de rotas</a:t>
            </a:r>
          </a:p>
        </p:txBody>
      </p:sp>
      <p:sp>
        <p:nvSpPr>
          <p:cNvPr id="4" name="CaixaDeTexto 3">
            <a:extLst>
              <a:ext uri="{FF2B5EF4-FFF2-40B4-BE49-F238E27FC236}">
                <a16:creationId xmlns:a16="http://schemas.microsoft.com/office/drawing/2014/main" id="{08B0FC47-0514-49FD-815A-A512679212E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C8C137C-2393-4507-BD30-1BD53E99FDD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32</a:t>
            </a:r>
          </a:p>
        </p:txBody>
      </p:sp>
      <p:pic>
        <p:nvPicPr>
          <p:cNvPr id="7" name="Imagem 6">
            <a:extLst>
              <a:ext uri="{FF2B5EF4-FFF2-40B4-BE49-F238E27FC236}">
                <a16:creationId xmlns:a16="http://schemas.microsoft.com/office/drawing/2014/main" id="{100B467B-D385-4E2A-AC05-467E30A489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691479"/>
            <a:ext cx="6350000" cy="2516442"/>
          </a:xfrm>
          <a:prstGeom prst="rect">
            <a:avLst/>
          </a:prstGeom>
        </p:spPr>
      </p:pic>
      <p:sp>
        <p:nvSpPr>
          <p:cNvPr id="8" name="CaixaDeTexto 7">
            <a:extLst>
              <a:ext uri="{FF2B5EF4-FFF2-40B4-BE49-F238E27FC236}">
                <a16:creationId xmlns:a16="http://schemas.microsoft.com/office/drawing/2014/main" id="{41D2066C-5DFB-4DD6-9600-C6B5FCA7B216}"/>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Rastrear ICMP: envia consultas por TTL até os destinos elegíveis.</a:t>
            </a:r>
          </a:p>
        </p:txBody>
      </p:sp>
      <p:sp>
        <p:nvSpPr>
          <p:cNvPr id="9" name="CaixaDeTexto 8">
            <a:extLst>
              <a:ext uri="{FF2B5EF4-FFF2-40B4-BE49-F238E27FC236}">
                <a16:creationId xmlns:a16="http://schemas.microsoft.com/office/drawing/2014/main" id="{820DE641-A3B7-46C6-BAFE-9DE74C712DF8}"/>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saltos: limite de TTL por alvo.</a:t>
            </a:r>
          </a:p>
        </p:txBody>
      </p:sp>
      <p:sp>
        <p:nvSpPr>
          <p:cNvPr id="10" name="CaixaDeTexto 9">
            <a:extLst>
              <a:ext uri="{FF2B5EF4-FFF2-40B4-BE49-F238E27FC236}">
                <a16:creationId xmlns:a16="http://schemas.microsoft.com/office/drawing/2014/main" id="{685D6BF2-3B78-4EA4-943F-374782532342}"/>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por salto: espera pela resposta ICMP, em ms.</a:t>
            </a:r>
          </a:p>
        </p:txBody>
      </p:sp>
      <p:sp>
        <p:nvSpPr>
          <p:cNvPr id="11" name="CaixaDeTexto 10">
            <a:extLst>
              <a:ext uri="{FF2B5EF4-FFF2-40B4-BE49-F238E27FC236}">
                <a16:creationId xmlns:a16="http://schemas.microsoft.com/office/drawing/2014/main" id="{54ED7AD4-0155-4086-92BD-7AF116BDA2AF}"/>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alvos: limita quantos destinos terão rota investigada.</a:t>
            </a:r>
          </a:p>
        </p:txBody>
      </p:sp>
      <p:sp>
        <p:nvSpPr>
          <p:cNvPr id="12" name="CaixaDeTexto 11">
            <a:extLst>
              <a:ext uri="{FF2B5EF4-FFF2-40B4-BE49-F238E27FC236}">
                <a16:creationId xmlns:a16="http://schemas.microsoft.com/office/drawing/2014/main" id="{7DBF40A5-6834-405F-8908-FB7B0B4A5735}"/>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763743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56A136D-528D-45B6-8253-E350D4F9CB0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600026E0-7E93-4F77-BA02-849737E4BA2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alcance das leituras</a:t>
            </a:r>
          </a:p>
        </p:txBody>
      </p:sp>
      <p:sp>
        <p:nvSpPr>
          <p:cNvPr id="4" name="CaixaDeTexto 3">
            <a:extLst>
              <a:ext uri="{FF2B5EF4-FFF2-40B4-BE49-F238E27FC236}">
                <a16:creationId xmlns:a16="http://schemas.microsoft.com/office/drawing/2014/main" id="{6CA7D1EE-C806-443F-A5D3-7696B6AEC22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FBE094D-C758-468A-B66F-DFA01860264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33</a:t>
            </a:r>
          </a:p>
        </p:txBody>
      </p:sp>
      <p:pic>
        <p:nvPicPr>
          <p:cNvPr id="7" name="Imagem 6">
            <a:extLst>
              <a:ext uri="{FF2B5EF4-FFF2-40B4-BE49-F238E27FC236}">
                <a16:creationId xmlns:a16="http://schemas.microsoft.com/office/drawing/2014/main" id="{C3EB51C9-C815-4C05-AA6C-284DB861D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DCFC1634-DC18-4296-8A70-875C9AE34461}"/>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Habilitar: adiciona a etapa de descoberta ao plano.</a:t>
            </a:r>
          </a:p>
        </p:txBody>
      </p:sp>
      <p:sp>
        <p:nvSpPr>
          <p:cNvPr id="9" name="CaixaDeTexto 8">
            <a:extLst>
              <a:ext uri="{FF2B5EF4-FFF2-40B4-BE49-F238E27FC236}">
                <a16:creationId xmlns:a16="http://schemas.microsoft.com/office/drawing/2014/main" id="{014157B5-1078-4FB7-9D1D-539D15656D57}"/>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Mapa até: último offset investigado, inclusive.</a:t>
            </a:r>
          </a:p>
        </p:txBody>
      </p:sp>
      <p:sp>
        <p:nvSpPr>
          <p:cNvPr id="10" name="CaixaDeTexto 9">
            <a:extLst>
              <a:ext uri="{FF2B5EF4-FFF2-40B4-BE49-F238E27FC236}">
                <a16:creationId xmlns:a16="http://schemas.microsoft.com/office/drawing/2014/main" id="{5B098EEE-0530-427E-9F8A-DF0801B4E900}"/>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 quantidade inicial de pontos por requisição.</a:t>
            </a:r>
          </a:p>
        </p:txBody>
      </p:sp>
      <p:sp>
        <p:nvSpPr>
          <p:cNvPr id="11" name="CaixaDeTexto 10">
            <a:extLst>
              <a:ext uri="{FF2B5EF4-FFF2-40B4-BE49-F238E27FC236}">
                <a16:creationId xmlns:a16="http://schemas.microsoft.com/office/drawing/2014/main" id="{7B92F24B-C002-4530-BF58-F1E94B7508F6}"/>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FC01 a FC04: áreas de dados que a descoberta consultará.</a:t>
            </a:r>
          </a:p>
        </p:txBody>
      </p:sp>
      <p:sp>
        <p:nvSpPr>
          <p:cNvPr id="12" name="CaixaDeTexto 11">
            <a:extLst>
              <a:ext uri="{FF2B5EF4-FFF2-40B4-BE49-F238E27FC236}">
                <a16:creationId xmlns:a16="http://schemas.microsoft.com/office/drawing/2014/main" id="{DC29CCED-B8B0-442B-B9DD-08D2FEB92C4A}"/>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828002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CB90D46-B1C3-40CA-86BE-02D94738F57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do teste</a:t>
            </a:r>
          </a:p>
        </p:txBody>
      </p:sp>
      <p:sp>
        <p:nvSpPr>
          <p:cNvPr id="3" name="CaixaDeTexto 2">
            <a:extLst>
              <a:ext uri="{FF2B5EF4-FFF2-40B4-BE49-F238E27FC236}">
                <a16:creationId xmlns:a16="http://schemas.microsoft.com/office/drawing/2014/main" id="{F23574E5-FCA9-4FD2-87E8-DCDC0A2DBA7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UIDs e fallback</a:t>
            </a:r>
          </a:p>
        </p:txBody>
      </p:sp>
      <p:sp>
        <p:nvSpPr>
          <p:cNvPr id="4" name="CaixaDeTexto 3">
            <a:extLst>
              <a:ext uri="{FF2B5EF4-FFF2-40B4-BE49-F238E27FC236}">
                <a16:creationId xmlns:a16="http://schemas.microsoft.com/office/drawing/2014/main" id="{FC19D0D0-586C-4C46-AAB0-B6B394CC77A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9CDE789-48B1-4C94-9E0E-F8A7D210C49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34</a:t>
            </a:r>
          </a:p>
        </p:txBody>
      </p:sp>
      <p:pic>
        <p:nvPicPr>
          <p:cNvPr id="7" name="Imagem 6">
            <a:extLst>
              <a:ext uri="{FF2B5EF4-FFF2-40B4-BE49-F238E27FC236}">
                <a16:creationId xmlns:a16="http://schemas.microsoft.com/office/drawing/2014/main" id="{F183C916-549F-4B81-A3DE-A42F744062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F569C45C-3328-41DB-B4F1-B0D5E79E3327}"/>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Varrer Unit IDs: percorre a faixa inclusiva de unidades.</a:t>
            </a:r>
          </a:p>
        </p:txBody>
      </p:sp>
      <p:sp>
        <p:nvSpPr>
          <p:cNvPr id="9" name="CaixaDeTexto 8">
            <a:extLst>
              <a:ext uri="{FF2B5EF4-FFF2-40B4-BE49-F238E27FC236}">
                <a16:creationId xmlns:a16="http://schemas.microsoft.com/office/drawing/2014/main" id="{C18333BC-3ABF-4787-AF41-4F939744B040}"/>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ID inicial/final: limites de 0 a 255 quando a varredura está ativa.</a:t>
            </a:r>
          </a:p>
        </p:txBody>
      </p:sp>
      <p:sp>
        <p:nvSpPr>
          <p:cNvPr id="10" name="CaixaDeTexto 9">
            <a:extLst>
              <a:ext uri="{FF2B5EF4-FFF2-40B4-BE49-F238E27FC236}">
                <a16:creationId xmlns:a16="http://schemas.microsoft.com/office/drawing/2014/main" id="{9B405BC2-6E77-430F-8C32-456964D5CE23}"/>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Fallback: consulta pontos individuais após falha compatível do bloco.</a:t>
            </a:r>
          </a:p>
        </p:txBody>
      </p:sp>
      <p:sp>
        <p:nvSpPr>
          <p:cNvPr id="11" name="CaixaDeTexto 10">
            <a:extLst>
              <a:ext uri="{FF2B5EF4-FFF2-40B4-BE49-F238E27FC236}">
                <a16:creationId xmlns:a16="http://schemas.microsoft.com/office/drawing/2014/main" id="{ECB76150-7D29-4139-8379-3B18DFBA2441}"/>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Mais IDs e funções aumentam requests e duração.</a:t>
            </a:r>
          </a:p>
        </p:txBody>
      </p:sp>
      <p:sp>
        <p:nvSpPr>
          <p:cNvPr id="12" name="CaixaDeTexto 11">
            <a:extLst>
              <a:ext uri="{FF2B5EF4-FFF2-40B4-BE49-F238E27FC236}">
                <a16:creationId xmlns:a16="http://schemas.microsoft.com/office/drawing/2014/main" id="{CA0C441A-EF0E-4F9C-84C5-D8D3254FC83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61470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2752371-27DD-491E-8EBE-97420BDEBF4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CBFC2591-946F-47C1-94EA-ACCC500FC62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checklist e evidência selecionada</a:t>
            </a:r>
          </a:p>
        </p:txBody>
      </p:sp>
      <p:sp>
        <p:nvSpPr>
          <p:cNvPr id="4" name="CaixaDeTexto 3">
            <a:extLst>
              <a:ext uri="{FF2B5EF4-FFF2-40B4-BE49-F238E27FC236}">
                <a16:creationId xmlns:a16="http://schemas.microsoft.com/office/drawing/2014/main" id="{E30C68AF-068B-4915-A45E-B20EA09E507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F13E0BD-A601-40A4-89C3-972D3D19E41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35</a:t>
            </a:r>
          </a:p>
        </p:txBody>
      </p:sp>
      <p:pic>
        <p:nvPicPr>
          <p:cNvPr id="7" name="Imagem 6">
            <a:extLst>
              <a:ext uri="{FF2B5EF4-FFF2-40B4-BE49-F238E27FC236}">
                <a16:creationId xmlns:a16="http://schemas.microsoft.com/office/drawing/2014/main" id="{837E0395-CEE8-4CE1-AF5A-1E7FCFC02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3C93082B-2B7E-45E2-AE91-15971F0A6DF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Etapa e estado: mostram o percurso e o resultado de cada verificação.</a:t>
            </a:r>
          </a:p>
        </p:txBody>
      </p:sp>
      <p:sp>
        <p:nvSpPr>
          <p:cNvPr id="9" name="CaixaDeTexto 8">
            <a:extLst>
              <a:ext uri="{FF2B5EF4-FFF2-40B4-BE49-F238E27FC236}">
                <a16:creationId xmlns:a16="http://schemas.microsoft.com/office/drawing/2014/main" id="{529B3D28-FA97-4FC8-9DF9-7562EEAD7B5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Seleção da etapa: abre objetivo, resultado técnico e recomendação.</a:t>
            </a:r>
          </a:p>
        </p:txBody>
      </p:sp>
      <p:sp>
        <p:nvSpPr>
          <p:cNvPr id="10" name="CaixaDeTexto 9">
            <a:extLst>
              <a:ext uri="{FF2B5EF4-FFF2-40B4-BE49-F238E27FC236}">
                <a16:creationId xmlns:a16="http://schemas.microsoft.com/office/drawing/2014/main" id="{D3C1318E-6314-421F-A6FB-BB6A04B91A3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configuração fica protegida durante a execução.</a:t>
            </a:r>
          </a:p>
        </p:txBody>
      </p:sp>
      <p:sp>
        <p:nvSpPr>
          <p:cNvPr id="11" name="CaixaDeTexto 10">
            <a:extLst>
              <a:ext uri="{FF2B5EF4-FFF2-40B4-BE49-F238E27FC236}">
                <a16:creationId xmlns:a16="http://schemas.microsoft.com/office/drawing/2014/main" id="{65146ECA-621B-4648-A80B-2CA3F2D4BFA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plano varia conforme papel, alvos e descoberta habilitada.</a:t>
            </a:r>
          </a:p>
        </p:txBody>
      </p:sp>
      <p:sp>
        <p:nvSpPr>
          <p:cNvPr id="12" name="CaixaDeTexto 11">
            <a:extLst>
              <a:ext uri="{FF2B5EF4-FFF2-40B4-BE49-F238E27FC236}">
                <a16:creationId xmlns:a16="http://schemas.microsoft.com/office/drawing/2014/main" id="{9C887AFC-5EE5-44D7-9225-5B71801DEBB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53822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DED8D05-1E6E-4A83-92B1-947CFF445D5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42CDA59A-9FAC-47FC-919A-82900F227DC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Checklist: significado dos estados</a:t>
            </a:r>
          </a:p>
        </p:txBody>
      </p:sp>
      <p:sp>
        <p:nvSpPr>
          <p:cNvPr id="4" name="CaixaDeTexto 3">
            <a:extLst>
              <a:ext uri="{FF2B5EF4-FFF2-40B4-BE49-F238E27FC236}">
                <a16:creationId xmlns:a16="http://schemas.microsoft.com/office/drawing/2014/main" id="{28EA9147-C1CD-4C3C-BA83-B9FEC76269D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3D540E2-4E3C-48BD-8E88-FC91B991AD5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36</a:t>
            </a:r>
          </a:p>
        </p:txBody>
      </p:sp>
      <p:pic>
        <p:nvPicPr>
          <p:cNvPr id="7" name="Imagem 6">
            <a:extLst>
              <a:ext uri="{FF2B5EF4-FFF2-40B4-BE49-F238E27FC236}">
                <a16:creationId xmlns:a16="http://schemas.microsoft.com/office/drawing/2014/main" id="{16FA2974-D261-4C49-B558-A7941DD6D5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10C9E495-42A7-4A29-9632-D51F2F31780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critério atendido na janela. Atenção: sinal a investigar.</a:t>
            </a:r>
          </a:p>
        </p:txBody>
      </p:sp>
      <p:sp>
        <p:nvSpPr>
          <p:cNvPr id="9" name="CaixaDeTexto 8">
            <a:extLst>
              <a:ext uri="{FF2B5EF4-FFF2-40B4-BE49-F238E27FC236}">
                <a16:creationId xmlns:a16="http://schemas.microsoft.com/office/drawing/2014/main" id="{E24CDD7F-55F2-47D6-993C-AED16CE8CC7F}"/>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operação ou critério não atendido.</a:t>
            </a:r>
          </a:p>
        </p:txBody>
      </p:sp>
      <p:sp>
        <p:nvSpPr>
          <p:cNvPr id="10" name="CaixaDeTexto 9">
            <a:extLst>
              <a:ext uri="{FF2B5EF4-FFF2-40B4-BE49-F238E27FC236}">
                <a16:creationId xmlns:a16="http://schemas.microsoft.com/office/drawing/2014/main" id="{52C252CE-9E2E-463D-98A8-0E27470B0C9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Inconclusivo: evidência insuficiente. Não aplicável: etapa fora do cenário.</a:t>
            </a:r>
          </a:p>
        </p:txBody>
      </p:sp>
      <p:sp>
        <p:nvSpPr>
          <p:cNvPr id="11" name="CaixaDeTexto 10">
            <a:extLst>
              <a:ext uri="{FF2B5EF4-FFF2-40B4-BE49-F238E27FC236}">
                <a16:creationId xmlns:a16="http://schemas.microsoft.com/office/drawing/2014/main" id="{1AE22486-AB3E-490D-A520-5160D967B15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Executando e Pendente: etapa ativa ou ainda não processada.</a:t>
            </a:r>
          </a:p>
        </p:txBody>
      </p:sp>
      <p:sp>
        <p:nvSpPr>
          <p:cNvPr id="12" name="CaixaDeTexto 11">
            <a:extLst>
              <a:ext uri="{FF2B5EF4-FFF2-40B4-BE49-F238E27FC236}">
                <a16:creationId xmlns:a16="http://schemas.microsoft.com/office/drawing/2014/main" id="{69CFCF37-67E8-4C98-B4C5-26E19E84AD8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55617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4FC5EED-B529-4C55-95B5-52CAE71FC29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BDB003E5-F4A5-4B5E-8FF3-B741F6DF9B4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Resumo: achados e cobertura</a:t>
            </a:r>
          </a:p>
        </p:txBody>
      </p:sp>
      <p:sp>
        <p:nvSpPr>
          <p:cNvPr id="4" name="CaixaDeTexto 3">
            <a:extLst>
              <a:ext uri="{FF2B5EF4-FFF2-40B4-BE49-F238E27FC236}">
                <a16:creationId xmlns:a16="http://schemas.microsoft.com/office/drawing/2014/main" id="{1845012B-C411-48A1-809E-4CDE2DDBE18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216312B-0D2D-4F45-B832-849CEB678E0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37</a:t>
            </a:r>
          </a:p>
        </p:txBody>
      </p:sp>
      <p:pic>
        <p:nvPicPr>
          <p:cNvPr id="7" name="Imagem 6">
            <a:extLst>
              <a:ext uri="{FF2B5EF4-FFF2-40B4-BE49-F238E27FC236}">
                <a16:creationId xmlns:a16="http://schemas.microsoft.com/office/drawing/2014/main" id="{D963E66D-B12C-4ED1-9037-B97CFDDA4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31B9C9C1-F185-42FB-A73E-395D5FDE7EF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Falhas e atenções: priorizam os achados que exigem investigação.</a:t>
            </a:r>
          </a:p>
        </p:txBody>
      </p:sp>
      <p:sp>
        <p:nvSpPr>
          <p:cNvPr id="9" name="CaixaDeTexto 8">
            <a:extLst>
              <a:ext uri="{FF2B5EF4-FFF2-40B4-BE49-F238E27FC236}">
                <a16:creationId xmlns:a16="http://schemas.microsoft.com/office/drawing/2014/main" id="{6694393C-4AE5-4DB8-B656-2BC4D717CA1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Consultar etapa: retorna ao resultado técnico correspondente.</a:t>
            </a:r>
          </a:p>
        </p:txBody>
      </p:sp>
      <p:sp>
        <p:nvSpPr>
          <p:cNvPr id="10" name="CaixaDeTexto 9">
            <a:extLst>
              <a:ext uri="{FF2B5EF4-FFF2-40B4-BE49-F238E27FC236}">
                <a16:creationId xmlns:a16="http://schemas.microsoft.com/office/drawing/2014/main" id="{F07CDBCF-530A-409D-9D29-5D024668489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incompleta: separa falta de evidência de falha operacional.</a:t>
            </a:r>
          </a:p>
        </p:txBody>
      </p:sp>
      <p:sp>
        <p:nvSpPr>
          <p:cNvPr id="11" name="CaixaDeTexto 10">
            <a:extLst>
              <a:ext uri="{FF2B5EF4-FFF2-40B4-BE49-F238E27FC236}">
                <a16:creationId xmlns:a16="http://schemas.microsoft.com/office/drawing/2014/main" id="{D0066EBE-9397-4E44-9BCC-2CD07EFBD91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Síntese: reúne rede, Modbus, rotas e carga.</a:t>
            </a:r>
          </a:p>
        </p:txBody>
      </p:sp>
      <p:sp>
        <p:nvSpPr>
          <p:cNvPr id="12" name="CaixaDeTexto 11">
            <a:extLst>
              <a:ext uri="{FF2B5EF4-FFF2-40B4-BE49-F238E27FC236}">
                <a16:creationId xmlns:a16="http://schemas.microsoft.com/office/drawing/2014/main" id="{6797586C-3BB6-4B45-80EB-CA25CEB910E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810718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0FCC92B-0FEF-4C08-8DDE-50BD7EE9797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62791A1F-587D-4B8E-AFBD-A854D5684B7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identificação e origem</a:t>
            </a:r>
          </a:p>
        </p:txBody>
      </p:sp>
      <p:sp>
        <p:nvSpPr>
          <p:cNvPr id="4" name="CaixaDeTexto 3">
            <a:extLst>
              <a:ext uri="{FF2B5EF4-FFF2-40B4-BE49-F238E27FC236}">
                <a16:creationId xmlns:a16="http://schemas.microsoft.com/office/drawing/2014/main" id="{599E5610-EF70-47C2-979F-5DDD27E0247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8862293-3529-4EF5-A7B6-79F541C13A5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38</a:t>
            </a:r>
          </a:p>
        </p:txBody>
      </p:sp>
      <p:pic>
        <p:nvPicPr>
          <p:cNvPr id="7" name="Imagem 6">
            <a:extLst>
              <a:ext uri="{FF2B5EF4-FFF2-40B4-BE49-F238E27FC236}">
                <a16:creationId xmlns:a16="http://schemas.microsoft.com/office/drawing/2014/main" id="{0C6BDB30-4318-4334-AACD-5A5FCE93E2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FF92F910-8817-4A38-8B3B-BDCC6A29B1E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Dispositivo: endereço e identidade associada.</a:t>
            </a:r>
          </a:p>
        </p:txBody>
      </p:sp>
      <p:sp>
        <p:nvSpPr>
          <p:cNvPr id="9" name="CaixaDeTexto 8">
            <a:extLst>
              <a:ext uri="{FF2B5EF4-FFF2-40B4-BE49-F238E27FC236}">
                <a16:creationId xmlns:a16="http://schemas.microsoft.com/office/drawing/2014/main" id="{6B9038D9-48EA-45ED-A75A-0855E2163E9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MAC: endereço de camada 2 quando disponível localmente.</a:t>
            </a:r>
          </a:p>
        </p:txBody>
      </p:sp>
      <p:sp>
        <p:nvSpPr>
          <p:cNvPr id="10" name="CaixaDeTexto 9">
            <a:extLst>
              <a:ext uri="{FF2B5EF4-FFF2-40B4-BE49-F238E27FC236}">
                <a16:creationId xmlns:a16="http://schemas.microsoft.com/office/drawing/2014/main" id="{DF98EC85-7DE1-4314-8AEF-41DE5832D55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Fonte: origem da evidência, como ARP, captura ou sondagem.</a:t>
            </a:r>
          </a:p>
        </p:txBody>
      </p:sp>
      <p:sp>
        <p:nvSpPr>
          <p:cNvPr id="11" name="CaixaDeTexto 10">
            <a:extLst>
              <a:ext uri="{FF2B5EF4-FFF2-40B4-BE49-F238E27FC236}">
                <a16:creationId xmlns:a16="http://schemas.microsoft.com/office/drawing/2014/main" id="{B069A098-70B0-46FA-B50A-44BEFA18D07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provável: classificação sustentada pelos dados disponíveis.</a:t>
            </a:r>
          </a:p>
        </p:txBody>
      </p:sp>
      <p:sp>
        <p:nvSpPr>
          <p:cNvPr id="12" name="CaixaDeTexto 11">
            <a:extLst>
              <a:ext uri="{FF2B5EF4-FFF2-40B4-BE49-F238E27FC236}">
                <a16:creationId xmlns:a16="http://schemas.microsoft.com/office/drawing/2014/main" id="{CBECF585-5B0C-4AFE-AA82-CEBDFA9758E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72993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EDA788C-2BC5-4886-A3F4-B380367BE3F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919C5354-B0BC-4634-8F06-427BC727DB5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confirmação e reutilização</a:t>
            </a:r>
          </a:p>
        </p:txBody>
      </p:sp>
      <p:sp>
        <p:nvSpPr>
          <p:cNvPr id="4" name="CaixaDeTexto 3">
            <a:extLst>
              <a:ext uri="{FF2B5EF4-FFF2-40B4-BE49-F238E27FC236}">
                <a16:creationId xmlns:a16="http://schemas.microsoft.com/office/drawing/2014/main" id="{B112DFC0-A967-451D-89CB-E3B48CDEFC6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F68DE1A-BC56-436E-BED4-AA3A94567A7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39</a:t>
            </a:r>
          </a:p>
        </p:txBody>
      </p:sp>
      <p:pic>
        <p:nvPicPr>
          <p:cNvPr id="7" name="Imagem 6">
            <a:extLst>
              <a:ext uri="{FF2B5EF4-FFF2-40B4-BE49-F238E27FC236}">
                <a16:creationId xmlns:a16="http://schemas.microsoft.com/office/drawing/2014/main" id="{8A7899DC-E420-4805-B6EC-5B47AB22E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78017BD5-7FAC-49FF-892B-2281B9DC5D0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TCP aberto: serviço aceitou conexão, ainda sem validar Modbus.</a:t>
            </a:r>
          </a:p>
        </p:txBody>
      </p:sp>
      <p:sp>
        <p:nvSpPr>
          <p:cNvPr id="9" name="CaixaDeTexto 8">
            <a:extLst>
              <a:ext uri="{FF2B5EF4-FFF2-40B4-BE49-F238E27FC236}">
                <a16:creationId xmlns:a16="http://schemas.microsoft.com/office/drawing/2014/main" id="{C89A25D2-F706-40B4-A810-16D6B36FDFB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confirmado: resposta válida por leitura ou exceção coerente.</a:t>
            </a:r>
          </a:p>
        </p:txBody>
      </p:sp>
      <p:sp>
        <p:nvSpPr>
          <p:cNvPr id="10" name="CaixaDeTexto 9">
            <a:extLst>
              <a:ext uri="{FF2B5EF4-FFF2-40B4-BE49-F238E27FC236}">
                <a16:creationId xmlns:a16="http://schemas.microsoft.com/office/drawing/2014/main" id="{01226349-B01D-4526-9D88-8A2CCFD0155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observado: conteúdo reconhecido na comunicação capturada.</a:t>
            </a:r>
          </a:p>
        </p:txBody>
      </p:sp>
      <p:sp>
        <p:nvSpPr>
          <p:cNvPr id="11" name="CaixaDeTexto 10">
            <a:extLst>
              <a:ext uri="{FF2B5EF4-FFF2-40B4-BE49-F238E27FC236}">
                <a16:creationId xmlns:a16="http://schemas.microsoft.com/office/drawing/2014/main" id="{87F5FF8F-9D15-4132-B036-B561B1CC94A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Botão direito: verificar IP ou adicionar como alvo, com mapa disponível.</a:t>
            </a:r>
          </a:p>
        </p:txBody>
      </p:sp>
      <p:sp>
        <p:nvSpPr>
          <p:cNvPr id="12" name="CaixaDeTexto 11">
            <a:extLst>
              <a:ext uri="{FF2B5EF4-FFF2-40B4-BE49-F238E27FC236}">
                <a16:creationId xmlns:a16="http://schemas.microsoft.com/office/drawing/2014/main" id="{CFC709E6-11DA-4A5F-8649-CE655A79440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491684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20E5799-33B0-4F87-8F96-ACA07077D42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9B5680C9-7F23-479C-ADB6-B8E31600F4C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diagrama de evidências</a:t>
            </a:r>
          </a:p>
        </p:txBody>
      </p:sp>
      <p:sp>
        <p:nvSpPr>
          <p:cNvPr id="4" name="CaixaDeTexto 3">
            <a:extLst>
              <a:ext uri="{FF2B5EF4-FFF2-40B4-BE49-F238E27FC236}">
                <a16:creationId xmlns:a16="http://schemas.microsoft.com/office/drawing/2014/main" id="{98785158-96BB-44FD-ACBF-312D3F82957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6273D23-1A94-4490-9A3E-572BA59A476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40</a:t>
            </a:r>
          </a:p>
        </p:txBody>
      </p:sp>
      <p:pic>
        <p:nvPicPr>
          <p:cNvPr id="7" name="Imagem 6">
            <a:extLst>
              <a:ext uri="{FF2B5EF4-FFF2-40B4-BE49-F238E27FC236}">
                <a16:creationId xmlns:a16="http://schemas.microsoft.com/office/drawing/2014/main" id="{5DB5A57C-8B58-4EE2-8597-E0B0F5022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FB95E360-D987-44AA-A882-4BD5D49DD3D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Pares Modbus: identificam quem comunica com quem.</a:t>
            </a:r>
          </a:p>
        </p:txBody>
      </p:sp>
      <p:sp>
        <p:nvSpPr>
          <p:cNvPr id="9" name="CaixaDeTexto 8">
            <a:extLst>
              <a:ext uri="{FF2B5EF4-FFF2-40B4-BE49-F238E27FC236}">
                <a16:creationId xmlns:a16="http://schemas.microsoft.com/office/drawing/2014/main" id="{A0594739-EE7C-436C-A804-E416B2DB8ED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Relações e rótulos: mostram a origem da evidência do enlace.</a:t>
            </a:r>
          </a:p>
        </p:txBody>
      </p:sp>
      <p:sp>
        <p:nvSpPr>
          <p:cNvPr id="10" name="CaixaDeTexto 9">
            <a:extLst>
              <a:ext uri="{FF2B5EF4-FFF2-40B4-BE49-F238E27FC236}">
                <a16:creationId xmlns:a16="http://schemas.microsoft.com/office/drawing/2014/main" id="{9584A7B3-EFA6-4B0E-BC3B-9160A6ADFBA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Infraestrutura: aparece conforme observação ou anúncio disponível.</a:t>
            </a:r>
          </a:p>
        </p:txBody>
      </p:sp>
      <p:sp>
        <p:nvSpPr>
          <p:cNvPr id="11" name="CaixaDeTexto 10">
            <a:extLst>
              <a:ext uri="{FF2B5EF4-FFF2-40B4-BE49-F238E27FC236}">
                <a16:creationId xmlns:a16="http://schemas.microsoft.com/office/drawing/2014/main" id="{71FEC2FE-C00D-43E5-83A3-92B35276E5B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Limitações: distinguem comunicação inferida e caminho físico verificado.</a:t>
            </a:r>
          </a:p>
        </p:txBody>
      </p:sp>
      <p:sp>
        <p:nvSpPr>
          <p:cNvPr id="12" name="CaixaDeTexto 11">
            <a:extLst>
              <a:ext uri="{FF2B5EF4-FFF2-40B4-BE49-F238E27FC236}">
                <a16:creationId xmlns:a16="http://schemas.microsoft.com/office/drawing/2014/main" id="{EBC73E99-77BF-4328-814A-06ACAED3857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96144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F700A3B-8E54-439B-9992-320A3629BD6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0A259516-1E42-4E4B-AC2F-E6E3E704D05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tabela de evidências Modbus</a:t>
            </a:r>
          </a:p>
        </p:txBody>
      </p:sp>
      <p:sp>
        <p:nvSpPr>
          <p:cNvPr id="4" name="CaixaDeTexto 3">
            <a:extLst>
              <a:ext uri="{FF2B5EF4-FFF2-40B4-BE49-F238E27FC236}">
                <a16:creationId xmlns:a16="http://schemas.microsoft.com/office/drawing/2014/main" id="{1E982F80-F76B-4B28-8438-716278EAFCB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14EA73C-1FD8-4675-8E78-DEF232709D0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41</a:t>
            </a:r>
          </a:p>
        </p:txBody>
      </p:sp>
      <p:pic>
        <p:nvPicPr>
          <p:cNvPr id="7" name="Imagem 6">
            <a:extLst>
              <a:ext uri="{FF2B5EF4-FFF2-40B4-BE49-F238E27FC236}">
                <a16:creationId xmlns:a16="http://schemas.microsoft.com/office/drawing/2014/main" id="{0FA29218-A262-4651-B133-A30A5228F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0944"/>
            <a:ext cx="10820400" cy="2722113"/>
          </a:xfrm>
          <a:prstGeom prst="rect">
            <a:avLst/>
          </a:prstGeom>
        </p:spPr>
      </p:pic>
      <p:sp>
        <p:nvSpPr>
          <p:cNvPr id="8" name="CaixaDeTexto 7">
            <a:extLst>
              <a:ext uri="{FF2B5EF4-FFF2-40B4-BE49-F238E27FC236}">
                <a16:creationId xmlns:a16="http://schemas.microsoft.com/office/drawing/2014/main" id="{787EC065-2E33-4ABA-AC21-4ABE10C0BFE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Origem e destino: participantes da relação observada.</a:t>
            </a:r>
          </a:p>
        </p:txBody>
      </p:sp>
      <p:sp>
        <p:nvSpPr>
          <p:cNvPr id="9" name="CaixaDeTexto 8">
            <a:extLst>
              <a:ext uri="{FF2B5EF4-FFF2-40B4-BE49-F238E27FC236}">
                <a16:creationId xmlns:a16="http://schemas.microsoft.com/office/drawing/2014/main" id="{F529C286-8203-494F-BDA6-AD7CBA0B4E0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Evidência: mecanismo que sustentou a relação.</a:t>
            </a:r>
          </a:p>
        </p:txBody>
      </p:sp>
      <p:sp>
        <p:nvSpPr>
          <p:cNvPr id="10" name="CaixaDeTexto 9">
            <a:extLst>
              <a:ext uri="{FF2B5EF4-FFF2-40B4-BE49-F238E27FC236}">
                <a16:creationId xmlns:a16="http://schemas.microsoft.com/office/drawing/2014/main" id="{D0357241-6073-47B0-B1A0-ACFB78B9B33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Contagem: ocorrências acumuladas, não número de dispositivos.</a:t>
            </a:r>
          </a:p>
        </p:txBody>
      </p:sp>
      <p:sp>
        <p:nvSpPr>
          <p:cNvPr id="11" name="CaixaDeTexto 10">
            <a:extLst>
              <a:ext uri="{FF2B5EF4-FFF2-40B4-BE49-F238E27FC236}">
                <a16:creationId xmlns:a16="http://schemas.microsoft.com/office/drawing/2014/main" id="{ACD9F271-F5E1-488A-9B7F-EE7121501EA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Detalhes: operação ou contexto para confrontar com a timeline.</a:t>
            </a:r>
          </a:p>
        </p:txBody>
      </p:sp>
      <p:sp>
        <p:nvSpPr>
          <p:cNvPr id="12" name="CaixaDeTexto 11">
            <a:extLst>
              <a:ext uri="{FF2B5EF4-FFF2-40B4-BE49-F238E27FC236}">
                <a16:creationId xmlns:a16="http://schemas.microsoft.com/office/drawing/2014/main" id="{59FEB7AD-F61B-499F-B158-62ADAE55F03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124229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BC0AB58-8EF2-461E-82CD-45100264666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BF0AAD45-E3A4-4955-8CB9-42772AF8199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rotas ICMP</a:t>
            </a:r>
          </a:p>
        </p:txBody>
      </p:sp>
      <p:sp>
        <p:nvSpPr>
          <p:cNvPr id="4" name="CaixaDeTexto 3">
            <a:extLst>
              <a:ext uri="{FF2B5EF4-FFF2-40B4-BE49-F238E27FC236}">
                <a16:creationId xmlns:a16="http://schemas.microsoft.com/office/drawing/2014/main" id="{9CB036FE-FF4B-4209-A6D0-CDD1AA12BAB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0207573-F1A2-4B1A-BED0-16B6891A9CE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42</a:t>
            </a:r>
          </a:p>
        </p:txBody>
      </p:sp>
      <p:pic>
        <p:nvPicPr>
          <p:cNvPr id="7" name="Imagem 6">
            <a:extLst>
              <a:ext uri="{FF2B5EF4-FFF2-40B4-BE49-F238E27FC236}">
                <a16:creationId xmlns:a16="http://schemas.microsoft.com/office/drawing/2014/main" id="{DB4103E6-A811-4BD2-9224-928DA5C10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95ACC581-9457-4C48-B2B9-F901D04D69E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Alvo: destino do rastreamento.</a:t>
            </a:r>
          </a:p>
        </p:txBody>
      </p:sp>
      <p:sp>
        <p:nvSpPr>
          <p:cNvPr id="9" name="CaixaDeTexto 8">
            <a:extLst>
              <a:ext uri="{FF2B5EF4-FFF2-40B4-BE49-F238E27FC236}">
                <a16:creationId xmlns:a16="http://schemas.microsoft.com/office/drawing/2014/main" id="{2BD4A088-8C8C-4660-A818-98DD1E6F13A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TTL/salto e IP respondeu: posição e resposta naquele percurso.</a:t>
            </a:r>
          </a:p>
        </p:txBody>
      </p:sp>
      <p:sp>
        <p:nvSpPr>
          <p:cNvPr id="10" name="CaixaDeTexto 9">
            <a:extLst>
              <a:ext uri="{FF2B5EF4-FFF2-40B4-BE49-F238E27FC236}">
                <a16:creationId xmlns:a16="http://schemas.microsoft.com/office/drawing/2014/main" id="{A289B0D0-A4C2-4904-9BB7-7DF242000FF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ICMP: destino alcançado, TTL expirado ou ausência de resposta.</a:t>
            </a:r>
          </a:p>
        </p:txBody>
      </p:sp>
      <p:sp>
        <p:nvSpPr>
          <p:cNvPr id="11" name="CaixaDeTexto 10">
            <a:extLst>
              <a:ext uri="{FF2B5EF4-FFF2-40B4-BE49-F238E27FC236}">
                <a16:creationId xmlns:a16="http://schemas.microsoft.com/office/drawing/2014/main" id="{18510D8C-1CB2-4DF9-B1E0-690F488AB33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 (ms): tempo da consulta ICMP, diferente da latência Modbus.</a:t>
            </a:r>
          </a:p>
        </p:txBody>
      </p:sp>
      <p:sp>
        <p:nvSpPr>
          <p:cNvPr id="12" name="CaixaDeTexto 11">
            <a:extLst>
              <a:ext uri="{FF2B5EF4-FFF2-40B4-BE49-F238E27FC236}">
                <a16:creationId xmlns:a16="http://schemas.microsoft.com/office/drawing/2014/main" id="{3F8BEE4A-9513-4DCF-899E-DDD9CB8C417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413366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E29B852-0789-4816-A002-D2B4049FB20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2D0446F0-A4BD-4676-956F-2D79D21C3DA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vizinhos LLDP/CDP</a:t>
            </a:r>
          </a:p>
        </p:txBody>
      </p:sp>
      <p:sp>
        <p:nvSpPr>
          <p:cNvPr id="4" name="CaixaDeTexto 3">
            <a:extLst>
              <a:ext uri="{FF2B5EF4-FFF2-40B4-BE49-F238E27FC236}">
                <a16:creationId xmlns:a16="http://schemas.microsoft.com/office/drawing/2014/main" id="{87696652-0971-48A3-820C-29C7510D0D4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F29A51B-02CC-48FF-9588-A6D79ACEBAC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43</a:t>
            </a:r>
          </a:p>
        </p:txBody>
      </p:sp>
      <p:pic>
        <p:nvPicPr>
          <p:cNvPr id="7" name="Imagem 6">
            <a:extLst>
              <a:ext uri="{FF2B5EF4-FFF2-40B4-BE49-F238E27FC236}">
                <a16:creationId xmlns:a16="http://schemas.microsoft.com/office/drawing/2014/main" id="{8D657522-981E-4A49-8626-5028F1EF6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DD7F6FC1-7B50-4AC2-BCB7-5A9334214E0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nome e chassi: identidade anunciada do vizinho.</a:t>
            </a:r>
          </a:p>
        </p:txBody>
      </p:sp>
      <p:sp>
        <p:nvSpPr>
          <p:cNvPr id="9" name="CaixaDeTexto 8">
            <a:extLst>
              <a:ext uri="{FF2B5EF4-FFF2-40B4-BE49-F238E27FC236}">
                <a16:creationId xmlns:a16="http://schemas.microsoft.com/office/drawing/2014/main" id="{278C70BD-4499-43E0-B014-381D449F0B8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MAC e IP de gestão: identificadores recebidos no anúncio.</a:t>
            </a:r>
          </a:p>
        </p:txBody>
      </p:sp>
      <p:sp>
        <p:nvSpPr>
          <p:cNvPr id="10" name="CaixaDeTexto 9">
            <a:extLst>
              <a:ext uri="{FF2B5EF4-FFF2-40B4-BE49-F238E27FC236}">
                <a16:creationId xmlns:a16="http://schemas.microsoft.com/office/drawing/2014/main" id="{3F620502-C8C0-492A-B0AE-EF37A64E1D5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validade anunciada em segundos. Descrição: informação adicional.</a:t>
            </a:r>
          </a:p>
        </p:txBody>
      </p:sp>
      <p:sp>
        <p:nvSpPr>
          <p:cNvPr id="11" name="CaixaDeTexto 10">
            <a:extLst>
              <a:ext uri="{FF2B5EF4-FFF2-40B4-BE49-F238E27FC236}">
                <a16:creationId xmlns:a16="http://schemas.microsoft.com/office/drawing/2014/main" id="{930AFEE2-3FE3-4F7B-8F7E-3BE309A91D3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Lista vazia: nenhum anúncio disponível nesta interface e janela.</a:t>
            </a:r>
          </a:p>
        </p:txBody>
      </p:sp>
      <p:sp>
        <p:nvSpPr>
          <p:cNvPr id="12" name="CaixaDeTexto 11">
            <a:extLst>
              <a:ext uri="{FF2B5EF4-FFF2-40B4-BE49-F238E27FC236}">
                <a16:creationId xmlns:a16="http://schemas.microsoft.com/office/drawing/2014/main" id="{6647510A-4559-4FD2-B8E7-D3A88C2F2EA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759882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74797AD-622D-435A-A7A8-497FC08834F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2A5A3846-420D-43D7-BA4B-48FDE1F7DEB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descoberto: região, modo e confiança</a:t>
            </a:r>
          </a:p>
        </p:txBody>
      </p:sp>
      <p:sp>
        <p:nvSpPr>
          <p:cNvPr id="4" name="CaixaDeTexto 3">
            <a:extLst>
              <a:ext uri="{FF2B5EF4-FFF2-40B4-BE49-F238E27FC236}">
                <a16:creationId xmlns:a16="http://schemas.microsoft.com/office/drawing/2014/main" id="{3F5FD61C-8E88-469D-B000-50FF7AEAF4D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38C107E-7700-4B69-85F8-AB1E7FBB76B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44</a:t>
            </a:r>
          </a:p>
        </p:txBody>
      </p:sp>
      <p:pic>
        <p:nvPicPr>
          <p:cNvPr id="7" name="Imagem 6">
            <a:extLst>
              <a:ext uri="{FF2B5EF4-FFF2-40B4-BE49-F238E27FC236}">
                <a16:creationId xmlns:a16="http://schemas.microsoft.com/office/drawing/2014/main" id="{51A3D6A0-55DF-4BF1-A016-A451CD5B2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89553"/>
            <a:ext cx="10820400" cy="2624895"/>
          </a:xfrm>
          <a:prstGeom prst="rect">
            <a:avLst/>
          </a:prstGeom>
        </p:spPr>
      </p:pic>
      <p:sp>
        <p:nvSpPr>
          <p:cNvPr id="8" name="CaixaDeTexto 7">
            <a:extLst>
              <a:ext uri="{FF2B5EF4-FFF2-40B4-BE49-F238E27FC236}">
                <a16:creationId xmlns:a16="http://schemas.microsoft.com/office/drawing/2014/main" id="{26EBF4BE-AF62-4D66-9CAC-DC8377A7AD7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Unit ID: serviço e unidade aos quais o achado pertence.</a:t>
            </a:r>
          </a:p>
        </p:txBody>
      </p:sp>
      <p:sp>
        <p:nvSpPr>
          <p:cNvPr id="9" name="CaixaDeTexto 8">
            <a:extLst>
              <a:ext uri="{FF2B5EF4-FFF2-40B4-BE49-F238E27FC236}">
                <a16:creationId xmlns:a16="http://schemas.microsoft.com/office/drawing/2014/main" id="{CB4DC506-8162-4C93-A1ED-352867615C7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Função, início, fim e Qtd: área e intervalo inclusivo.</a:t>
            </a:r>
          </a:p>
        </p:txBody>
      </p:sp>
      <p:sp>
        <p:nvSpPr>
          <p:cNvPr id="10" name="CaixaDeTexto 9">
            <a:extLst>
              <a:ext uri="{FF2B5EF4-FFF2-40B4-BE49-F238E27FC236}">
                <a16:creationId xmlns:a16="http://schemas.microsoft.com/office/drawing/2014/main" id="{030ABB3B-2E05-4AC2-86AD-62275046CF8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Modo: sondagem ativa ou range requisitado por cliente observado.</a:t>
            </a:r>
          </a:p>
        </p:txBody>
      </p:sp>
      <p:sp>
        <p:nvSpPr>
          <p:cNvPr id="11" name="CaixaDeTexto 10">
            <a:extLst>
              <a:ext uri="{FF2B5EF4-FFF2-40B4-BE49-F238E27FC236}">
                <a16:creationId xmlns:a16="http://schemas.microsoft.com/office/drawing/2014/main" id="{C1F2F184-7F6B-4575-915E-5732EEFCD39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Confiança e notas: explicam o que foi efetivamente comprovado.</a:t>
            </a:r>
          </a:p>
        </p:txBody>
      </p:sp>
      <p:sp>
        <p:nvSpPr>
          <p:cNvPr id="12" name="CaixaDeTexto 11">
            <a:extLst>
              <a:ext uri="{FF2B5EF4-FFF2-40B4-BE49-F238E27FC236}">
                <a16:creationId xmlns:a16="http://schemas.microsoft.com/office/drawing/2014/main" id="{7CDBEF03-99ED-4739-B058-2736DD62F2D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294560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D87248C-E87F-402A-8655-55FDF46A95E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203D4D9E-5F01-4163-8B28-A10437D10C8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leitura e exportação</a:t>
            </a:r>
          </a:p>
        </p:txBody>
      </p:sp>
      <p:sp>
        <p:nvSpPr>
          <p:cNvPr id="4" name="CaixaDeTexto 3">
            <a:extLst>
              <a:ext uri="{FF2B5EF4-FFF2-40B4-BE49-F238E27FC236}">
                <a16:creationId xmlns:a16="http://schemas.microsoft.com/office/drawing/2014/main" id="{B8529466-82D2-49F7-8831-468BDBC8913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83854D6-4103-4204-9163-ACBF6AF4CB0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45</a:t>
            </a:r>
          </a:p>
        </p:txBody>
      </p:sp>
      <p:pic>
        <p:nvPicPr>
          <p:cNvPr id="7" name="Imagem 6">
            <a:extLst>
              <a:ext uri="{FF2B5EF4-FFF2-40B4-BE49-F238E27FC236}">
                <a16:creationId xmlns:a16="http://schemas.microsoft.com/office/drawing/2014/main" id="{2BF58F35-6DC4-4451-BA51-1E210F2CE7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D9630ABA-8B7F-4D05-894D-7462590258A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Texto exibido: resumo da execução, com achados e cobertura.</a:t>
            </a:r>
          </a:p>
        </p:txBody>
      </p:sp>
      <p:sp>
        <p:nvSpPr>
          <p:cNvPr id="9" name="CaixaDeTexto 8">
            <a:extLst>
              <a:ext uri="{FF2B5EF4-FFF2-40B4-BE49-F238E27FC236}">
                <a16:creationId xmlns:a16="http://schemas.microsoft.com/office/drawing/2014/main" id="{4F3654CB-D4E5-4E16-8618-734CBF3D123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resumo: material objetivo para comunicação e triagem.</a:t>
            </a:r>
          </a:p>
        </p:txBody>
      </p:sp>
      <p:sp>
        <p:nvSpPr>
          <p:cNvPr id="10" name="CaixaDeTexto 9">
            <a:extLst>
              <a:ext uri="{FF2B5EF4-FFF2-40B4-BE49-F238E27FC236}">
                <a16:creationId xmlns:a16="http://schemas.microsoft.com/office/drawing/2014/main" id="{C49DB89C-F410-470D-B881-BE96F7CD98A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completo: etapas, métricas e evidências detalhadas.</a:t>
            </a:r>
          </a:p>
        </p:txBody>
      </p:sp>
      <p:sp>
        <p:nvSpPr>
          <p:cNvPr id="11" name="CaixaDeTexto 10">
            <a:extLst>
              <a:ext uri="{FF2B5EF4-FFF2-40B4-BE49-F238E27FC236}">
                <a16:creationId xmlns:a16="http://schemas.microsoft.com/office/drawing/2014/main" id="{AC7D2E34-227E-4E97-AE77-C27D7CC5D0E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MD ou PDF: formato escolhido na janela de salvamento.</a:t>
            </a:r>
          </a:p>
        </p:txBody>
      </p:sp>
      <p:sp>
        <p:nvSpPr>
          <p:cNvPr id="12" name="CaixaDeTexto 11">
            <a:extLst>
              <a:ext uri="{FF2B5EF4-FFF2-40B4-BE49-F238E27FC236}">
                <a16:creationId xmlns:a16="http://schemas.microsoft.com/office/drawing/2014/main" id="{84416B13-278E-4C02-80E9-8D0CE4B219D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4769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4EF8008-EBFE-495E-9E7B-1CB06CDCEF2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714E90C2-CA35-46AB-A709-EC502925068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o que interpretar primeiro</a:t>
            </a:r>
          </a:p>
        </p:txBody>
      </p:sp>
      <p:sp>
        <p:nvSpPr>
          <p:cNvPr id="4" name="CaixaDeTexto 3">
            <a:extLst>
              <a:ext uri="{FF2B5EF4-FFF2-40B4-BE49-F238E27FC236}">
                <a16:creationId xmlns:a16="http://schemas.microsoft.com/office/drawing/2014/main" id="{72092AD3-A156-4BDD-A838-F025C72BD8E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5AE4C12-7368-4C2E-A73E-573E33D4611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46</a:t>
            </a:r>
          </a:p>
        </p:txBody>
      </p:sp>
      <p:pic>
        <p:nvPicPr>
          <p:cNvPr id="7" name="Imagem 6">
            <a:extLst>
              <a:ext uri="{FF2B5EF4-FFF2-40B4-BE49-F238E27FC236}">
                <a16:creationId xmlns:a16="http://schemas.microsoft.com/office/drawing/2014/main" id="{C5BF0180-C549-4102-A320-381CE742B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9E292B8E-3C37-4CC9-AA65-63E1D10CFC7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Resultado e achados: apontam a prioridade de investigação.</a:t>
            </a:r>
          </a:p>
        </p:txBody>
      </p:sp>
      <p:sp>
        <p:nvSpPr>
          <p:cNvPr id="9" name="CaixaDeTexto 8">
            <a:extLst>
              <a:ext uri="{FF2B5EF4-FFF2-40B4-BE49-F238E27FC236}">
                <a16:creationId xmlns:a16="http://schemas.microsoft.com/office/drawing/2014/main" id="{131B44B6-DFF9-4F6D-9E87-923B8D12E91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Operação: endpoint, UID, FC, início e quantidade identificam a consulta.</a:t>
            </a:r>
          </a:p>
        </p:txBody>
      </p:sp>
      <p:sp>
        <p:nvSpPr>
          <p:cNvPr id="10" name="CaixaDeTexto 9">
            <a:extLst>
              <a:ext uri="{FF2B5EF4-FFF2-40B4-BE49-F238E27FC236}">
                <a16:creationId xmlns:a16="http://schemas.microsoft.com/office/drawing/2014/main" id="{5C9B87D9-2DC4-4597-90A4-0C3BCEC02CE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Sucesso e tempo: válidas/tentadas, mediana, p95 e max.</a:t>
            </a:r>
          </a:p>
        </p:txBody>
      </p:sp>
      <p:sp>
        <p:nvSpPr>
          <p:cNvPr id="11" name="CaixaDeTexto 10">
            <a:extLst>
              <a:ext uri="{FF2B5EF4-FFF2-40B4-BE49-F238E27FC236}">
                <a16:creationId xmlns:a16="http://schemas.microsoft.com/office/drawing/2014/main" id="{E7C11AA3-B797-4340-9548-3EBC61E26AC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delimita o alcance da conclusão e a próxima verificação.</a:t>
            </a:r>
          </a:p>
        </p:txBody>
      </p:sp>
      <p:sp>
        <p:nvSpPr>
          <p:cNvPr id="12" name="CaixaDeTexto 11">
            <a:extLst>
              <a:ext uri="{FF2B5EF4-FFF2-40B4-BE49-F238E27FC236}">
                <a16:creationId xmlns:a16="http://schemas.microsoft.com/office/drawing/2014/main" id="{8C806EBB-6C41-4DA8-B931-C8B98E037A7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670155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C2BB8D3-349D-4E04-8F4B-5595A47420D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FDC452E8-2323-45F4-A4F3-14E6110366C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Salvar configuração: repetir a mesma bancada</a:t>
            </a:r>
          </a:p>
        </p:txBody>
      </p:sp>
      <p:sp>
        <p:nvSpPr>
          <p:cNvPr id="4" name="CaixaDeTexto 3">
            <a:extLst>
              <a:ext uri="{FF2B5EF4-FFF2-40B4-BE49-F238E27FC236}">
                <a16:creationId xmlns:a16="http://schemas.microsoft.com/office/drawing/2014/main" id="{5D47779C-3497-4CFA-9603-7554A31F64B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FF9E72E-A164-4A47-94C5-E20A97AEEAA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47</a:t>
            </a:r>
          </a:p>
        </p:txBody>
      </p:sp>
      <p:pic>
        <p:nvPicPr>
          <p:cNvPr id="7" name="Imagem 6">
            <a:extLst>
              <a:ext uri="{FF2B5EF4-FFF2-40B4-BE49-F238E27FC236}">
                <a16:creationId xmlns:a16="http://schemas.microsoft.com/office/drawing/2014/main" id="{F59AF671-E11D-42C9-8E2C-6965123AC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B7DE61C1-52A7-4E7F-B539-2C39D2C85C6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Salvar .ffd: preserva servidor, mapas e sessões de clientes.</a:t>
            </a:r>
          </a:p>
        </p:txBody>
      </p:sp>
      <p:sp>
        <p:nvSpPr>
          <p:cNvPr id="9" name="CaixaDeTexto 8">
            <a:extLst>
              <a:ext uri="{FF2B5EF4-FFF2-40B4-BE49-F238E27FC236}">
                <a16:creationId xmlns:a16="http://schemas.microsoft.com/office/drawing/2014/main" id="{28D4C454-D2CB-4B8D-BF25-1C7934C6693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Abrir .ffd: recupera a configuração sem recriar cada alvo.</a:t>
            </a:r>
          </a:p>
        </p:txBody>
      </p:sp>
      <p:sp>
        <p:nvSpPr>
          <p:cNvPr id="10" name="CaixaDeTexto 9">
            <a:extLst>
              <a:ext uri="{FF2B5EF4-FFF2-40B4-BE49-F238E27FC236}">
                <a16:creationId xmlns:a16="http://schemas.microsoft.com/office/drawing/2014/main" id="{8F14203A-4D6A-4B46-B6F5-B5B977EBAED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em execução: exige iniciar os serviços novamente.</a:t>
            </a:r>
          </a:p>
        </p:txBody>
      </p:sp>
      <p:sp>
        <p:nvSpPr>
          <p:cNvPr id="11" name="CaixaDeTexto 10">
            <a:extLst>
              <a:ext uri="{FF2B5EF4-FFF2-40B4-BE49-F238E27FC236}">
                <a16:creationId xmlns:a16="http://schemas.microsoft.com/office/drawing/2014/main" id="{B24304EC-9EC0-4F6F-8ADC-F33E8D4E456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Relatórios e capturas: evidências do ensaio, diferentes da configuração.</a:t>
            </a:r>
          </a:p>
        </p:txBody>
      </p:sp>
      <p:sp>
        <p:nvSpPr>
          <p:cNvPr id="12" name="CaixaDeTexto 11">
            <a:extLst>
              <a:ext uri="{FF2B5EF4-FFF2-40B4-BE49-F238E27FC236}">
                <a16:creationId xmlns:a16="http://schemas.microsoft.com/office/drawing/2014/main" id="{F28578DE-CFF4-4669-AD91-044E14B1C6F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02465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77777CD-16C3-4D1F-9E75-6597A6E4B5E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54A60B53-6C27-45F3-885F-61761B49FC9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Ajuda e F1: consulta durante a operação</a:t>
            </a:r>
          </a:p>
        </p:txBody>
      </p:sp>
      <p:sp>
        <p:nvSpPr>
          <p:cNvPr id="4" name="CaixaDeTexto 3">
            <a:extLst>
              <a:ext uri="{FF2B5EF4-FFF2-40B4-BE49-F238E27FC236}">
                <a16:creationId xmlns:a16="http://schemas.microsoft.com/office/drawing/2014/main" id="{32EF08E1-D95A-4E9C-B3D1-C9B883F039A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971A762-57B6-492A-8B99-DA4B41345A5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48</a:t>
            </a:r>
          </a:p>
        </p:txBody>
      </p:sp>
      <p:pic>
        <p:nvPicPr>
          <p:cNvPr id="7" name="Imagem 6">
            <a:extLst>
              <a:ext uri="{FF2B5EF4-FFF2-40B4-BE49-F238E27FC236}">
                <a16:creationId xmlns:a16="http://schemas.microsoft.com/office/drawing/2014/main" id="{E7F9ECB1-7D4B-4C78-82E0-77B225362F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2995" y="1765300"/>
            <a:ext cx="4706010" cy="3073400"/>
          </a:xfrm>
          <a:prstGeom prst="rect">
            <a:avLst/>
          </a:prstGeom>
        </p:spPr>
      </p:pic>
      <p:sp>
        <p:nvSpPr>
          <p:cNvPr id="8" name="CaixaDeTexto 7">
            <a:extLst>
              <a:ext uri="{FF2B5EF4-FFF2-40B4-BE49-F238E27FC236}">
                <a16:creationId xmlns:a16="http://schemas.microsoft.com/office/drawing/2014/main" id="{4CEBAED9-E263-4275-8CDB-527D7F27E08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Tópicos e subtópicos: organizam operação, configuração e diagnóstico.</a:t>
            </a:r>
          </a:p>
        </p:txBody>
      </p:sp>
      <p:sp>
        <p:nvSpPr>
          <p:cNvPr id="9" name="CaixaDeTexto 8">
            <a:extLst>
              <a:ext uri="{FF2B5EF4-FFF2-40B4-BE49-F238E27FC236}">
                <a16:creationId xmlns:a16="http://schemas.microsoft.com/office/drawing/2014/main" id="{13A77445-FE6E-4F8B-940D-F5C8A7FBE0B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Pesquisa: localiza termos em títulos e conteúdo.</a:t>
            </a:r>
          </a:p>
        </p:txBody>
      </p:sp>
      <p:sp>
        <p:nvSpPr>
          <p:cNvPr id="10" name="CaixaDeTexto 9">
            <a:extLst>
              <a:ext uri="{FF2B5EF4-FFF2-40B4-BE49-F238E27FC236}">
                <a16:creationId xmlns:a16="http://schemas.microsoft.com/office/drawing/2014/main" id="{7724AE07-91A4-44F4-8B4E-45E960951E7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F1: abre a ajuda contextual quando houver tópico associado.</a:t>
            </a:r>
          </a:p>
        </p:txBody>
      </p:sp>
      <p:sp>
        <p:nvSpPr>
          <p:cNvPr id="11" name="CaixaDeTexto 10">
            <a:extLst>
              <a:ext uri="{FF2B5EF4-FFF2-40B4-BE49-F238E27FC236}">
                <a16:creationId xmlns:a16="http://schemas.microsoft.com/office/drawing/2014/main" id="{024262AE-7492-4581-B01C-6F95AA56259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Referências de campos: complementam os exemplos do treinamento.</a:t>
            </a:r>
          </a:p>
        </p:txBody>
      </p:sp>
      <p:sp>
        <p:nvSpPr>
          <p:cNvPr id="12" name="CaixaDeTexto 11">
            <a:extLst>
              <a:ext uri="{FF2B5EF4-FFF2-40B4-BE49-F238E27FC236}">
                <a16:creationId xmlns:a16="http://schemas.microsoft.com/office/drawing/2014/main" id="{BB894108-476D-4FF6-8961-8A301167D06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9047598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14B4E02-04A9-4779-BEFA-85DB6A7EDB1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08 · Demonstração final</a:t>
            </a:r>
          </a:p>
        </p:txBody>
      </p:sp>
      <p:sp>
        <p:nvSpPr>
          <p:cNvPr id="3" name="CaixaDeTexto 2">
            <a:extLst>
              <a:ext uri="{FF2B5EF4-FFF2-40B4-BE49-F238E27FC236}">
                <a16:creationId xmlns:a16="http://schemas.microsoft.com/office/drawing/2014/main" id="{8A378645-76F6-42B4-98DF-AB2E4FBFE26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Exercício guiado: uma leitura e seu diagnóstico</a:t>
            </a:r>
          </a:p>
        </p:txBody>
      </p:sp>
      <p:sp>
        <p:nvSpPr>
          <p:cNvPr id="4" name="CaixaDeTexto 3">
            <a:extLst>
              <a:ext uri="{FF2B5EF4-FFF2-40B4-BE49-F238E27FC236}">
                <a16:creationId xmlns:a16="http://schemas.microsoft.com/office/drawing/2014/main" id="{AC85D90B-2FE9-4661-A51E-CC698280CD5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EB3442E-AD51-4AFE-8AAE-65283CF4FC3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49</a:t>
            </a:r>
          </a:p>
        </p:txBody>
      </p:sp>
      <p:pic>
        <p:nvPicPr>
          <p:cNvPr id="7" name="Imagem 6">
            <a:extLst>
              <a:ext uri="{FF2B5EF4-FFF2-40B4-BE49-F238E27FC236}">
                <a16:creationId xmlns:a16="http://schemas.microsoft.com/office/drawing/2014/main" id="{3E2A2748-8F59-49FF-B5D8-E89C13968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F457C5B9-A164-4A28-82C9-74F89DBD85C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Bancada: servidor 127.0.0.1:1502, UID1, mapa HR0 a9.</a:t>
            </a:r>
          </a:p>
        </p:txBody>
      </p:sp>
      <p:sp>
        <p:nvSpPr>
          <p:cNvPr id="9" name="CaixaDeTexto 8">
            <a:extLst>
              <a:ext uri="{FF2B5EF4-FFF2-40B4-BE49-F238E27FC236}">
                <a16:creationId xmlns:a16="http://schemas.microsoft.com/office/drawing/2014/main" id="{165D1514-98AE-4AEF-888B-C18A8F37528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FC03, início0, Qtd10. Confirmar leitura e horário.</a:t>
            </a:r>
          </a:p>
        </p:txBody>
      </p:sp>
      <p:sp>
        <p:nvSpPr>
          <p:cNvPr id="10" name="CaixaDeTexto 9">
            <a:extLst>
              <a:ext uri="{FF2B5EF4-FFF2-40B4-BE49-F238E27FC236}">
                <a16:creationId xmlns:a16="http://schemas.microsoft.com/office/drawing/2014/main" id="{9B8AC8A7-3079-497F-8B5F-EF466833C00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controlada: início9, Qtd2. Investigar a resposta recebida.</a:t>
            </a:r>
          </a:p>
        </p:txBody>
      </p:sp>
      <p:sp>
        <p:nvSpPr>
          <p:cNvPr id="11" name="CaixaDeTexto 10">
            <a:extLst>
              <a:ext uri="{FF2B5EF4-FFF2-40B4-BE49-F238E27FC236}">
                <a16:creationId xmlns:a16="http://schemas.microsoft.com/office/drawing/2014/main" id="{BC83BE08-B45A-4ECE-8AF0-89AB9460DD9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Correção: Qtd1. Repetir, comparar e exportar os resultados.</a:t>
            </a:r>
          </a:p>
        </p:txBody>
      </p:sp>
      <p:sp>
        <p:nvSpPr>
          <p:cNvPr id="12" name="CaixaDeTexto 11">
            <a:extLst>
              <a:ext uri="{FF2B5EF4-FFF2-40B4-BE49-F238E27FC236}">
                <a16:creationId xmlns:a16="http://schemas.microsoft.com/office/drawing/2014/main" id="{989574B9-39F2-40DC-87E0-BBEE9242C70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55254501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7837</Words>
  <Application>Microsoft Office PowerPoint</Application>
  <PresentationFormat>Personalizar</PresentationFormat>
  <Paragraphs>631</Paragraphs>
  <Slides>49</Slides>
  <Notes>49</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49</vt:i4>
      </vt:variant>
    </vt:vector>
  </HeadingPairs>
  <TitlesOfParts>
    <vt:vector size="54" baseType="lpstr">
      <vt:lpstr>Arial</vt:lpstr>
      <vt:lpstr>Calibri</vt:lpstr>
      <vt:lpstr>Calibri Light</vt:lpstr>
      <vt:lpstr>Segoe UI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Felipe F. Delarmelina - Autvix Group</dc:creator>
  <cp:lastModifiedBy>Felipe F. Delarmelina - Autvix Group</cp:lastModifiedBy>
  <cp:revision>1</cp:revision>
  <dcterms:created xsi:type="dcterms:W3CDTF">2026-10-02T18:35:58Z</dcterms:created>
  <dcterms:modified xsi:type="dcterms:W3CDTF">2026-10-02T18:35:58Z</dcterms:modified>
</cp:coreProperties>
</file>