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tx>
            <c:v>Pacotes/s</c:v>
          </c:tx>
          <c:spPr>
            <a:ln w="38100">
              <a:solidFill>
                <a:srgbClr val="087E8B"/>
              </a:solidFill>
            </a:ln>
          </c:spPr>
          <c:marker>
            <c:symbol val="none"/>
          </c:marker>
          <c:cat>
            <c:numRef>
              <c:f>Planilha1!$A$2:$A$11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98</c:v>
                </c:pt>
                <c:pt idx="4">
                  <c:v>450</c:v>
                </c:pt>
                <c:pt idx="5">
                  <c:v>120</c:v>
                </c:pt>
                <c:pt idx="6">
                  <c:v>105</c:v>
                </c:pt>
                <c:pt idx="7">
                  <c:v>100</c:v>
                </c:pt>
                <c:pt idx="8">
                  <c:v>96</c:v>
                </c:pt>
                <c:pt idx="9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F6-4F89-BF57-374EFF4B9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7312968"/>
        <c:axId val="497309032"/>
      </c:lineChart>
      <c:catAx>
        <c:axId val="497312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97309032"/>
        <c:crosses val="autoZero"/>
        <c:auto val="1"/>
        <c:lblAlgn val="ctr"/>
        <c:lblOffset val="100"/>
        <c:noMultiLvlLbl val="0"/>
      </c:catAx>
      <c:valAx>
        <c:axId val="497309032"/>
        <c:scaling>
          <c:orientation val="minMax"/>
          <c:max val="5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97312968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7F9FC"/>
    </a:solidFill>
  </c:spPr>
  <c:txPr>
    <a:bodyPr/>
    <a:lstStyle/>
    <a:p>
      <a:pPr>
        <a:defRPr sz="1400">
          <a:latin typeface="Segoe UI"/>
          <a:ea typeface="Segoe UI"/>
          <a:cs typeface="Segoe UI"/>
        </a:defRPr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24BE9-5C49-4696-87E3-92127DBC6DE0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6D934-25BA-4A1D-A586-3F2FFB2C7B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16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Apresente o objetivo: localizar falhas por evidências de conexão, protocolo e mapa. Sessão prevista para 03/10/2026. Use a ata como roteiro de condução e registro.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19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Explique que cada momento combina conceito, demonstração e discussão. Ajuste o tempo conforme as dúvidas da turma. As demonstrações usam uma bancada local e leituras.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603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Peça respostas antes de mostrar o gabarito. Registre exemplos trazidos pela turma por conexão, mapa, tempo de resposta, dado incorreto ou escrita. Esperado: ping verifica ICMP; TCP aberto confirma o socket; exceção é resposta de protocolo, embora a operação tenha sido recusada.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272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os três casos na bancada ou use registros preparados. Não conclua que o PLC está saudável apenas pelo ping. Uma exceção coerente pode confirmar o protocolo. Fonte: ata do treinamento e Modbus Application Protocol V1.1b3, seção 7.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95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Execute uma leitura única e localize request e response. Mostre que um PLC pode atuar em papéis diferentes e que o software permite cliente e servidor simultâneos. Fonte: Modbus Application Protocol V1.1b3 e Messaging on TCP/IP Implementation Guide V1.0b.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660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MBAP também contém Protocol Identifier e Length. UID pode encaminhar consultas em gateways TCP/serial. Em servidores TCP diretos seu tratamento depende do equipamento; usar a configuração documentada, sem presumir que todo servidor ignora ou exige o mesmo UID. Fonte: https://www.modbus.org/docs/Modbus_Messaging_Implementation_Guide_V1_0b.pdf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841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COIL e HR suportam funções de escrita quando implementadas e permitidas. DI e IR têm leitura no modelo básico. O significado de processo vem da documentação do fabricante. Fonte: https://www.modbus.org/docs/Modbus_Application_Protocol_V1_1b3.pdf, data model e funções 01 a 04.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280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Configure o mapa efetivo do servidor apenas com a faixa necessária para os testes de limite. Salve .ffd antes de introduzir erros. Loopback é o próprio computador, sem tráfego de produção. Capture local depende da interface Npcap de loopback.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991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exemplo da imagem usa 172.27.30.84:1501. Para a bancada da aula configure 127.0.0.1:1502. Explique que 0.0.0.0 serve como escuta geral do servidor e não como destino de cliente. Fonte visual: ManualImages/ClientSettings.png.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163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Faça alguns ciclos com conexão persistente. Se a bancada permitir, compare com a opção desmarcada, observando handshakes e encerramentos na captura. Não classifique mais pacotes como pior desempenho sem medir impacto e comportamento do equipamento.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320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Use uma porta comprovadamente sem listener na bancada. A mensagem pode ser recusa ou timeout conforme o ambiente. Não preparar bloqueios/firewall na rede de produção. Peça à turma que identifique em qual camada a leitura parou.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019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a navegação por HR, IR, COIL e DISCRETE no mapa. O mesmo número de endereço em áreas distintas não representa o mesmo dado. Confirme endpoint e UID antes de transferir um mapa para outro alvo.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052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somar o prefixo 4 nem copiar 40001 automaticamente para o campo de endereço. Consulte a documentação do equipamento. Os prefixos documentais identificam área, enquanto o PDU transmite função e offset. Fonte: Modbus Application Protocol V1.1b3, addressing model. Exemplo condicionado à convenção do fabricante.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123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os três requests em laboratório. Explique exceção 02 pela combinação referência e extensão solicitada. Restaure o bloco original ao terminar. Fonte: Modbus Application Protocol V1.1b3, exception 02.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071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Pare a leitura e observe que o último valor pode continuar visível. Explique que dois registradores podem compor um dado de 32 bits segundo o fabricante. A descoberta de mapa não fornece automaticamente tag, escala ou direito de escrita.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12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Execute leitura única e compare as timelines. A captura requer Npcap e interface/filtro adequados. A falta de remontagem TCP completa pode limitar a identificação de ADUs passivas segmentadas. Consulte dados brutos somente após estabelecer endpoint e operação.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418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rede comutada encaminha tráfego conforme portas/MAC. Se a tabela estiver vazia, conferir interface, filtro, Npcap, tráfego visível e duração. Não concluir que o PLC não transmitiu só porque o notebook não capturou a conversa.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362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atribuir causa raiz automaticamente. RST de uma conversa de Internet não comprova falha do PLC. Repetições podem ter limitações de captura ou reuso de fluxo. Correlacione horário, endpoint e leitura afetada.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433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Dados ilustrativos. A assinatura inclui sessão/endpoint, UID, FC, início e quantidade. Mostre por que comparar requests de blocos distintos gera um intervalo aparente de 2 ms. Leituras próprias de validação também adicionam tráfego.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808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Na versão atual, Dados não faz agregação contínua durante a captura. O software conserva no máximo 2.000 quadros na lista usada por essa análise. Alta taxa pode reduzir o intervalo realmente coberto. Confira tempo amostrado e descartes antes de interpretar taxas.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148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Bytes/s não é utilização percentual do enlace. A média depende do intervalo entre primeiro e último pacote selecionados. A falta de contador do driver não comprova ausência de descarte. Relacione qualidade, duração e limites da amostra.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976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Série inteiramente ilustrativa, em pacotes/s. Não representa uma captura real nem um limiar universal. Peça à turma que indique quais evidências adicionais seriam necessárias para afirmar sobrecarga: link negociado, contadores de switch/NIC, latência Modbus, descartes e baseline. Não reduzir polling no PLC sem avaliar o processo.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02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Exemplo ilustrativo para explicar percentuais que se sobrepõem. A conversa A/B conta os mesmos quadros uma vez por conversa. Ordenação por volume identifica quem investigar, sem provar que seja responsável pela falha. Explique envio, recebimento, top conversa e protocolos.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109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imagem foi fornecida durante o desenvolvimento e serve para orientar a navegação. Na versão usada na aula, resultados, topologia e relatórios ficam nas subabas do Teste completo. Demonstre a interface ao vivo, porque rótulos e disposição podem variar por versão.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1703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Não assumir que selecionar um dispositivo lateral redefine o escopo do teste. O software pode iniciar captura e cliente/servidor quando necessário. Uma rede grande pode prolongar a descoberta. Conferir interface e filtros antes de iniciar. Não há escrita automática no Teste completo.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123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placar registra etapas processadas, não disponibilidade ou estabilidade integral da rede. Uma etapa de captura inconclusiva pode coexistir com leitura Modbus válida. Abra o resultado selecionado e mostre objetivo, evidência, interpretação e próxima verificação.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3302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máximo é inclusivo conforme o manual atual. Com quatro FCs e dez UIDs, até 440 janelas iniciais antes de fallback, interrupções ou limites. Fallback consulta posições individuais quando aplicável. Descoberta confirma regiões que responderam e não nomes de tags, escalas ou direitos de escrita. Fonte: ManualContent.xml, descoberta-mapa, e ManualImages/MapDiscovery.png.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7623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software permite escrita manual em regiões graváveis. R/W no mapa não equivale a autorização operacional. A escrita de range pode ser sequencial, com alteração parcial antes de uma falha. Para substituir um equipamento real, evitar duplicar seu IP e combinar retirada/isolamento.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110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servidor ocioso pode precisar de sondagem autorizada na porta correta. Um cliente pode não possuir listener TCP. Protocolos, portas e UID influenciam descoberta. Loopback e IP local podem representar o mesmo computador. Diferenciar equipamento físico de IP e endpoint.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599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Switches L2 são transparentes ao TTL. Ausência de anúncio não prova ausência de switch. SPAN/TAP e consultas autorizadas a equipamentos gerenciáveis podem fornecer mais evidência. Timeout ICMP não comprova falha TCP ou Modbus.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851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Abra a Topologia dentro do Teste completo. Peça à turma que diferencie observação, anúncio e inferência. Se não houver topologia suficiente, apresente essa ausência como limitação e liste a próxima consulta necessária. Não desenhar um switch inexistente no inventário como fato comprovado.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8663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Demonstre ambas as exportações. Confira endpoint e janela da execução registrada. O relatório completo ajuda a reproduzir o ensaio, mas priorização evita que volume de mensagens esconda a causa mais provável. Não tratar OK como certificado de estabilidade.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690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Exemplo didático, não resultado real de campo. Conclusão: o servidor respondeu às três consultas e recusou a região solicitada. A evidência aponta para o bloco/endereço e não para perda total de conexão. Fonte de exceção: Modbus Application Protocol V1.1b3.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5492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Salvar/Abrir configuração e os exports. Registre alterações durante testes. Ao comparar resultados, mudanças de janela, filtro, alvo ou UID podem explicar diferenças. Preserve logs e horários quando ocorrer falha do software.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8823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Cenário de laboratório. Peça ao grupo que confirme convenção do endereço, FC, UID e quantidade. Não revelar imediatamente a causa. A turma deve separar fatos conhecidos das hipóteses. Em convenção clássica, 40010 pode corresponder a offset 9.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7414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Peça uma hipótese sustentada, uma evidência que poderia refutá-la e uma próxima ação segura. Esperado: o range termina em 10, fora do mapa. Uma resposta de exceção comprova comunicação de protocolo naquela tentativa.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0444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Faça a alteração no laboratório. Se a leitura ainda falhar, reavaliar endpoint, UID, mapa aplicado e função. Solicite à turma uma conclusão curta e rastreável. Verifique aprendizado: separação de camadas, base zero, fim do range, segurança e limitação de captura.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7631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Retome os passos com um exemplo discutido pela turma. Evite alterar várias configurações simultaneamente, pois isso dificulta atribuir a recuperação à correção certa. Priorize ensaios autorizados, reproduzíveis e adequados ao processo.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3180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Preencha a ata por momento. Registrar participantes, exercícios, resultados, decisões, responsáveis e prazos. Separar pendências do software, documentação do PLC e infraestrutura. Coletar feedback da turma para atualizar os slides e o manual.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2226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Fontes: docs/2026-10-03-ata-treinamento-troubleshoot-modbus.md; ModbusTcpTroubleshooter.App/ManualContent.xml; https://www.modbus.org/docs/Modbus_Application_Protocol_V1_1b3.pdf; https://www.modbus.org/docs/Modbus_Messaging_Implementation_Guide_V1_0b.pdf. As séries numéricas dos slides de carga/polling e o estudo de caso são exemplos didáticos. A capa é ilustração gerada, não registro de instalação real.</a:t>
            </a:r>
          </a:p>
          <a:p>
            <a:endParaRPr lang="pt-BR"/>
          </a:p>
          <a:p>
            <a:r>
              <a:rPr lang="pt-BR"/>
              <a:t>Roteiro: docs/2026-10-03-ata-treinamento-troubleshoot-modbus.md. Operação do software: manual integrado da versão usada no treinamento.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6D934-25BA-4A1D-A586-3F2FFB2C7B0A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144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B9D0D-0518-4D91-88CA-4B0F7929B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1B9F93-4381-412D-B765-C63BE0041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4F9511-3587-444E-AC00-43CCBB1A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C12B2B-BD66-4192-8EF7-E82A310E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732D3-43F4-4355-AFC9-A98B99BA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16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0C884-CE66-4EBC-88DF-E1979608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9EBBDC-4134-4BC4-8FEE-6CED2345F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64C01A-D865-4F9F-B25C-54D8183E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7AD210-D082-49C0-8346-1980D740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105219-0C04-4351-8227-74A90F91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85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62063-8F50-4AE6-8FF3-12816EAA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C67D68-C5AC-4329-803E-FFE98FF5F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52B16-0F39-4C74-85E5-826426E8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E1CCE6-AAC2-4F50-A282-88E8603A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B62681-0825-4B09-A32D-BF17BB51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68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CA044-E72D-45E9-8094-9E97203D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167E4D-CFEA-44B1-B4D3-A0C0B9364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0F9831-2941-42B4-AF99-070A96E78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DBFB84-364E-4ED1-A22A-9CFC510A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6950A7-A9E6-4E94-869A-99CCE622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02D55B-1C26-48B4-9CC3-20055A48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52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EB89A-1730-4B41-9883-3317A85E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88A374-CC87-4807-9485-06BF5F37D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45C109-67A5-4B2A-B7BA-04C6743DF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A4EEE1-FF8F-49F7-9E7E-BA84EE296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7A763E-0428-4A97-9853-71DA2E9D5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A09792-BB3D-4E42-8E8F-EAD24334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B015C84-9673-4F67-82BB-56FAD6B7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31E35C-F0E6-4F76-804A-1A6F5932B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05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E1CED-8D42-4B8B-91EA-0770DB3C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D039675-8271-45A1-B931-B3DD07CE2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2B0271-AFB1-46EC-9C35-99421B27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D11A10-8132-424C-A436-719005E3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91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5C1CE1-A1CD-4D56-8E13-92E9A2B9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92BC56-FDBB-47FA-95A8-45E4818F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E118FD-145C-4654-BB92-FA073512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19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C11A-1900-4045-B4C4-22591782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FAE3BC-67C2-4EE2-B0AF-463674108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D4C670-BDC4-49F7-8F9D-B3E969D89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184886-25A0-4FE4-A2F6-32AED333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F917D4-DDE5-4A55-A42B-D775032C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FE67D6-9233-4A59-A6CA-18BAFA0B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7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F847E-F5B7-4E06-B866-B695C6AC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EA6331-1B60-4FEA-8878-856DC4D24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25FAF7-E4CD-4BCA-BA93-78AD34897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236ECE-C840-4DDF-8025-5AED812A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F81CF3-08E2-4606-B92E-87345252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493DC7-2C46-4EC1-939A-DF464F71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59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6B197-F1C6-4085-8EBE-315E8D1F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F29008-002A-40BE-94D0-E6542B972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DA134D-E0C7-4DB9-A22D-7DD9AF04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F777A-D468-41B1-8C57-BE63FA97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EED5BB-A095-4B2B-99A4-53DFAF03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01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B7BAAC-8D15-4B2F-93BD-B9FB60B8F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E05C12-8F4E-4AF8-AD84-3D0AF2F6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EC7821-9EAF-4697-96CE-92C17E4C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20C4BF-0A41-49C0-82CF-B72F5B22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7CFF2-BAA9-4624-9C12-C182480A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73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9198F8-B1A3-4EAF-8994-7EC97E308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8A2860-4E3C-41FF-8BF3-56DC48634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B35D2B-6600-4F4E-BAE2-A1AB7A40C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C7AF1-DD3C-438B-9291-9F43936B08A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B75D51-508A-4877-9A7C-61A0620DB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00AF05-8A0C-49DC-AE92-D5D2D2E07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071FC-F4D0-4BAF-B821-BE298D2B71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870241-B561-4269-80D7-D872B40B2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FA0B3BC-1F00-4C3C-8831-C781B3662829}"/>
              </a:ext>
            </a:extLst>
          </p:cNvPr>
          <p:cNvSpPr txBox="1"/>
          <p:nvPr/>
        </p:nvSpPr>
        <p:spPr>
          <a:xfrm>
            <a:off x="685800" y="1841499"/>
            <a:ext cx="5842000" cy="190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4400" b="1">
                <a:solidFill>
                  <a:srgbClr val="FFFFFF"/>
                </a:solidFill>
                <a:latin typeface="Segoe UI" panose="020B0502040204020203" pitchFamily="34" charset="0"/>
              </a:rPr>
              <a:t>Troubleshooting
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37CF86-C4B0-4A0E-9C2D-9CC188C1B86B}"/>
              </a:ext>
            </a:extLst>
          </p:cNvPr>
          <p:cNvSpPr txBox="1"/>
          <p:nvPr/>
        </p:nvSpPr>
        <p:spPr>
          <a:xfrm>
            <a:off x="711200" y="4152899"/>
            <a:ext cx="552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FFFFFF"/>
                </a:solidFill>
                <a:latin typeface="Segoe UI" panose="020B0502040204020203" pitchFamily="34" charset="0"/>
              </a:rPr>
              <a:t>Diagnóstico de comunicação industrial
Treinamento com o Modbus TCP Troubleshooter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8DEE52-9A75-472B-A5CE-2626CC3ED708}"/>
              </a:ext>
            </a:extLst>
          </p:cNvPr>
          <p:cNvSpPr txBox="1"/>
          <p:nvPr/>
        </p:nvSpPr>
        <p:spPr>
          <a:xfrm>
            <a:off x="711200" y="5905499"/>
            <a:ext cx="533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70D0D8"/>
                </a:solidFill>
                <a:latin typeface="Segoe UI" panose="020B0502040204020203" pitchFamily="34" charset="0"/>
              </a:rPr>
              <a:t>03 OUTUBRO 2026</a:t>
            </a:r>
          </a:p>
        </p:txBody>
      </p:sp>
    </p:spTree>
    <p:extLst>
      <p:ext uri="{BB962C8B-B14F-4D97-AF65-F5344CB8AC3E}">
        <p14:creationId xmlns:p14="http://schemas.microsoft.com/office/powerpoint/2010/main" val="698925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73C0D6-14AB-4243-A3EA-8163F0DA8012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Visão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72BDEC-2F5A-4AD9-9BE6-FE169B245D99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Percurso do treinamento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28B170-F7C7-4AC5-B8CD-6DEF800D094B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01D571-6E3D-42C6-ABFD-B6779CC78E51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D06218-8794-47D2-AFAB-2D6E165A77DE}"/>
              </a:ext>
            </a:extLst>
          </p:cNvPr>
          <p:cNvSpPr txBox="1"/>
          <p:nvPr/>
        </p:nvSpPr>
        <p:spPr>
          <a:xfrm>
            <a:off x="685800" y="19557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01  Dúvidas do primeiro treinamento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40693FC-DB3A-4070-87FB-92599C0CE9AA}"/>
              </a:ext>
            </a:extLst>
          </p:cNvPr>
          <p:cNvSpPr txBox="1"/>
          <p:nvPr/>
        </p:nvSpPr>
        <p:spPr>
          <a:xfrm>
            <a:off x="685800" y="27685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02  Transação Modbus TCP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EE0E02-7E0C-4F41-B026-A878C048E36E}"/>
              </a:ext>
            </a:extLst>
          </p:cNvPr>
          <p:cNvSpPr txBox="1"/>
          <p:nvPr/>
        </p:nvSpPr>
        <p:spPr>
          <a:xfrm>
            <a:off x="685800" y="35813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03  Bancada e configuração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453ECA-616F-4896-8450-6E1BBC0A3885}"/>
              </a:ext>
            </a:extLst>
          </p:cNvPr>
          <p:cNvSpPr txBox="1"/>
          <p:nvPr/>
        </p:nvSpPr>
        <p:spPr>
          <a:xfrm>
            <a:off x="685800" y="43941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04  Mapa e endereçamento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5D58210-4856-488A-88D9-41CEEED731B7}"/>
              </a:ext>
            </a:extLst>
          </p:cNvPr>
          <p:cNvSpPr txBox="1"/>
          <p:nvPr/>
        </p:nvSpPr>
        <p:spPr>
          <a:xfrm>
            <a:off x="685800" y="52069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05  Captura e timelines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DB7D2B-F218-4DBF-BF50-32799D65DD23}"/>
              </a:ext>
            </a:extLst>
          </p:cNvPr>
          <p:cNvSpPr txBox="1"/>
          <p:nvPr/>
        </p:nvSpPr>
        <p:spPr>
          <a:xfrm>
            <a:off x="6413500" y="19557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06  Dados e carga da rede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07494AE-5775-4924-BBE1-4B1301E4E75A}"/>
              </a:ext>
            </a:extLst>
          </p:cNvPr>
          <p:cNvSpPr txBox="1"/>
          <p:nvPr/>
        </p:nvSpPr>
        <p:spPr>
          <a:xfrm>
            <a:off x="6413500" y="27685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07  Teste completo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7368AE3-C703-4BCD-8F8D-92BB55D3BCB9}"/>
              </a:ext>
            </a:extLst>
          </p:cNvPr>
          <p:cNvSpPr txBox="1"/>
          <p:nvPr/>
        </p:nvSpPr>
        <p:spPr>
          <a:xfrm>
            <a:off x="6413500" y="35813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08  Descoberta e topologia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D962A38-0F98-4651-BA5C-3D5C2A2941BD}"/>
              </a:ext>
            </a:extLst>
          </p:cNvPr>
          <p:cNvSpPr txBox="1"/>
          <p:nvPr/>
        </p:nvSpPr>
        <p:spPr>
          <a:xfrm>
            <a:off x="6413500" y="43941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09  Relatório técnico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9D8E3C2-C39B-4C90-980A-30FC8090C781}"/>
              </a:ext>
            </a:extLst>
          </p:cNvPr>
          <p:cNvSpPr txBox="1"/>
          <p:nvPr/>
        </p:nvSpPr>
        <p:spPr>
          <a:xfrm>
            <a:off x="6413500" y="52069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10  Estudo de caso</a:t>
            </a:r>
          </a:p>
        </p:txBody>
      </p:sp>
    </p:spTree>
    <p:extLst>
      <p:ext uri="{BB962C8B-B14F-4D97-AF65-F5344CB8AC3E}">
        <p14:creationId xmlns:p14="http://schemas.microsoft.com/office/powerpoint/2010/main" val="287804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0D70D5-B00F-4265-9FF1-D20589FFFD40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A7719A-07B5-4538-8BB6-0435A1B7413E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Dúvidas do primeiro treinamento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8AB23B-8775-4FA3-BBE5-5C08AE6210E0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F49623-17AB-4499-8452-77CE47E8B131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015C4E-6141-4AEE-8302-6220502C7B4A}"/>
              </a:ext>
            </a:extLst>
          </p:cNvPr>
          <p:cNvSpPr txBox="1"/>
          <p:nvPr/>
        </p:nvSpPr>
        <p:spPr>
          <a:xfrm>
            <a:off x="685800" y="19557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A970D2-73F3-4A23-8054-4C052F1E28D1}"/>
              </a:ext>
            </a:extLst>
          </p:cNvPr>
          <p:cNvSpPr txBox="1"/>
          <p:nvPr/>
        </p:nvSpPr>
        <p:spPr>
          <a:xfrm>
            <a:off x="1727200" y="19684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O equipamento responde ao ping. A leitura Modbus deve funcionar?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ECF30B-BD9D-440D-A7CF-4AE3B4BE12EC}"/>
              </a:ext>
            </a:extLst>
          </p:cNvPr>
          <p:cNvSpPr txBox="1"/>
          <p:nvPr/>
        </p:nvSpPr>
        <p:spPr>
          <a:xfrm>
            <a:off x="685800" y="29463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F3CD38-7362-4922-BAC7-F2D75FF7A518}"/>
              </a:ext>
            </a:extLst>
          </p:cNvPr>
          <p:cNvSpPr txBox="1"/>
          <p:nvPr/>
        </p:nvSpPr>
        <p:spPr>
          <a:xfrm>
            <a:off x="1727200" y="29590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A porta TCP abriu. O mapa está validado?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B40B3C-D6CB-4226-BFCA-816B68C3FFB1}"/>
              </a:ext>
            </a:extLst>
          </p:cNvPr>
          <p:cNvSpPr txBox="1"/>
          <p:nvPr/>
        </p:nvSpPr>
        <p:spPr>
          <a:xfrm>
            <a:off x="685800" y="39369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E2B0E1-361A-484A-ACC4-3DBE78F21F9A}"/>
              </a:ext>
            </a:extLst>
          </p:cNvPr>
          <p:cNvSpPr txBox="1"/>
          <p:nvPr/>
        </p:nvSpPr>
        <p:spPr>
          <a:xfrm>
            <a:off x="1727200" y="39496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Uma exceção Modbus significa perda de conexão?</a:t>
            </a:r>
          </a:p>
        </p:txBody>
      </p:sp>
    </p:spTree>
    <p:extLst>
      <p:ext uri="{BB962C8B-B14F-4D97-AF65-F5344CB8AC3E}">
        <p14:creationId xmlns:p14="http://schemas.microsoft.com/office/powerpoint/2010/main" val="286121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06C804-BC5A-42BB-9B04-84E208089B92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261E17-A6C8-4A34-B20B-B4BE0339208A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Três evidências, três conclusões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4DE543-D2C6-465E-91E1-6E814EE0FB84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CCA04D-EA28-4F9E-8871-B1BD3CFEEBCE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04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C606E9-6199-4D3A-AEF2-BE4A5076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069211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753290124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896542877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602545765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Conclusão sustentada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Próxima verificação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77179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Ping respondeu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ICMP alcançou o destino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Porta TCP do serviço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789629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Socket TCP abriu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Serviço aceitou conexão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Resposta Modbus coerente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84142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Exceção Modbus 02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Servidor respondeu e recusou a região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Função, início e quantidade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900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49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AC4347F-A0D8-47F3-BB72-A6B65A38822E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F3C3FC-70E0-4F1A-BCC5-853E6B208667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Cliente, servidor e transação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E02C5A-5F24-46EE-B57C-3A8F4440AF2B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21CBA-0EFE-4698-83A1-58CF628C1659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05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F9C115-5974-46C1-9920-EF1DD151A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313" y="1714500"/>
            <a:ext cx="8019375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4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FAD465-10D4-4265-886F-778D56298388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025396-AF09-4DA2-ABFC-4650534BCE3E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Campos que identificam a leitura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C32A31-9618-4B5D-AFA1-B107C0750538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6F2D15-6961-474C-8CCF-BD6014E8D1A1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06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2E5846F-298D-47CE-8889-8914284F7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660076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420017517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38177620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67777627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Campo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Exemplo de bancada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Função no diagnóstico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38139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Endpoint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127.0.0.1:1502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Serviço TCP de destino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0058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TID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Identificador da transação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Associa requisição e resposta na conexão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8267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Unit ID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Destino lógico configurado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04197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Function Code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03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de Holding Registers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8583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/ quantidade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0 / 10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Região solicitada: offsets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314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80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E28ED71-E3C4-45B0-92B0-06189A3FC430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58AC94-D12E-4F61-A3AB-1A134A2C0BA4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As quatro áreas de leitura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9FBE09-222D-4A7B-95ED-D1F6C4C92E4C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F49EFC-48DF-4C44-A925-0A9254B2EA7C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07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E7E9CE9-82AC-48A4-AC5D-80E0F8E70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28156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145411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98905145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77988558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71025608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Área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Leitura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Dado bruto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Uso típico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14152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COIL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Bit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Estado de bobina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02194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DISCRETE INPUT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Bit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Entrada discreta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85639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HOLDING REGISTER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Palavra de 16 bits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Registrador de aplicação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7602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INPUT REGISTER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FC04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Palavra de 16 bits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Registrador de entrada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304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029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6202FF-3571-41E9-93D4-0FA0BD3578B1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891104-4993-4AF4-9B2F-DBF89E34709E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Bancada local para a demonstração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D63710-87CA-40E0-ACA8-026FBFAE21F1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55EF6E-7A84-43E3-A3C3-6A492EA6EA68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08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DA7C0C4-7B15-4352-9B55-7062E50EE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667412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067483234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84073699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4114983758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Configuração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Servidor simulado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Alvo do cliente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2029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10822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Porta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1502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1502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95508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Unit ID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75985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Mapa / bloco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 aplicado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FC03, início 0, quantidade 10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3270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Operação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Iniciar servidor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única, depois leitura cíclica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635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32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1D3388F-113A-4618-995D-7BF3D944796F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ECF175-D8CA-4BFC-975F-B88D6A23D254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Configuração do alvo cliente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F8CA5B2-9B82-496E-94D6-0B423CA69420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9F0076-0A57-43AA-9495-B507DA26F2E7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09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8E0BE4-D168-484D-AD36-6384C3F36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78" y="1828800"/>
            <a:ext cx="4628444" cy="4165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D688386-7B34-4E83-AA95-980724F81AB4}"/>
              </a:ext>
            </a:extLst>
          </p:cNvPr>
          <p:cNvSpPr txBox="1"/>
          <p:nvPr/>
        </p:nvSpPr>
        <p:spPr>
          <a:xfrm>
            <a:off x="6667500" y="20192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IP e porta do serviço remoto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A70E83-0757-4527-BBEB-94D5FED7BD29}"/>
              </a:ext>
            </a:extLst>
          </p:cNvPr>
          <p:cNvSpPr txBox="1"/>
          <p:nvPr/>
        </p:nvSpPr>
        <p:spPr>
          <a:xfrm>
            <a:off x="6667500" y="28701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Unit ID conforme o equipamento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8979400-585C-43F9-B678-298196BFD541}"/>
              </a:ext>
            </a:extLst>
          </p:cNvPr>
          <p:cNvSpPr txBox="1"/>
          <p:nvPr/>
        </p:nvSpPr>
        <p:spPr>
          <a:xfrm>
            <a:off x="6667500" y="37210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Intervalo entre ciclos de leitura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569309-F783-4BA6-BF1A-5908A24E4CF1}"/>
              </a:ext>
            </a:extLst>
          </p:cNvPr>
          <p:cNvSpPr txBox="1"/>
          <p:nvPr/>
        </p:nvSpPr>
        <p:spPr>
          <a:xfrm>
            <a:off x="6667500" y="45719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Opção de conexão TCP persistente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4B97F57-C779-4B00-9B4A-34B4A04B1262}"/>
              </a:ext>
            </a:extLst>
          </p:cNvPr>
          <p:cNvSpPr txBox="1"/>
          <p:nvPr/>
        </p:nvSpPr>
        <p:spPr>
          <a:xfrm>
            <a:off x="685800" y="6057899"/>
            <a:ext cx="1082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Tela de referência do manual integrado</a:t>
            </a:r>
          </a:p>
        </p:txBody>
      </p:sp>
    </p:spTree>
    <p:extLst>
      <p:ext uri="{BB962C8B-B14F-4D97-AF65-F5344CB8AC3E}">
        <p14:creationId xmlns:p14="http://schemas.microsoft.com/office/powerpoint/2010/main" val="559237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15AE8B-D7B4-4FEF-8EE7-35584329176A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26696F-4564-4C0F-8443-D85BF516A443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Conexão persistente ou por requisição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F275CB-22D7-4FA9-8325-B7F7ED1D6110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82D750-B6EB-474A-A865-10CC40A6741C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A0E0F9-15FF-44BC-AA7A-79113C173632}"/>
              </a:ext>
            </a:extLst>
          </p:cNvPr>
          <p:cNvSpPr txBox="1"/>
          <p:nvPr/>
        </p:nvSpPr>
        <p:spPr>
          <a:xfrm>
            <a:off x="685800" y="1968499"/>
            <a:ext cx="5143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TCP persistente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47C546-EA54-47BC-BDF9-DABD2F7C8892}"/>
              </a:ext>
            </a:extLst>
          </p:cNvPr>
          <p:cNvSpPr txBox="1"/>
          <p:nvPr/>
        </p:nvSpPr>
        <p:spPr>
          <a:xfrm>
            <a:off x="6489700" y="1968499"/>
            <a:ext cx="5016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Conexão por requisição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5016DA-BE26-4E84-8605-BD4639F6F22E}"/>
              </a:ext>
            </a:extLst>
          </p:cNvPr>
          <p:cNvSpPr txBox="1"/>
          <p:nvPr/>
        </p:nvSpPr>
        <p:spPr>
          <a:xfrm>
            <a:off x="6858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Mantém o socket entre as consultas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A154AF-1824-42A6-9BE0-D300DF4D9CEB}"/>
              </a:ext>
            </a:extLst>
          </p:cNvPr>
          <p:cNvSpPr txBox="1"/>
          <p:nvPr/>
        </p:nvSpPr>
        <p:spPr>
          <a:xfrm>
            <a:off x="6858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Reduz aberturas repetidas de conexão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3B7824-1207-4E64-96E7-11A0A435B10A}"/>
              </a:ext>
            </a:extLst>
          </p:cNvPr>
          <p:cNvSpPr txBox="1"/>
          <p:nvPr/>
        </p:nvSpPr>
        <p:spPr>
          <a:xfrm>
            <a:off x="6858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É a configuração padrão do cliente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B11350F-FA7B-43E4-A4D5-A4EFAFA3AE35}"/>
              </a:ext>
            </a:extLst>
          </p:cNvPr>
          <p:cNvSpPr txBox="1"/>
          <p:nvPr/>
        </p:nvSpPr>
        <p:spPr>
          <a:xfrm>
            <a:off x="64897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Abre e encerra o socket em cada consulta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129E1C-3928-435D-8C12-9EAFAA5F2399}"/>
              </a:ext>
            </a:extLst>
          </p:cNvPr>
          <p:cNvSpPr txBox="1"/>
          <p:nvPr/>
        </p:nvSpPr>
        <p:spPr>
          <a:xfrm>
            <a:off x="64897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Produz mais eventos de conexão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81A6EDE-9BAE-429B-B038-102EE766CBB4}"/>
              </a:ext>
            </a:extLst>
          </p:cNvPr>
          <p:cNvSpPr txBox="1"/>
          <p:nvPr/>
        </p:nvSpPr>
        <p:spPr>
          <a:xfrm>
            <a:off x="64897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Ajuda a comparar comportamento de sessões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067840-FBBB-4C3B-8135-F0DB19785FD2}"/>
              </a:ext>
            </a:extLst>
          </p:cNvPr>
          <p:cNvSpPr txBox="1"/>
          <p:nvPr/>
        </p:nvSpPr>
        <p:spPr>
          <a:xfrm>
            <a:off x="685800" y="5803899"/>
            <a:ext cx="10820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O intervalo de leitura e a política de conexão são configurações diferentes.</a:t>
            </a:r>
          </a:p>
        </p:txBody>
      </p:sp>
    </p:spTree>
    <p:extLst>
      <p:ext uri="{BB962C8B-B14F-4D97-AF65-F5344CB8AC3E}">
        <p14:creationId xmlns:p14="http://schemas.microsoft.com/office/powerpoint/2010/main" val="3193437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EBE468E-E7E8-46E1-AF13-1C1073F9CCFF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1AE73B-8D33-4967-92D3-AEF5677BE8BB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Teste de conexão: porta correta e errada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63B500-16BF-4865-A42F-45A06D33C671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87D801-D6AA-4B6F-B345-26313E5C9D11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D65072-4DE7-4A45-A101-72F6377DC356}"/>
              </a:ext>
            </a:extLst>
          </p:cNvPr>
          <p:cNvSpPr txBox="1"/>
          <p:nvPr/>
        </p:nvSpPr>
        <p:spPr>
          <a:xfrm>
            <a:off x="685800" y="18922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329BE9C-1F4A-4B41-B241-403930EAC267}"/>
              </a:ext>
            </a:extLst>
          </p:cNvPr>
          <p:cNvSpPr txBox="1"/>
          <p:nvPr/>
        </p:nvSpPr>
        <p:spPr>
          <a:xfrm>
            <a:off x="1473200" y="19049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Leitura única em 127.0.0.1:1502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540F72-15E8-4FFE-BDE9-9230C8252F35}"/>
              </a:ext>
            </a:extLst>
          </p:cNvPr>
          <p:cNvSpPr txBox="1"/>
          <p:nvPr/>
        </p:nvSpPr>
        <p:spPr>
          <a:xfrm>
            <a:off x="685800" y="27050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A4BFE7-D75A-4AC6-A45E-97CEFB9BD602}"/>
              </a:ext>
            </a:extLst>
          </p:cNvPr>
          <p:cNvSpPr txBox="1"/>
          <p:nvPr/>
        </p:nvSpPr>
        <p:spPr>
          <a:xfrm>
            <a:off x="1473200" y="27177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Alterar somente a porta para uma sem serviço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D40624-71CE-42EA-85D4-098819E1E82D}"/>
              </a:ext>
            </a:extLst>
          </p:cNvPr>
          <p:cNvSpPr txBox="1"/>
          <p:nvPr/>
        </p:nvSpPr>
        <p:spPr>
          <a:xfrm>
            <a:off x="685800" y="35178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A95C4E-4557-453C-B43D-CA5BB9BF75A0}"/>
              </a:ext>
            </a:extLst>
          </p:cNvPr>
          <p:cNvSpPr txBox="1"/>
          <p:nvPr/>
        </p:nvSpPr>
        <p:spPr>
          <a:xfrm>
            <a:off x="1473200" y="35305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Repetir a leitura e registrar a mensagem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60598A-9598-4939-94E9-B6DB7628E230}"/>
              </a:ext>
            </a:extLst>
          </p:cNvPr>
          <p:cNvSpPr txBox="1"/>
          <p:nvPr/>
        </p:nvSpPr>
        <p:spPr>
          <a:xfrm>
            <a:off x="685800" y="43306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35654DD-CD2D-4CA1-9684-338D3399FD3F}"/>
              </a:ext>
            </a:extLst>
          </p:cNvPr>
          <p:cNvSpPr txBox="1"/>
          <p:nvPr/>
        </p:nvSpPr>
        <p:spPr>
          <a:xfrm>
            <a:off x="1473200" y="43433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Restaurar 1502 e confirmar recuperação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5425CE3-1C04-4251-B0CC-32796B88A984}"/>
              </a:ext>
            </a:extLst>
          </p:cNvPr>
          <p:cNvSpPr txBox="1"/>
          <p:nvPr/>
        </p:nvSpPr>
        <p:spPr>
          <a:xfrm>
            <a:off x="685800" y="5448299"/>
            <a:ext cx="10820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A falha da porta ocorre no transporte TCP. Uma exceção Modbus exige resposta do protocolo.</a:t>
            </a:r>
          </a:p>
        </p:txBody>
      </p:sp>
    </p:spTree>
    <p:extLst>
      <p:ext uri="{BB962C8B-B14F-4D97-AF65-F5344CB8AC3E}">
        <p14:creationId xmlns:p14="http://schemas.microsoft.com/office/powerpoint/2010/main" val="71708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DA4362-2D89-4D14-A71A-FCAB55023DDC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1001C9-2FC9-429C-9FCF-7CFA70861262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Um ponto depende da área e do offset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D66DCE-92ED-43A8-9D95-65B37F3C8246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4FEEA9-C3CD-4DAD-B5C1-32D415F8EFC3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12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687F6DF-18C4-406D-B3C5-7D8261CA3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891879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094707369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35472373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51180036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Configuração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Região consultada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Relação com o mapa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36366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FC03, offset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Primeiro Holding Register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70565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FC04, offset 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IR 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Outra área de dados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62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FC01, offset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COIL 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Dado de um bit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03513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Quantidade 10, início 0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Offsets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Todos os pontos devem ser válidos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137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07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408E12-0F34-4A65-93B9-7C538EE172C9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C67B28-86BA-45C9-993F-C06DFB1806BD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Endereço documental e offset de protocolo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34F09B-4A7F-4B65-B61D-322E1DF1D2D2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DF6D09-40FF-4C2C-8351-63CB4E56B96C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EAE0B9-762E-4599-9DD7-EA1F74084C16}"/>
              </a:ext>
            </a:extLst>
          </p:cNvPr>
          <p:cNvSpPr txBox="1"/>
          <p:nvPr/>
        </p:nvSpPr>
        <p:spPr>
          <a:xfrm>
            <a:off x="685800" y="1993899"/>
            <a:ext cx="108204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500" b="1">
                <a:solidFill>
                  <a:srgbClr val="087E8B"/>
                </a:solidFill>
                <a:latin typeface="Segoe UI" panose="020B0502040204020203" pitchFamily="34" charset="0"/>
              </a:rPr>
              <a:t>40001  corresponde a  offset 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C10E32-6F6D-44AB-9084-F9C13FB9C232}"/>
              </a:ext>
            </a:extLst>
          </p:cNvPr>
          <p:cNvSpPr txBox="1"/>
          <p:nvPr/>
        </p:nvSpPr>
        <p:spPr>
          <a:xfrm>
            <a:off x="685800" y="36194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Exemplo válido quando o fabricante usa a convenção clássica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F74801-23D2-48AE-B7C3-F95A3C77A57F}"/>
              </a:ext>
            </a:extLst>
          </p:cNvPr>
          <p:cNvSpPr txBox="1"/>
          <p:nvPr/>
        </p:nvSpPr>
        <p:spPr>
          <a:xfrm>
            <a:off x="685800" y="44068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40101 corresponde a offset 100 nessa mesma convenção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D53590-FE1E-42A2-B98E-98D10B961213}"/>
              </a:ext>
            </a:extLst>
          </p:cNvPr>
          <p:cNvSpPr txBox="1"/>
          <p:nvPr/>
        </p:nvSpPr>
        <p:spPr>
          <a:xfrm>
            <a:off x="685800" y="51942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O campo do software usa offset base zero</a:t>
            </a:r>
          </a:p>
        </p:txBody>
      </p:sp>
    </p:spTree>
    <p:extLst>
      <p:ext uri="{BB962C8B-B14F-4D97-AF65-F5344CB8AC3E}">
        <p14:creationId xmlns:p14="http://schemas.microsoft.com/office/powerpoint/2010/main" val="824401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CA21208-C9B8-442E-9224-687BED54DB79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A56AFE-7383-43FC-9EF2-AFC4600CD74C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Uma requisição pode ultrapassar a faixa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DDC48AC-C617-43BB-BFDE-BA419B2076A4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D5A565-A917-41C3-B27B-456A7ABA2503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14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D94AC70-13CE-4053-9238-008F7E0F8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479940"/>
              </p:ext>
            </p:extLst>
          </p:nvPr>
        </p:nvGraphicFramePr>
        <p:xfrm>
          <a:off x="685800" y="1917700"/>
          <a:ext cx="10820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47457471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286375298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83381084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7018994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Mapa do servidor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Requisição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Fim solicitado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Resultado esperado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0496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0, quantidade 10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válida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74447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9, quantidade 1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 válida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2097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9, quantidade 2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Exceção 02, se a região não existe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614109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72557EC9-1497-4DC2-8EA4-DE5E29F89924}"/>
              </a:ext>
            </a:extLst>
          </p:cNvPr>
          <p:cNvSpPr txBox="1"/>
          <p:nvPr/>
        </p:nvSpPr>
        <p:spPr>
          <a:xfrm>
            <a:off x="685800" y="5816599"/>
            <a:ext cx="108204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Fim do range = início + quantidade − 1</a:t>
            </a:r>
          </a:p>
        </p:txBody>
      </p:sp>
    </p:spTree>
    <p:extLst>
      <p:ext uri="{BB962C8B-B14F-4D97-AF65-F5344CB8AC3E}">
        <p14:creationId xmlns:p14="http://schemas.microsoft.com/office/powerpoint/2010/main" val="1600617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2F9CF3-F869-41F5-AC90-E3F1E1A3D4A5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64A1C8-93BE-43FA-BB22-89108D83637F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Valor, qualidade e horário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A991AA-2EF1-4ACA-AC71-EF8C3314DF24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A0EA90-58A9-4C58-9A0F-32FD80EAE3FE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6423A4-A716-434E-9588-5868C29534E5}"/>
              </a:ext>
            </a:extLst>
          </p:cNvPr>
          <p:cNvSpPr txBox="1"/>
          <p:nvPr/>
        </p:nvSpPr>
        <p:spPr>
          <a:xfrm>
            <a:off x="685800" y="1968499"/>
            <a:ext cx="5143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O que a leitura retorna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EEF1A6-9DC2-46B2-8E34-5BF26D850210}"/>
              </a:ext>
            </a:extLst>
          </p:cNvPr>
          <p:cNvSpPr txBox="1"/>
          <p:nvPr/>
        </p:nvSpPr>
        <p:spPr>
          <a:xfrm>
            <a:off x="6489700" y="1968499"/>
            <a:ext cx="5016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O que exige documentação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119530-A984-42EF-8905-E08CDB5B2567}"/>
              </a:ext>
            </a:extLst>
          </p:cNvPr>
          <p:cNvSpPr txBox="1"/>
          <p:nvPr/>
        </p:nvSpPr>
        <p:spPr>
          <a:xfrm>
            <a:off x="6858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Bits ou palavras de 16 bits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BE019E4-6933-472D-8E7D-D5F9A9DB732C}"/>
              </a:ext>
            </a:extLst>
          </p:cNvPr>
          <p:cNvSpPr txBox="1"/>
          <p:nvPr/>
        </p:nvSpPr>
        <p:spPr>
          <a:xfrm>
            <a:off x="6858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Status da operação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4D1E07-7688-4E91-9DA5-CCAC613656E8}"/>
              </a:ext>
            </a:extLst>
          </p:cNvPr>
          <p:cNvSpPr txBox="1"/>
          <p:nvPr/>
        </p:nvSpPr>
        <p:spPr>
          <a:xfrm>
            <a:off x="6858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Horário da última atualização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AE3F8B6-67BC-4AFF-AD6B-7620EF953F96}"/>
              </a:ext>
            </a:extLst>
          </p:cNvPr>
          <p:cNvSpPr txBox="1"/>
          <p:nvPr/>
        </p:nvSpPr>
        <p:spPr>
          <a:xfrm>
            <a:off x="64897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Escala e unidade física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6340D94-80C1-4092-8D85-4D7A4AC36581}"/>
              </a:ext>
            </a:extLst>
          </p:cNvPr>
          <p:cNvSpPr txBox="1"/>
          <p:nvPr/>
        </p:nvSpPr>
        <p:spPr>
          <a:xfrm>
            <a:off x="64897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Tipo numérico e ordem de palavras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06C0F7C-62D5-45E1-B1FA-67A771E0B9CA}"/>
              </a:ext>
            </a:extLst>
          </p:cNvPr>
          <p:cNvSpPr txBox="1"/>
          <p:nvPr/>
        </p:nvSpPr>
        <p:spPr>
          <a:xfrm>
            <a:off x="64897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Significado da variável no processo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1D946A-5607-4D9B-91B4-F8B72064AC9E}"/>
              </a:ext>
            </a:extLst>
          </p:cNvPr>
          <p:cNvSpPr txBox="1"/>
          <p:nvPr/>
        </p:nvSpPr>
        <p:spPr>
          <a:xfrm>
            <a:off x="685800" y="5803899"/>
            <a:ext cx="10820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Um valor retido na tela precisa de timestamp e qualidade para confirmar leitura atual.</a:t>
            </a:r>
          </a:p>
        </p:txBody>
      </p:sp>
    </p:spTree>
    <p:extLst>
      <p:ext uri="{BB962C8B-B14F-4D97-AF65-F5344CB8AC3E}">
        <p14:creationId xmlns:p14="http://schemas.microsoft.com/office/powerpoint/2010/main" val="1228946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FAC518-2958-4EF6-B7FC-2C696C3D3AC9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A9797F-69A1-4C86-ADC8-85F4841F897B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Timeline Modbus e timeline TCP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ADBE95-4B1C-4879-B6C5-B061D855F69B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8F2EAF3-0453-4C6D-B44A-4770BE38545A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4F534D-3668-472D-AAE8-522A0D72EAE6}"/>
              </a:ext>
            </a:extLst>
          </p:cNvPr>
          <p:cNvSpPr txBox="1"/>
          <p:nvPr/>
        </p:nvSpPr>
        <p:spPr>
          <a:xfrm>
            <a:off x="685800" y="1968499"/>
            <a:ext cx="5143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Modbus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FEA9630-6E47-483B-B494-2C02E574D4EF}"/>
              </a:ext>
            </a:extLst>
          </p:cNvPr>
          <p:cNvSpPr txBox="1"/>
          <p:nvPr/>
        </p:nvSpPr>
        <p:spPr>
          <a:xfrm>
            <a:off x="6489700" y="1968499"/>
            <a:ext cx="5016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TCP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B925915-48C0-492E-944F-71CE6F5AD662}"/>
              </a:ext>
            </a:extLst>
          </p:cNvPr>
          <p:cNvSpPr txBox="1"/>
          <p:nvPr/>
        </p:nvSpPr>
        <p:spPr>
          <a:xfrm>
            <a:off x="6858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Eventos das operações da aplicação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4852E2-040B-44A9-BFCD-B847014C79C3}"/>
              </a:ext>
            </a:extLst>
          </p:cNvPr>
          <p:cNvSpPr txBox="1"/>
          <p:nvPr/>
        </p:nvSpPr>
        <p:spPr>
          <a:xfrm>
            <a:off x="6858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TID, UID, função e região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2232BD4-19BE-4697-919E-68FB96E5AE19}"/>
              </a:ext>
            </a:extLst>
          </p:cNvPr>
          <p:cNvSpPr txBox="1"/>
          <p:nvPr/>
        </p:nvSpPr>
        <p:spPr>
          <a:xfrm>
            <a:off x="6858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Requisição, resposta e exceção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9CFB996-30AF-4D94-85BF-6244EB861568}"/>
              </a:ext>
            </a:extLst>
          </p:cNvPr>
          <p:cNvSpPr txBox="1"/>
          <p:nvPr/>
        </p:nvSpPr>
        <p:spPr>
          <a:xfrm>
            <a:off x="64897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Quadros da interface de captura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7A2DD5-8D6F-486D-B958-78B48E1AA0AC}"/>
              </a:ext>
            </a:extLst>
          </p:cNvPr>
          <p:cNvSpPr txBox="1"/>
          <p:nvPr/>
        </p:nvSpPr>
        <p:spPr>
          <a:xfrm>
            <a:off x="64897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IP, porta, protocolo e tamanho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613E0E-BD11-4184-A124-30BD65953126}"/>
              </a:ext>
            </a:extLst>
          </p:cNvPr>
          <p:cNvSpPr txBox="1"/>
          <p:nvPr/>
        </p:nvSpPr>
        <p:spPr>
          <a:xfrm>
            <a:off x="64897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Sinais de transporte e tráfego visível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FFE057-784D-4117-9B7B-CF9B2D08F6F7}"/>
              </a:ext>
            </a:extLst>
          </p:cNvPr>
          <p:cNvSpPr txBox="1"/>
          <p:nvPr/>
        </p:nvSpPr>
        <p:spPr>
          <a:xfrm>
            <a:off x="685800" y="5803899"/>
            <a:ext cx="10820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A leitura pode responder mesmo quando a captura não vê os quadros.</a:t>
            </a:r>
          </a:p>
        </p:txBody>
      </p:sp>
    </p:spTree>
    <p:extLst>
      <p:ext uri="{BB962C8B-B14F-4D97-AF65-F5344CB8AC3E}">
        <p14:creationId xmlns:p14="http://schemas.microsoft.com/office/powerpoint/2010/main" val="2839844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9D3A7CC-5613-4828-97A9-382CB6570D2A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DA04CA-BFE8-4FD3-B459-95FB917EB6FF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Visibilidade depende do ponto de captura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AF2DF1-4997-42B6-A6BA-5E15987CF3E0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67B97A-0392-4F1A-8983-0A1DD9CDF76F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17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30801C1-9A79-4945-B07F-C40B2BA7B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387243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528123219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033187685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50890031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Posição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Tráfego esperado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Limite principal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1757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Notebook cliente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Comunicações do notebook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Pode não ver conversas entre terceiros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95463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Loopback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Comunicação local do computador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Exige interface adequada de captura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92982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SPAN / TAP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Tráfego encaminhado ao ponto de captura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Cobertura depende da configuração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16496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Filtro BPF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Somente protocolos/endpoints incluídos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Um filtro pode excluir a evidência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085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706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6E8B58E-BEA9-4395-B910-BC2431C46F16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9A5D36-E740-4911-BE54-FE889346E3E0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Sinais TCP que pedem correlação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469237-95CC-4718-A1E1-6B07F6259CF4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AA5C95-284B-456A-B796-43EE49D9BD46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18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DE70FE4-E95F-4E84-BA3F-22AE0958F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773015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619678606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69580949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794151150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Sinal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Hipótese a investigar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 complementar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3245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RST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Rejeição ou encerramento da sessão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Endpoint, estado e momento da operação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2962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Segmento repetido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Possível retransmissão ou captura duplicada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Sequência, direção e janela temporal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52346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Zero window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Receptor temporariamente sem espaço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Duração e impacto no tempo de resposta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0212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Timeout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Operação não terminou no prazo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Request, resposta, rota e socket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3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316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A02329-AAC6-4317-9091-1BBCF3EDCEE2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B28B0F-9461-48A5-9480-37EA88F719F1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Rajada entre blocos e período de polling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9AB2E4-CDE3-4DF3-8AAB-8A78055D1233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DD01CD-5F87-4628-87C0-71E495F697FB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19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ACDF63C-8DB0-45F6-BC28-7D4DD12A8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639739"/>
              </p:ext>
            </p:extLst>
          </p:nvPr>
        </p:nvGraphicFramePr>
        <p:xfrm>
          <a:off x="685800" y="1917700"/>
          <a:ext cx="10820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733810820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930137619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384971946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Horário ilustrativo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Bloco consultado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Leitura do intervalo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89319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12:00:00.000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Início do ciclo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8159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12:00:00.002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IR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Outro bloco, 2 ms depois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95496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12:00:01.000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Mesmo bloco, 1.000 ms depois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41358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12:00:01.002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IR 0 a 9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Mesmo bloco, 1.000 ms depois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02638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CDF49FE4-AD29-4D67-AA04-7F15CF0E2712}"/>
              </a:ext>
            </a:extLst>
          </p:cNvPr>
          <p:cNvSpPr txBox="1"/>
          <p:nvPr/>
        </p:nvSpPr>
        <p:spPr>
          <a:xfrm>
            <a:off x="685800" y="5816599"/>
            <a:ext cx="108204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Compare a mesma assinatura de consulta para estimar o período de polling.</a:t>
            </a:r>
          </a:p>
        </p:txBody>
      </p:sp>
    </p:spTree>
    <p:extLst>
      <p:ext uri="{BB962C8B-B14F-4D97-AF65-F5344CB8AC3E}">
        <p14:creationId xmlns:p14="http://schemas.microsoft.com/office/powerpoint/2010/main" val="595930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553F6E-7EB0-4DB6-BBC1-D711EF9A0C5F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10EE64-797D-4BF2-BED0-FC5C632EFEB3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Dados da rede após parar a captura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89C689-ED63-4F69-9C6C-DE514BEC24E8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3D5074-C422-4083-BEE6-98E2D75A70C9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363BB1-0986-4718-BFAE-6D4E0B6CDFD8}"/>
              </a:ext>
            </a:extLst>
          </p:cNvPr>
          <p:cNvSpPr txBox="1"/>
          <p:nvPr/>
        </p:nvSpPr>
        <p:spPr>
          <a:xfrm>
            <a:off x="685800" y="18922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C9A5A7-CDA7-4F0B-A01E-DE66A6920319}"/>
              </a:ext>
            </a:extLst>
          </p:cNvPr>
          <p:cNvSpPr txBox="1"/>
          <p:nvPr/>
        </p:nvSpPr>
        <p:spPr>
          <a:xfrm>
            <a:off x="1473200" y="19049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Capturar uma janela representativa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8369C2-EACD-43FF-BB7F-61C957857C30}"/>
              </a:ext>
            </a:extLst>
          </p:cNvPr>
          <p:cNvSpPr txBox="1"/>
          <p:nvPr/>
        </p:nvSpPr>
        <p:spPr>
          <a:xfrm>
            <a:off x="685800" y="27050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857D81-361D-4BE7-A594-6BF7A121450B}"/>
              </a:ext>
            </a:extLst>
          </p:cNvPr>
          <p:cNvSpPr txBox="1"/>
          <p:nvPr/>
        </p:nvSpPr>
        <p:spPr>
          <a:xfrm>
            <a:off x="1473200" y="27177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Parar a captura e consolidar a sessão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485CC0B-89B0-46C1-873F-9102CF19C634}"/>
              </a:ext>
            </a:extLst>
          </p:cNvPr>
          <p:cNvSpPr txBox="1"/>
          <p:nvPr/>
        </p:nvSpPr>
        <p:spPr>
          <a:xfrm>
            <a:off x="685800" y="35178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ECABFAD-3085-4326-99AF-3CF5AE2B4993}"/>
              </a:ext>
            </a:extLst>
          </p:cNvPr>
          <p:cNvSpPr txBox="1"/>
          <p:nvPr/>
        </p:nvSpPr>
        <p:spPr>
          <a:xfrm>
            <a:off x="1473200" y="35305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Abrir Dados e conferir o período analisado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AEB12A7-8509-4F43-B16C-44DC5D05A92E}"/>
              </a:ext>
            </a:extLst>
          </p:cNvPr>
          <p:cNvSpPr txBox="1"/>
          <p:nvPr/>
        </p:nvSpPr>
        <p:spPr>
          <a:xfrm>
            <a:off x="685800" y="43306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AC3F3C-2A54-40E7-8E69-B9FC055D715D}"/>
              </a:ext>
            </a:extLst>
          </p:cNvPr>
          <p:cNvSpPr txBox="1"/>
          <p:nvPr/>
        </p:nvSpPr>
        <p:spPr>
          <a:xfrm>
            <a:off x="1473200" y="43433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Consultar gráficos, protocolos e conversas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F201F3-7302-4BED-813D-782039DA557F}"/>
              </a:ext>
            </a:extLst>
          </p:cNvPr>
          <p:cNvSpPr txBox="1"/>
          <p:nvPr/>
        </p:nvSpPr>
        <p:spPr>
          <a:xfrm>
            <a:off x="685800" y="5448299"/>
            <a:ext cx="10820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A aba Dados fica disponível após a parada. O snapshot contém os pacotes retidos daquela sessão.</a:t>
            </a:r>
          </a:p>
        </p:txBody>
      </p:sp>
    </p:spTree>
    <p:extLst>
      <p:ext uri="{BB962C8B-B14F-4D97-AF65-F5344CB8AC3E}">
        <p14:creationId xmlns:p14="http://schemas.microsoft.com/office/powerpoint/2010/main" val="1572971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8B3E4A-8524-46EE-AADD-414B671AA22D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303DB4-312A-42EE-82D8-48D49DDD9579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Taxas observadas e cobertura da amostra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CE76C5C-26D2-4C9D-8DF8-36F8564C0B24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6C346A-4D9B-4193-9492-F8AF05A06E69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21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B2F348E-B496-45F1-AC67-56646CB6B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53870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2384107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246529183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54676477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Indicador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Interpretação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Conferência necessária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71114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Pacotes e bytes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Quadros observados e volume capturado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Filtro e retenção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58322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Média por segundo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Taxa no intervalo amostrado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Duração entre timestamps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13435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Pico em 1 segundo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Maior bucket completo observado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Resolução e janela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3663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Descartes / fila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Limites na coleta de evidências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Driver e fila da aplicação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841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979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F4A459A-143A-44D8-BFFD-575D052A10A1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2F3F5D-F9D5-4F9E-9F72-BB2F2B27AB88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Pico de tráfego e impacto na comunicação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3F2815-5966-4AA8-A629-070CC253784E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4A655A-3137-441E-A543-B52D6E6EE9DC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22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4D7E4A40-1EAD-429F-85E6-945D0C80B1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496524"/>
              </p:ext>
            </p:extLst>
          </p:nvPr>
        </p:nvGraphicFramePr>
        <p:xfrm>
          <a:off x="685800" y="1917700"/>
          <a:ext cx="6858000" cy="402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B95B5417-2E93-4464-8F7C-C58C13ADEF9F}"/>
              </a:ext>
            </a:extLst>
          </p:cNvPr>
          <p:cNvSpPr txBox="1"/>
          <p:nvPr/>
        </p:nvSpPr>
        <p:spPr>
          <a:xfrm>
            <a:off x="8039100" y="2082799"/>
            <a:ext cx="34671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Um pico identifica quando investigar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B9CF99-9319-4FA3-8A12-7CE779A24B8D}"/>
              </a:ext>
            </a:extLst>
          </p:cNvPr>
          <p:cNvSpPr txBox="1"/>
          <p:nvPr/>
        </p:nvSpPr>
        <p:spPr>
          <a:xfrm>
            <a:off x="8039100" y="3327399"/>
            <a:ext cx="34671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Latência e descartes mostram possível impacto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617719-ABC9-48CF-8BC6-CAA0563A40BD}"/>
              </a:ext>
            </a:extLst>
          </p:cNvPr>
          <p:cNvSpPr txBox="1"/>
          <p:nvPr/>
        </p:nvSpPr>
        <p:spPr>
          <a:xfrm>
            <a:off x="8039100" y="4571999"/>
            <a:ext cx="34671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Velocidade e contadores de porta ajudam a avaliar utilização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9D8AC8-A8CA-4448-9920-97E936248C9E}"/>
              </a:ext>
            </a:extLst>
          </p:cNvPr>
          <p:cNvSpPr txBox="1"/>
          <p:nvPr/>
        </p:nvSpPr>
        <p:spPr>
          <a:xfrm>
            <a:off x="685800" y="6083299"/>
            <a:ext cx="1082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Exemplo didático de pacotes/s. Valores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3175969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FB2097C-168A-4880-AB67-FCF9F7884498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E15AD9-00D2-49E0-B420-82ECCC223F3E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Dispositivos e conversas com mais tráfego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5DAD4C-08F4-4C94-B7EB-9A8AD0DAED4C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F9C7A5-4D91-4952-BD43-AC1D24C9656E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83616B-519C-43BB-80B5-C873EA765FD6}"/>
              </a:ext>
            </a:extLst>
          </p:cNvPr>
          <p:cNvSpPr txBox="1"/>
          <p:nvPr/>
        </p:nvSpPr>
        <p:spPr>
          <a:xfrm>
            <a:off x="685800" y="1993899"/>
            <a:ext cx="108204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500" b="1">
                <a:solidFill>
                  <a:srgbClr val="087E8B"/>
                </a:solidFill>
                <a:latin typeface="Segoe UI" panose="020B0502040204020203" pitchFamily="34" charset="0"/>
              </a:rPr>
              <a:t>10 pacotes de A para 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6A9F9F-7F8A-4E89-AE86-3176584CEBBA}"/>
              </a:ext>
            </a:extLst>
          </p:cNvPr>
          <p:cNvSpPr txBox="1"/>
          <p:nvPr/>
        </p:nvSpPr>
        <p:spPr>
          <a:xfrm>
            <a:off x="685800" y="36194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 participa de 100% dos pacotes da amostra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3BEE606-8C4E-4862-A76A-FF901D728C84}"/>
              </a:ext>
            </a:extLst>
          </p:cNvPr>
          <p:cNvSpPr txBox="1"/>
          <p:nvPr/>
        </p:nvSpPr>
        <p:spPr>
          <a:xfrm>
            <a:off x="685800" y="44068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B também participa de 100% desses pacotes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6C3065-4B94-4BA3-A700-2A4BA5A2EC20}"/>
              </a:ext>
            </a:extLst>
          </p:cNvPr>
          <p:cNvSpPr txBox="1"/>
          <p:nvPr/>
        </p:nvSpPr>
        <p:spPr>
          <a:xfrm>
            <a:off x="685800" y="51942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A soma de participação entre endpoints pode superar 100%</a:t>
            </a:r>
          </a:p>
        </p:txBody>
      </p:sp>
    </p:spTree>
    <p:extLst>
      <p:ext uri="{BB962C8B-B14F-4D97-AF65-F5344CB8AC3E}">
        <p14:creationId xmlns:p14="http://schemas.microsoft.com/office/powerpoint/2010/main" val="1811081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5A6878-7AF5-49B6-900F-D7F08EDEFEE8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835B72-41A3-436B-A4B6-EC3F3681F38A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Resultados reunidos no Teste completo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566EE7A-627C-4178-8C7B-5ABD1BEEA0CE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387DCD-B9F6-4797-A899-1FEC239FCA9D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45D9C7-D23E-420B-AC16-E666E04B7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07" y="1790700"/>
            <a:ext cx="7351585" cy="42418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A310776-0361-40BA-AACC-431716C9DDED}"/>
              </a:ext>
            </a:extLst>
          </p:cNvPr>
          <p:cNvSpPr txBox="1"/>
          <p:nvPr/>
        </p:nvSpPr>
        <p:spPr>
          <a:xfrm>
            <a:off x="685800" y="6096000"/>
            <a:ext cx="108204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Tela de referência: execução, checklist e evidências do ensaio</a:t>
            </a:r>
          </a:p>
        </p:txBody>
      </p:sp>
    </p:spTree>
    <p:extLst>
      <p:ext uri="{BB962C8B-B14F-4D97-AF65-F5344CB8AC3E}">
        <p14:creationId xmlns:p14="http://schemas.microsoft.com/office/powerpoint/2010/main" val="3198770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E02FED-DEBD-4B5F-B29F-CC2B83AAFC1E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697E74-7DCF-44FD-AE5C-07D9E171D4AA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Configurações que definem o ensaio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2B6DEB-F49A-4AAE-BAEA-14B78CE395A2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A88DC9-C2B4-4639-A76F-1C3CF7BCCA52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25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A49AF71-AC37-4840-83DF-8686313F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550632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136838822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91252766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33254111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Parâmetro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Efeito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Escolha para a bancada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7846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Papel e alvos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Define as validações Modbus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Cliente e alvo local incluído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02274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Referência passiva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Observa antes das sondagens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Janela suficiente para ciclos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6024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Monitoramento TCP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Coleta comportamento operacional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Período compatível com o objetivo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8429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Leituras por bloco / intervalo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Define repetição e duração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Registrar tentativas e sucessos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1344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CIDR, portas, taxa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Limita descoberta ativa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Somente escopo autorizado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54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014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9060DA-7B6A-41F5-B224-9FC1B49B98AC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B477B2-0001-4D8D-9C76-3C7E1EBE548D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Estados do checklist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D87E56-B550-452D-801F-0C9543B4F00C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D2DC8D-C7BA-4C64-A00A-165A3B439D9F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26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8037C8C-54E7-471C-BCC5-DC8E4848E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433101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937677900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294679502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Estado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Leitura técnica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49078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OK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Critério da etapa atendido na janela observada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32973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Atenção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Sinal ou limitação que exige análise contextual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4266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Falha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Operação ou critério da etapa não atendido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50660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Inconclusivo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Evidência insuficiente para decidir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9437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aplicável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Etapa sem objeto para aquele papel ou escopo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864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267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F63FC2-98A4-4038-8A49-2DD462A43978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8FB719-741F-4CE3-B29F-7FF85A3B9771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Descoberta de mapa: alcance e requests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785E52C-7EF3-4C0C-A400-5B958A21F7F3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371ADD0-9327-47D6-AEBB-49C21D82F8E0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27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9BA189-8C34-4409-850C-9F15EBF5B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194" y="1828800"/>
            <a:ext cx="3548212" cy="4165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8D7CAA5-1CA4-45C8-8687-E01347F8596B}"/>
              </a:ext>
            </a:extLst>
          </p:cNvPr>
          <p:cNvSpPr txBox="1"/>
          <p:nvPr/>
        </p:nvSpPr>
        <p:spPr>
          <a:xfrm>
            <a:off x="6667500" y="20192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Máximo 100 inclui o endereço 100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A08418-7018-494B-9C8E-9A613E05309A}"/>
              </a:ext>
            </a:extLst>
          </p:cNvPr>
          <p:cNvSpPr txBox="1"/>
          <p:nvPr/>
        </p:nvSpPr>
        <p:spPr>
          <a:xfrm>
            <a:off x="6667500" y="28701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Bloco 10: 0–9, 10–19, até 90–99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0302B90-125D-47E7-BEC8-0E2D8444DD80}"/>
              </a:ext>
            </a:extLst>
          </p:cNvPr>
          <p:cNvSpPr txBox="1"/>
          <p:nvPr/>
        </p:nvSpPr>
        <p:spPr>
          <a:xfrm>
            <a:off x="6667500" y="37210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A última janela é 100–100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21D471-0344-4912-98F7-AA826305C6B2}"/>
              </a:ext>
            </a:extLst>
          </p:cNvPr>
          <p:cNvSpPr txBox="1"/>
          <p:nvPr/>
        </p:nvSpPr>
        <p:spPr>
          <a:xfrm>
            <a:off x="6667500" y="4571999"/>
            <a:ext cx="48387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18354B"/>
                </a:solidFill>
                <a:latin typeface="Segoe UI" panose="020B0502040204020203" pitchFamily="34" charset="0"/>
              </a:rPr>
              <a:t>São 11 janelas iniciais por FC, UID e endpoint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E6D06C-2FD9-45B7-BAE7-592F3A7D8664}"/>
              </a:ext>
            </a:extLst>
          </p:cNvPr>
          <p:cNvSpPr txBox="1"/>
          <p:nvPr/>
        </p:nvSpPr>
        <p:spPr>
          <a:xfrm>
            <a:off x="685800" y="6057899"/>
            <a:ext cx="1082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>
                <a:solidFill>
                  <a:srgbClr val="556C7D"/>
                </a:solidFill>
                <a:latin typeface="Segoe UI" panose="020B0502040204020203" pitchFamily="34" charset="0"/>
              </a:rPr>
              <a:t>Fallback e outras funções/UIDs acrescentam consultas</a:t>
            </a:r>
          </a:p>
        </p:txBody>
      </p:sp>
    </p:spTree>
    <p:extLst>
      <p:ext uri="{BB962C8B-B14F-4D97-AF65-F5344CB8AC3E}">
        <p14:creationId xmlns:p14="http://schemas.microsoft.com/office/powerpoint/2010/main" val="1892114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0AC92F-A79E-4BDA-8783-E66B546A81EF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5BE9E2-DC92-4247-A1E3-39B6046CA897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Leitura de diagnóstico e escrita manual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CFCBB9-5487-41F4-AE92-FB54D5450151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9E73D8-230F-41EA-A16A-236399AF5A65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E171FD-0541-4A66-BF6F-7D3D1732260F}"/>
              </a:ext>
            </a:extLst>
          </p:cNvPr>
          <p:cNvSpPr txBox="1"/>
          <p:nvPr/>
        </p:nvSpPr>
        <p:spPr>
          <a:xfrm>
            <a:off x="685800" y="1968499"/>
            <a:ext cx="5143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Teste completo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FF4D42-CE60-400C-B2BF-95D37273305E}"/>
              </a:ext>
            </a:extLst>
          </p:cNvPr>
          <p:cNvSpPr txBox="1"/>
          <p:nvPr/>
        </p:nvSpPr>
        <p:spPr>
          <a:xfrm>
            <a:off x="6489700" y="1968499"/>
            <a:ext cx="5016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Escrita manual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7829EF-C660-403D-938D-B1A23B9B25C0}"/>
              </a:ext>
            </a:extLst>
          </p:cNvPr>
          <p:cNvSpPr txBox="1"/>
          <p:nvPr/>
        </p:nvSpPr>
        <p:spPr>
          <a:xfrm>
            <a:off x="6858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Sondagens e leituras configuradas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6E8C7F9-9041-4EE8-8937-4B29C5BFFC6D}"/>
              </a:ext>
            </a:extLst>
          </p:cNvPr>
          <p:cNvSpPr txBox="1"/>
          <p:nvPr/>
        </p:nvSpPr>
        <p:spPr>
          <a:xfrm>
            <a:off x="6858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Descoberta de mapa sem escrita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F04692-DBE3-45C2-9EAB-31D6B51B54BA}"/>
              </a:ext>
            </a:extLst>
          </p:cNvPr>
          <p:cNvSpPr txBox="1"/>
          <p:nvPr/>
        </p:nvSpPr>
        <p:spPr>
          <a:xfrm>
            <a:off x="6858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Observação dos requests recebidos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32018D-D4F9-434A-A41A-B3B2260040BA}"/>
              </a:ext>
            </a:extLst>
          </p:cNvPr>
          <p:cNvSpPr txBox="1"/>
          <p:nvPr/>
        </p:nvSpPr>
        <p:spPr>
          <a:xfrm>
            <a:off x="64897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Pode alterar o processo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1F1554-5470-414A-9230-722F907934C3}"/>
              </a:ext>
            </a:extLst>
          </p:cNvPr>
          <p:cNvSpPr txBox="1"/>
          <p:nvPr/>
        </p:nvSpPr>
        <p:spPr>
          <a:xfrm>
            <a:off x="64897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Exige ponto e valor aprovados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5BB46DF-5567-4D7A-9094-82F5D9877A0D}"/>
              </a:ext>
            </a:extLst>
          </p:cNvPr>
          <p:cNvSpPr txBox="1"/>
          <p:nvPr/>
        </p:nvSpPr>
        <p:spPr>
          <a:xfrm>
            <a:off x="64897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Timeout exige conferir o estado antes de repetir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D07A02D-C666-4937-B2CC-3108F00F49E1}"/>
              </a:ext>
            </a:extLst>
          </p:cNvPr>
          <p:cNvSpPr txBox="1"/>
          <p:nvPr/>
        </p:nvSpPr>
        <p:spPr>
          <a:xfrm>
            <a:off x="685800" y="5803899"/>
            <a:ext cx="10820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A demonstração de treinamento usa bancada ou ambiente autorizado.</a:t>
            </a:r>
          </a:p>
        </p:txBody>
      </p:sp>
    </p:spTree>
    <p:extLst>
      <p:ext uri="{BB962C8B-B14F-4D97-AF65-F5344CB8AC3E}">
        <p14:creationId xmlns:p14="http://schemas.microsoft.com/office/powerpoint/2010/main" val="2185427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9E2BFE-F5E1-4D16-BF11-F25CD21E41F7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979DCB-5EBA-4DAD-B5F8-ADC7C2F794FB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O que significa dispositivo encontrado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CEE9346-0B65-4F32-A850-41330FA0B6F3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F86FDB-F060-4CF7-88D7-D32074D0B654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29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8401A0B-2E6D-42E7-B207-7DF419B90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84739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665268361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39104554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854895109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Categoria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Limitação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51968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Vizinho ARP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Associação local de IPv4 e MAC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identifica PLC ou atividade atual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20934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TCP aberto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Conexão aceita na porta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confirma Modbus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32042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Modbus confirmado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Resposta de leitura ou exceção válida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valida todo o mapa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36755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Cliente observado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Request reconhecido / recebido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Cliente silencioso pode não aparecer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4266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Infraestrutura anunciada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LLDP/CDP recebido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Não é inventário completo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835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980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CF0600-4491-43AA-8643-74B30BB1202A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104E23-B7B5-4E42-9AD9-3A30AA7FB1C1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Rotas e topologia inferida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8C6BC2-FCF0-45AD-85AE-C6A7BCE043B0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9826E2-59CF-4A2B-B8EA-50CFBBC49D7F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30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69177A5-78D4-4C11-9639-8C2CF494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838876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539414135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1032270229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629533597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 que mostra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 que fica pendente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2602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Conversas Modbus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Pares que trocaram mensagens visíveis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Caminho físico entre eles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67614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Rota ICMP / TTL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Roteadores que responderam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Switch L2 e caminho de retorno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6198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Gateway local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Configuração de saída da estação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Rota efetivamente usada pelo alvo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4324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LLDP / CDP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Identidade e porta anunciadas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Saúde e inventário remoto do switch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42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813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FBF0AC3-DB91-4848-9F0D-9BAE11BAA698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06581F-12B2-4E55-9570-EF1B75B40C4E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Leitura do diagrama e das suas lacunas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A445AE-3FE5-4581-99A4-941056AE5B87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597BB1-9CD9-42C7-949E-21BE144345EC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AC728D-B77B-4F5A-9B0A-CBF76BDA0678}"/>
              </a:ext>
            </a:extLst>
          </p:cNvPr>
          <p:cNvSpPr txBox="1"/>
          <p:nvPr/>
        </p:nvSpPr>
        <p:spPr>
          <a:xfrm>
            <a:off x="685800" y="19557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48F5C1-3CE6-48BB-96DC-420DE5653530}"/>
              </a:ext>
            </a:extLst>
          </p:cNvPr>
          <p:cNvSpPr txBox="1"/>
          <p:nvPr/>
        </p:nvSpPr>
        <p:spPr>
          <a:xfrm>
            <a:off x="1727200" y="19684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enlace tem evidência Modbus?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ADFF34-8493-4182-934C-0705F97C17ED}"/>
              </a:ext>
            </a:extLst>
          </p:cNvPr>
          <p:cNvSpPr txBox="1"/>
          <p:nvPr/>
        </p:nvSpPr>
        <p:spPr>
          <a:xfrm>
            <a:off x="685800" y="29463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0BF5C0-4838-4367-ABC6-9F39385307D3}"/>
              </a:ext>
            </a:extLst>
          </p:cNvPr>
          <p:cNvSpPr txBox="1"/>
          <p:nvPr/>
        </p:nvSpPr>
        <p:spPr>
          <a:xfrm>
            <a:off x="1727200" y="29590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salto veio de uma resposta ICMP?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31997E-AC2D-40E8-BFA5-3E904CA0D298}"/>
              </a:ext>
            </a:extLst>
          </p:cNvPr>
          <p:cNvSpPr txBox="1"/>
          <p:nvPr/>
        </p:nvSpPr>
        <p:spPr>
          <a:xfrm>
            <a:off x="685800" y="39369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90CBA9-0651-42B8-826C-AC16636D5C8E}"/>
              </a:ext>
            </a:extLst>
          </p:cNvPr>
          <p:cNvSpPr txBox="1"/>
          <p:nvPr/>
        </p:nvSpPr>
        <p:spPr>
          <a:xfrm>
            <a:off x="1727200" y="39496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Há anúncio que identifica infraestrutura?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5F1EB4-49CE-48C4-BDD4-9F9E896C0F60}"/>
              </a:ext>
            </a:extLst>
          </p:cNvPr>
          <p:cNvSpPr txBox="1"/>
          <p:nvPr/>
        </p:nvSpPr>
        <p:spPr>
          <a:xfrm>
            <a:off x="685800" y="49275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7D2720-87F1-4D9D-B3C5-84422ADE945E}"/>
              </a:ext>
            </a:extLst>
          </p:cNvPr>
          <p:cNvSpPr txBox="1"/>
          <p:nvPr/>
        </p:nvSpPr>
        <p:spPr>
          <a:xfrm>
            <a:off x="1727200" y="49402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conexão física ainda exige confirmação?</a:t>
            </a:r>
          </a:p>
        </p:txBody>
      </p:sp>
    </p:spTree>
    <p:extLst>
      <p:ext uri="{BB962C8B-B14F-4D97-AF65-F5344CB8AC3E}">
        <p14:creationId xmlns:p14="http://schemas.microsoft.com/office/powerpoint/2010/main" val="2441593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871D0C9-ADE3-4AC0-9472-864FE47D1FF9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7346D9-4D8D-4A04-B4C7-7EDBD13E538B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Relatório resumido e completo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083B42-9E18-4F59-B9EF-9A1282004407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277852-EBA6-48F2-B02F-6130846937B0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F4C714-1349-408E-8B72-AE6A97F68625}"/>
              </a:ext>
            </a:extLst>
          </p:cNvPr>
          <p:cNvSpPr txBox="1"/>
          <p:nvPr/>
        </p:nvSpPr>
        <p:spPr>
          <a:xfrm>
            <a:off x="685800" y="1968499"/>
            <a:ext cx="5143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Resumido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64D3C1-BC63-4A60-B618-8F97C02B3551}"/>
              </a:ext>
            </a:extLst>
          </p:cNvPr>
          <p:cNvSpPr txBox="1"/>
          <p:nvPr/>
        </p:nvSpPr>
        <p:spPr>
          <a:xfrm>
            <a:off x="6489700" y="1968499"/>
            <a:ext cx="5016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500" b="1">
                <a:solidFill>
                  <a:srgbClr val="087E8B"/>
                </a:solidFill>
                <a:latin typeface="Segoe UI" panose="020B0502040204020203" pitchFamily="34" charset="0"/>
              </a:rPr>
              <a:t>Completo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94336F-A98D-407C-B7FB-0E1AD8349144}"/>
              </a:ext>
            </a:extLst>
          </p:cNvPr>
          <p:cNvSpPr txBox="1"/>
          <p:nvPr/>
        </p:nvSpPr>
        <p:spPr>
          <a:xfrm>
            <a:off x="6858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Principais achados e resultados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A29614-9AEB-48D2-A289-6673EDA8E70B}"/>
              </a:ext>
            </a:extLst>
          </p:cNvPr>
          <p:cNvSpPr txBox="1"/>
          <p:nvPr/>
        </p:nvSpPr>
        <p:spPr>
          <a:xfrm>
            <a:off x="6858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Impacto e próxima verificação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22692EB-EC01-4EB3-812F-54D1AF505281}"/>
              </a:ext>
            </a:extLst>
          </p:cNvPr>
          <p:cNvSpPr txBox="1"/>
          <p:nvPr/>
        </p:nvSpPr>
        <p:spPr>
          <a:xfrm>
            <a:off x="6858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Comunicação rápida à equipe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492250-F9AF-486B-8F5E-B24DB5C7158F}"/>
              </a:ext>
            </a:extLst>
          </p:cNvPr>
          <p:cNvSpPr txBox="1"/>
          <p:nvPr/>
        </p:nvSpPr>
        <p:spPr>
          <a:xfrm>
            <a:off x="6489700" y="27050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Etapas e estatísticas detalhadas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B4C3016-0920-4F4A-8CC8-F5D5EE123910}"/>
              </a:ext>
            </a:extLst>
          </p:cNvPr>
          <p:cNvSpPr txBox="1"/>
          <p:nvPr/>
        </p:nvSpPr>
        <p:spPr>
          <a:xfrm>
            <a:off x="6489700" y="36194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Inventário, mapa e topologia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8E1F664-712E-43AA-95E7-C8E227075704}"/>
              </a:ext>
            </a:extLst>
          </p:cNvPr>
          <p:cNvSpPr txBox="1"/>
          <p:nvPr/>
        </p:nvSpPr>
        <p:spPr>
          <a:xfrm>
            <a:off x="6489700" y="4533899"/>
            <a:ext cx="5016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Rastreabilidade técnica do ensaio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A700DBF-5276-412C-8F6E-660BFEF9A0AF}"/>
              </a:ext>
            </a:extLst>
          </p:cNvPr>
          <p:cNvSpPr txBox="1"/>
          <p:nvPr/>
        </p:nvSpPr>
        <p:spPr>
          <a:xfrm>
            <a:off x="685800" y="5803899"/>
            <a:ext cx="10820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900">
                <a:solidFill>
                  <a:srgbClr val="556C7D"/>
                </a:solidFill>
                <a:latin typeface="Segoe UI" panose="020B0502040204020203" pitchFamily="34" charset="0"/>
              </a:rPr>
              <a:t>MD e PDF preservam o relatório. Imagens auxiliares do MD devem acompanhar o arquivo.</a:t>
            </a:r>
          </a:p>
        </p:txBody>
      </p:sp>
    </p:spTree>
    <p:extLst>
      <p:ext uri="{BB962C8B-B14F-4D97-AF65-F5344CB8AC3E}">
        <p14:creationId xmlns:p14="http://schemas.microsoft.com/office/powerpoint/2010/main" val="1520954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F17C2CB-A2C2-4A1E-9D08-C62624DA2D2C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401866-6C76-4147-8D80-21C3E18A1C10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Um achado técnico reproduzível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A80455-371F-411F-9D12-9EED2938978C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833AFD-075C-4F07-86D4-B2A0272136E7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986F0A-7D0C-49A3-AD75-85FD2FF372F9}"/>
              </a:ext>
            </a:extLst>
          </p:cNvPr>
          <p:cNvSpPr txBox="1"/>
          <p:nvPr/>
        </p:nvSpPr>
        <p:spPr>
          <a:xfrm>
            <a:off x="685800" y="1993899"/>
            <a:ext cx="108204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500" b="1">
                <a:solidFill>
                  <a:srgbClr val="087E8B"/>
                </a:solidFill>
                <a:latin typeface="Segoe UI" panose="020B0502040204020203" pitchFamily="34" charset="0"/>
              </a:rPr>
              <a:t>FC03 recusou a faixa 9–10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430327-7E69-4A55-9BD4-4627AE711BBB}"/>
              </a:ext>
            </a:extLst>
          </p:cNvPr>
          <p:cNvSpPr txBox="1"/>
          <p:nvPr/>
        </p:nvSpPr>
        <p:spPr>
          <a:xfrm>
            <a:off x="685800" y="36194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Evidência: três respostas com exceção 02, UID 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419D99-C4C1-4C0D-997B-FA6CF11CC415}"/>
              </a:ext>
            </a:extLst>
          </p:cNvPr>
          <p:cNvSpPr txBox="1"/>
          <p:nvPr/>
        </p:nvSpPr>
        <p:spPr>
          <a:xfrm>
            <a:off x="685800" y="44068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Mapa de bancada: HR 0–9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1B5C131-D5D0-42AF-A247-604BE2623642}"/>
              </a:ext>
            </a:extLst>
          </p:cNvPr>
          <p:cNvSpPr txBox="1"/>
          <p:nvPr/>
        </p:nvSpPr>
        <p:spPr>
          <a:xfrm>
            <a:off x="685800" y="51942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Próxima verificação: corrigir quantidade ou mapa documentado</a:t>
            </a:r>
          </a:p>
        </p:txBody>
      </p:sp>
    </p:spTree>
    <p:extLst>
      <p:ext uri="{BB962C8B-B14F-4D97-AF65-F5344CB8AC3E}">
        <p14:creationId xmlns:p14="http://schemas.microsoft.com/office/powerpoint/2010/main" val="1349014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1B33A3-74F2-4480-809B-BB30E7D39832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09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6C6468-9E41-4F08-997F-AF647936C741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Parâmetros para repetir o teste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B74B66-9833-402D-8A20-AEDD85032908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43F7FF-D2B4-4CF4-ABD0-F4198FCB765B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34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28DD5E7-D916-414D-A289-7D598DECC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366853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896490023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95176974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Registro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Por que guardar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20191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Versão e configuração .ffd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Reproduzir estação, alvos e mapa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47791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IP, porta, UID, FC e range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Identificar exatamente a operação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6897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Interface e filtro de captura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Reproduzir a cobertura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37576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Janela, repetição e intervalo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Comparar amostras equivalentes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90295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Relatório e evidências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Conferir achados antes e depois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074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255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E83F2B7-EBBC-4078-82B2-32D1D9AD41E1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DE50D0-7973-45AF-A1AF-982D7D1D1A21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Estudo de caso: a primeira evidência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32BDDD-666F-4AF2-9F08-F6844AAB51D6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2F1613-D5D6-4CF7-96E3-5F82B081CC88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ABA937-C529-4B53-8A98-77296A146B94}"/>
              </a:ext>
            </a:extLst>
          </p:cNvPr>
          <p:cNvSpPr txBox="1"/>
          <p:nvPr/>
        </p:nvSpPr>
        <p:spPr>
          <a:xfrm>
            <a:off x="685800" y="19557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2EC304-0C51-4424-A747-FFD9E6E79770}"/>
              </a:ext>
            </a:extLst>
          </p:cNvPr>
          <p:cNvSpPr txBox="1"/>
          <p:nvPr/>
        </p:nvSpPr>
        <p:spPr>
          <a:xfrm>
            <a:off x="1727200" y="19684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O cliente indica falha no HR documental 40010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2EB3BAE-27C1-45B6-8E6A-4660092E30FC}"/>
              </a:ext>
            </a:extLst>
          </p:cNvPr>
          <p:cNvSpPr txBox="1"/>
          <p:nvPr/>
        </p:nvSpPr>
        <p:spPr>
          <a:xfrm>
            <a:off x="685800" y="29463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B09A417-18A8-4F12-ABF2-9F7BDE801203}"/>
              </a:ext>
            </a:extLst>
          </p:cNvPr>
          <p:cNvSpPr txBox="1"/>
          <p:nvPr/>
        </p:nvSpPr>
        <p:spPr>
          <a:xfrm>
            <a:off x="1727200" y="29590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O IP responde ao ping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A233E0B-6CEC-4DCA-9E5C-4F1E4EECB522}"/>
              </a:ext>
            </a:extLst>
          </p:cNvPr>
          <p:cNvSpPr txBox="1"/>
          <p:nvPr/>
        </p:nvSpPr>
        <p:spPr>
          <a:xfrm>
            <a:off x="685800" y="39369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3920F68-AA04-443B-B481-98506359BA90}"/>
              </a:ext>
            </a:extLst>
          </p:cNvPr>
          <p:cNvSpPr txBox="1"/>
          <p:nvPr/>
        </p:nvSpPr>
        <p:spPr>
          <a:xfrm>
            <a:off x="1727200" y="39496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A porta TCP aceita conexão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796CAF-2E2F-44E3-AF16-E59CCA3C1B9E}"/>
              </a:ext>
            </a:extLst>
          </p:cNvPr>
          <p:cNvSpPr txBox="1"/>
          <p:nvPr/>
        </p:nvSpPr>
        <p:spPr>
          <a:xfrm>
            <a:off x="685800" y="49275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DF43CE0-A6D1-4862-85A7-24855E495649}"/>
              </a:ext>
            </a:extLst>
          </p:cNvPr>
          <p:cNvSpPr txBox="1"/>
          <p:nvPr/>
        </p:nvSpPr>
        <p:spPr>
          <a:xfrm>
            <a:off x="1727200" y="49402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será o próximo teste?</a:t>
            </a:r>
          </a:p>
        </p:txBody>
      </p:sp>
    </p:spTree>
    <p:extLst>
      <p:ext uri="{BB962C8B-B14F-4D97-AF65-F5344CB8AC3E}">
        <p14:creationId xmlns:p14="http://schemas.microsoft.com/office/powerpoint/2010/main" val="1641011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993289-8ABE-4A70-9DFA-812672950FAE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73794D-AB47-45C3-9195-40CD64757295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Estudo de caso: a leitura recusada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59638A-1B70-4372-B6F2-27A1830DF18C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231818-B68A-40AB-9962-61DC18935ABA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36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541CB1B-9A4C-418D-A08C-A0228C75F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27270"/>
              </p:ext>
            </p:extLst>
          </p:nvPr>
        </p:nvGraphicFramePr>
        <p:xfrm>
          <a:off x="685800" y="1917700"/>
          <a:ext cx="10820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15813305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1267722239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Campo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Evidência liberada</a:t>
                      </a:r>
                    </a:p>
                  </a:txBody>
                  <a:tcPr marL="127000" marR="127000" marT="114300" marB="88900">
                    <a:solidFill>
                      <a:srgbClr val="18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03764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Endpoint / UID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127.0.0.1:1502 / 1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31167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Consulta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FC03, início 9, quantidade 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0844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Mapa conhecido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HR 0 a 9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1054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Resposta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Exceção 02</a:t>
                      </a:r>
                    </a:p>
                  </a:txBody>
                  <a:tcPr marL="127000" marR="127000" marT="114300" marB="88900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1739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Pergunta à turma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8354B"/>
                          </a:solidFill>
                          <a:latin typeface="Segoe UI" panose="020B0502040204020203" pitchFamily="34" charset="0"/>
                        </a:rPr>
                        <a:t>O que comprova a resposta e qual configuração revisar?</a:t>
                      </a:r>
                    </a:p>
                  </a:txBody>
                  <a:tcPr marL="127000" marR="127000" marT="1143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1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261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4F353D8-B7A0-4E2C-9748-7029A2C6FA40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Momento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5DB38A-765F-47DA-A64B-44829E4CFF9B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Estudo de caso: confirmação após ajuste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7BD79F1-FD65-4176-9571-F8D42EA6E370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FE01B0-DBE2-410A-954B-3D8562245986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548713-956B-4FDC-AA35-5810F779059D}"/>
              </a:ext>
            </a:extLst>
          </p:cNvPr>
          <p:cNvSpPr txBox="1"/>
          <p:nvPr/>
        </p:nvSpPr>
        <p:spPr>
          <a:xfrm>
            <a:off x="685800" y="18922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E2A2E0-F732-4BC9-A1A9-261DA00FD70A}"/>
              </a:ext>
            </a:extLst>
          </p:cNvPr>
          <p:cNvSpPr txBox="1"/>
          <p:nvPr/>
        </p:nvSpPr>
        <p:spPr>
          <a:xfrm>
            <a:off x="1473200" y="19049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Corrigir somente a quantidade para 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BB05F8-8031-420F-8F84-EEF52A6A1480}"/>
              </a:ext>
            </a:extLst>
          </p:cNvPr>
          <p:cNvSpPr txBox="1"/>
          <p:nvPr/>
        </p:nvSpPr>
        <p:spPr>
          <a:xfrm>
            <a:off x="685800" y="27050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A2B1B8-606D-4E6D-8BC4-42FB8FFD5341}"/>
              </a:ext>
            </a:extLst>
          </p:cNvPr>
          <p:cNvSpPr txBox="1"/>
          <p:nvPr/>
        </p:nvSpPr>
        <p:spPr>
          <a:xfrm>
            <a:off x="1473200" y="27177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Repetir a leitura no offset 9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CFE830-6009-44B2-9ABF-AC65E12EF829}"/>
              </a:ext>
            </a:extLst>
          </p:cNvPr>
          <p:cNvSpPr txBox="1"/>
          <p:nvPr/>
        </p:nvSpPr>
        <p:spPr>
          <a:xfrm>
            <a:off x="685800" y="35178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748E177-131F-42A6-846E-2AF7568951A6}"/>
              </a:ext>
            </a:extLst>
          </p:cNvPr>
          <p:cNvSpPr txBox="1"/>
          <p:nvPr/>
        </p:nvSpPr>
        <p:spPr>
          <a:xfrm>
            <a:off x="1473200" y="35305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Conferir valor, qualidade e horário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F93FB5B-DA4E-42C7-9BFF-30838970FA87}"/>
              </a:ext>
            </a:extLst>
          </p:cNvPr>
          <p:cNvSpPr txBox="1"/>
          <p:nvPr/>
        </p:nvSpPr>
        <p:spPr>
          <a:xfrm>
            <a:off x="685800" y="4330699"/>
            <a:ext cx="533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600" b="1">
                <a:solidFill>
                  <a:srgbClr val="087E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5BFD3E-EC2E-464C-B21D-D5B9805580E0}"/>
              </a:ext>
            </a:extLst>
          </p:cNvPr>
          <p:cNvSpPr txBox="1"/>
          <p:nvPr/>
        </p:nvSpPr>
        <p:spPr>
          <a:xfrm>
            <a:off x="1473200" y="4343399"/>
            <a:ext cx="10033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200">
                <a:solidFill>
                  <a:srgbClr val="18354B"/>
                </a:solidFill>
                <a:latin typeface="Segoe UI" panose="020B0502040204020203" pitchFamily="34" charset="0"/>
              </a:rPr>
              <a:t>Registrar o antes e depois no relatório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3902BE-1522-40CD-922E-66EBFB40AB43}"/>
              </a:ext>
            </a:extLst>
          </p:cNvPr>
          <p:cNvSpPr txBox="1"/>
          <p:nvPr/>
        </p:nvSpPr>
        <p:spPr>
          <a:xfrm>
            <a:off x="685800" y="5448299"/>
            <a:ext cx="10820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000" b="1">
                <a:solidFill>
                  <a:srgbClr val="087E8B"/>
                </a:solidFill>
                <a:latin typeface="Segoe UI" panose="020B0502040204020203" pitchFamily="34" charset="0"/>
              </a:rPr>
              <a:t>A leitura válida confirma o diagnóstico do range na bancada. Registrar a convenção usada para 40010.</a:t>
            </a:r>
          </a:p>
        </p:txBody>
      </p:sp>
    </p:spTree>
    <p:extLst>
      <p:ext uri="{BB962C8B-B14F-4D97-AF65-F5344CB8AC3E}">
        <p14:creationId xmlns:p14="http://schemas.microsoft.com/office/powerpoint/2010/main" val="883969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F558C90-B8BC-4344-B96E-75F2341766F2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Encerramento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1DA46F-0104-4BCA-9963-29831B8B88C7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Método de diagnóstico para o campo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095A76-CF99-4687-91A3-7FFD6896140A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766BC9-929A-400D-8F3B-972204A802F3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8107E9-2F47-4AC2-8319-7CFD7ED34831}"/>
              </a:ext>
            </a:extLst>
          </p:cNvPr>
          <p:cNvSpPr txBox="1"/>
          <p:nvPr/>
        </p:nvSpPr>
        <p:spPr>
          <a:xfrm>
            <a:off x="685800" y="19557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1  Papel do equipamento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22532A-6736-42C8-AD06-021632CBFFFC}"/>
              </a:ext>
            </a:extLst>
          </p:cNvPr>
          <p:cNvSpPr txBox="1"/>
          <p:nvPr/>
        </p:nvSpPr>
        <p:spPr>
          <a:xfrm>
            <a:off x="685800" y="27685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it-IT" sz="2100">
                <a:solidFill>
                  <a:srgbClr val="18354B"/>
                </a:solidFill>
                <a:latin typeface="Segoe UI" panose="020B0502040204020203" pitchFamily="34" charset="0"/>
              </a:rPr>
              <a:t>2  IP, rota e interface</a:t>
            </a:r>
            <a:endParaRPr lang="pt-BR" sz="2100">
              <a:solidFill>
                <a:srgbClr val="18354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CB31C8-B397-4510-9514-859BE23105A3}"/>
              </a:ext>
            </a:extLst>
          </p:cNvPr>
          <p:cNvSpPr txBox="1"/>
          <p:nvPr/>
        </p:nvSpPr>
        <p:spPr>
          <a:xfrm>
            <a:off x="685800" y="35813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3  Porta TCP e serviço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E1D842-7DA2-41F0-984C-6B936A509C56}"/>
              </a:ext>
            </a:extLst>
          </p:cNvPr>
          <p:cNvSpPr txBox="1"/>
          <p:nvPr/>
        </p:nvSpPr>
        <p:spPr>
          <a:xfrm>
            <a:off x="685800" y="4394199"/>
            <a:ext cx="5334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4  UID, função e região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DC24CF-4941-4E61-A703-ED2B442DAA49}"/>
              </a:ext>
            </a:extLst>
          </p:cNvPr>
          <p:cNvSpPr txBox="1"/>
          <p:nvPr/>
        </p:nvSpPr>
        <p:spPr>
          <a:xfrm>
            <a:off x="6413500" y="19557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5  Leitura mínima conhecida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62D3BC2-ED4E-4649-B21C-140D26F01924}"/>
              </a:ext>
            </a:extLst>
          </p:cNvPr>
          <p:cNvSpPr txBox="1"/>
          <p:nvPr/>
        </p:nvSpPr>
        <p:spPr>
          <a:xfrm>
            <a:off x="6413500" y="27685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6  Timeline e captura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ED93A5E-1B6C-4913-BAB4-A9F1FD3F7F0D}"/>
              </a:ext>
            </a:extLst>
          </p:cNvPr>
          <p:cNvSpPr txBox="1"/>
          <p:nvPr/>
        </p:nvSpPr>
        <p:spPr>
          <a:xfrm>
            <a:off x="6413500" y="35813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7  Hipótese e próximo teste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F2C291-2293-45A4-AEC7-B4E5DCBF02DA}"/>
              </a:ext>
            </a:extLst>
          </p:cNvPr>
          <p:cNvSpPr txBox="1"/>
          <p:nvPr/>
        </p:nvSpPr>
        <p:spPr>
          <a:xfrm>
            <a:off x="6413500" y="4394199"/>
            <a:ext cx="50927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100">
                <a:solidFill>
                  <a:srgbClr val="18354B"/>
                </a:solidFill>
                <a:latin typeface="Segoe UI" panose="020B0502040204020203" pitchFamily="34" charset="0"/>
              </a:rPr>
              <a:t>8  Repetição e evidência final</a:t>
            </a:r>
          </a:p>
        </p:txBody>
      </p:sp>
    </p:spTree>
    <p:extLst>
      <p:ext uri="{BB962C8B-B14F-4D97-AF65-F5344CB8AC3E}">
        <p14:creationId xmlns:p14="http://schemas.microsoft.com/office/powerpoint/2010/main" val="233453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738A39-AE0B-48FB-BA5F-98E133F060CE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Encerramento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8F5F69-21D3-4D96-959D-E311B5BFC31A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Dúvidas, decisões e próximos passos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BAC64E3-ECF9-41EF-B323-1A70B95F86D9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CC869F-17EE-4948-8466-4A59A71E58AC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39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08563C-7591-4383-A244-EF3571DC6798}"/>
              </a:ext>
            </a:extLst>
          </p:cNvPr>
          <p:cNvSpPr txBox="1"/>
          <p:nvPr/>
        </p:nvSpPr>
        <p:spPr>
          <a:xfrm>
            <a:off x="685800" y="19557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186173-99B6-4A0D-AEA5-F78BD3EB665D}"/>
              </a:ext>
            </a:extLst>
          </p:cNvPr>
          <p:cNvSpPr txBox="1"/>
          <p:nvPr/>
        </p:nvSpPr>
        <p:spPr>
          <a:xfrm>
            <a:off x="1727200" y="19684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Quais dúvidas do primeiro treinamento foram resolvidas?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67DDB1-FA4E-4801-802C-903BD679B592}"/>
              </a:ext>
            </a:extLst>
          </p:cNvPr>
          <p:cNvSpPr txBox="1"/>
          <p:nvPr/>
        </p:nvSpPr>
        <p:spPr>
          <a:xfrm>
            <a:off x="685800" y="29463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24B96DA-A226-4C4F-BDB2-C51F037E5B8D}"/>
              </a:ext>
            </a:extLst>
          </p:cNvPr>
          <p:cNvSpPr txBox="1"/>
          <p:nvPr/>
        </p:nvSpPr>
        <p:spPr>
          <a:xfrm>
            <a:off x="1727200" y="29590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Qual etapa precisa de reforço?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FD158E-5FE1-42B5-8AAE-ED9B3C24BAA3}"/>
              </a:ext>
            </a:extLst>
          </p:cNvPr>
          <p:cNvSpPr txBox="1"/>
          <p:nvPr/>
        </p:nvSpPr>
        <p:spPr>
          <a:xfrm>
            <a:off x="685800" y="39369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58E9C90-4BF9-4A3F-BD36-277EC6BBF0B0}"/>
              </a:ext>
            </a:extLst>
          </p:cNvPr>
          <p:cNvSpPr txBox="1"/>
          <p:nvPr/>
        </p:nvSpPr>
        <p:spPr>
          <a:xfrm>
            <a:off x="1727200" y="39496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Que evidência ou acesso falta no caso real?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CF5AD0C-73F0-4922-84C5-11997A1EC487}"/>
              </a:ext>
            </a:extLst>
          </p:cNvPr>
          <p:cNvSpPr txBox="1"/>
          <p:nvPr/>
        </p:nvSpPr>
        <p:spPr>
          <a:xfrm>
            <a:off x="685800" y="4927599"/>
            <a:ext cx="762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000" b="1">
                <a:solidFill>
                  <a:srgbClr val="087E8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0BA7BF-1669-4088-AB3A-9225EF09084A}"/>
              </a:ext>
            </a:extLst>
          </p:cNvPr>
          <p:cNvSpPr txBox="1"/>
          <p:nvPr/>
        </p:nvSpPr>
        <p:spPr>
          <a:xfrm>
            <a:off x="1727200" y="4940299"/>
            <a:ext cx="9334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18354B"/>
                </a:solidFill>
                <a:latin typeface="Segoe UI" panose="020B0502040204020203" pitchFamily="34" charset="0"/>
              </a:rPr>
              <a:t>Quem fica responsável pela próxima verificação?</a:t>
            </a:r>
          </a:p>
        </p:txBody>
      </p:sp>
    </p:spTree>
    <p:extLst>
      <p:ext uri="{BB962C8B-B14F-4D97-AF65-F5344CB8AC3E}">
        <p14:creationId xmlns:p14="http://schemas.microsoft.com/office/powerpoint/2010/main" val="35593823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4E36DE9-7BF0-47A5-84B6-91FFECA37E3D}"/>
              </a:ext>
            </a:extLst>
          </p:cNvPr>
          <p:cNvSpPr txBox="1"/>
          <p:nvPr/>
        </p:nvSpPr>
        <p:spPr>
          <a:xfrm>
            <a:off x="685800" y="279399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300" b="1">
                <a:solidFill>
                  <a:srgbClr val="087E8B"/>
                </a:solidFill>
                <a:latin typeface="Segoe UI" panose="020B0502040204020203" pitchFamily="34" charset="0"/>
              </a:rPr>
              <a:t>Consulta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594EDD-139C-4418-BA41-95F7FEDA0697}"/>
              </a:ext>
            </a:extLst>
          </p:cNvPr>
          <p:cNvSpPr txBox="1"/>
          <p:nvPr/>
        </p:nvSpPr>
        <p:spPr>
          <a:xfrm>
            <a:off x="685800" y="723899"/>
            <a:ext cx="108204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3200" b="1">
                <a:solidFill>
                  <a:srgbClr val="18354B"/>
                </a:solidFill>
                <a:latin typeface="Segoe UI" panose="020B0502040204020203" pitchFamily="34" charset="0"/>
              </a:rPr>
              <a:t>Referências e material de apoio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DA472B-6AC6-4E06-84D5-B92709883B71}"/>
              </a:ext>
            </a:extLst>
          </p:cNvPr>
          <p:cNvSpPr txBox="1"/>
          <p:nvPr/>
        </p:nvSpPr>
        <p:spPr>
          <a:xfrm>
            <a:off x="685800" y="6451600"/>
            <a:ext cx="939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100">
                <a:solidFill>
                  <a:srgbClr val="556C7D"/>
                </a:solidFill>
                <a:latin typeface="Segoe UI" panose="020B0502040204020203" pitchFamily="34" charset="0"/>
              </a:rPr>
              <a:t>Treinamento Modbus TCP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B551A2-39B2-4F8C-9B01-E068B2C58DFE}"/>
              </a:ext>
            </a:extLst>
          </p:cNvPr>
          <p:cNvSpPr txBox="1"/>
          <p:nvPr/>
        </p:nvSpPr>
        <p:spPr>
          <a:xfrm>
            <a:off x="11061700" y="64262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00">
                <a:solidFill>
                  <a:srgbClr val="556C7D"/>
                </a:solidFill>
                <a:latin typeface="Segoe UI" panose="020B0502040204020203" pitchFamily="34" charset="0"/>
              </a:rPr>
              <a:t>40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C58022-A800-4FBE-9FDA-067DDA041EAF}"/>
              </a:ext>
            </a:extLst>
          </p:cNvPr>
          <p:cNvSpPr txBox="1"/>
          <p:nvPr/>
        </p:nvSpPr>
        <p:spPr>
          <a:xfrm>
            <a:off x="685800" y="2108199"/>
            <a:ext cx="10820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Ata e roteiro de 03/10/2026: sequência dos dez momentos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F54638-2206-474F-A811-416722A09996}"/>
              </a:ext>
            </a:extLst>
          </p:cNvPr>
          <p:cNvSpPr txBox="1"/>
          <p:nvPr/>
        </p:nvSpPr>
        <p:spPr>
          <a:xfrm>
            <a:off x="685800" y="3073399"/>
            <a:ext cx="10820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Manual integrado do software: campos, funções e diagnóstico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A89660-A665-4298-BE27-8583DE2A717D}"/>
              </a:ext>
            </a:extLst>
          </p:cNvPr>
          <p:cNvSpPr txBox="1"/>
          <p:nvPr/>
        </p:nvSpPr>
        <p:spPr>
          <a:xfrm>
            <a:off x="685800" y="4038599"/>
            <a:ext cx="10820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Modbus Application Protocol Specification V1.1b3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F064F2F-9D15-4EB6-8CEE-340DFF3E17DE}"/>
              </a:ext>
            </a:extLst>
          </p:cNvPr>
          <p:cNvSpPr txBox="1"/>
          <p:nvPr/>
        </p:nvSpPr>
        <p:spPr>
          <a:xfrm>
            <a:off x="685800" y="5003799"/>
            <a:ext cx="10820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pt-BR" sz="2300">
                <a:solidFill>
                  <a:srgbClr val="18354B"/>
                </a:solidFill>
                <a:latin typeface="Segoe UI" panose="020B0502040204020203" pitchFamily="34" charset="0"/>
              </a:rPr>
              <a:t>Modbus Messaging on TCP/IP Implementation Guide V1.0b</a:t>
            </a:r>
          </a:p>
        </p:txBody>
      </p:sp>
    </p:spTree>
    <p:extLst>
      <p:ext uri="{BB962C8B-B14F-4D97-AF65-F5344CB8AC3E}">
        <p14:creationId xmlns:p14="http://schemas.microsoft.com/office/powerpoint/2010/main" val="25569169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4782</Words>
  <Application>Microsoft Office PowerPoint</Application>
  <PresentationFormat>Personalizar</PresentationFormat>
  <Paragraphs>718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F. Delarmelina - Autvix Group</dc:creator>
  <cp:lastModifiedBy>Felipe F. Delarmelina - Autvix Group</cp:lastModifiedBy>
  <cp:revision>1</cp:revision>
  <dcterms:created xsi:type="dcterms:W3CDTF">2026-10-02T17:10:12Z</dcterms:created>
  <dcterms:modified xsi:type="dcterms:W3CDTF">2026-10-02T17:10:12Z</dcterms:modified>
</cp:coreProperties>
</file>